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Lst>
  <p:sldSz cx="18288000" cy="10287000"/>
  <p:notesSz cx="6858000" cy="9144000"/>
  <p:embeddedFontLst>
    <p:embeddedFont>
      <p:font typeface="Crimson Pro Bold" charset="1" panose="00000000000000000000"/>
      <p:regular r:id="rId16"/>
    </p:embeddedFont>
    <p:embeddedFont>
      <p:font typeface="Heebo Bold" charset="1" panose="00000800000000000000"/>
      <p:regular r:id="rId17"/>
    </p:embeddedFont>
    <p:embeddedFont>
      <p:font typeface="Heebo" charset="1" panose="00000500000000000000"/>
      <p:regular r:id="rId1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fonts/font16.fntdata" Type="http://schemas.openxmlformats.org/officeDocument/2006/relationships/font"/><Relationship Id="rId17" Target="fonts/font17.fntdata" Type="http://schemas.openxmlformats.org/officeDocument/2006/relationships/font"/><Relationship Id="rId18" Target="fonts/font18.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https://gamma.app/?utm_source=made-with-gamma" TargetMode="External" Type="http://schemas.openxmlformats.org/officeDocument/2006/relationships/hyperlink"/><Relationship Id="rId4" Target="../media/image2.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3.png" Type="http://schemas.openxmlformats.org/officeDocument/2006/relationships/image"/><Relationship Id="rId11" Target="../media/image14.svg" Type="http://schemas.openxmlformats.org/officeDocument/2006/relationships/image"/><Relationship Id="rId2" Target="../media/image5.png" Type="http://schemas.openxmlformats.org/officeDocument/2006/relationships/image"/><Relationship Id="rId3" Target="../media/image6.svg" Type="http://schemas.openxmlformats.org/officeDocument/2006/relationships/image"/><Relationship Id="rId4" Target="../media/image7.png" Type="http://schemas.openxmlformats.org/officeDocument/2006/relationships/image"/><Relationship Id="rId5" Target="../media/image8.svg" Type="http://schemas.openxmlformats.org/officeDocument/2006/relationships/image"/><Relationship Id="rId6" Target="../media/image9.png" Type="http://schemas.openxmlformats.org/officeDocument/2006/relationships/image"/><Relationship Id="rId7" Target="../media/image10.svg" Type="http://schemas.openxmlformats.org/officeDocument/2006/relationships/image"/><Relationship Id="rId8" Target="../media/image11.png" Type="http://schemas.openxmlformats.org/officeDocument/2006/relationships/image"/><Relationship Id="rId9" Target="../media/image12.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5.png" Type="http://schemas.openxmlformats.org/officeDocument/2006/relationships/image"/><Relationship Id="rId3" Target="../media/image16.png" Type="http://schemas.openxmlformats.org/officeDocument/2006/relationships/image"/><Relationship Id="rId4" Target="../media/image17.png" Type="http://schemas.openxmlformats.org/officeDocument/2006/relationships/image"/><Relationship Id="rId5" Target="../media/image18.png" Type="http://schemas.openxmlformats.org/officeDocument/2006/relationships/image"/><Relationship Id="rId6" Target="../media/image19.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https://gamma.app/?utm_source=made-with-gamma" TargetMode="External" Type="http://schemas.openxmlformats.org/officeDocument/2006/relationships/hyperlink"/><Relationship Id="rId4" Target="../media/image20.png" Type="http://schemas.openxmlformats.org/officeDocument/2006/relationships/image"/><Relationship Id="rId5" Target="../media/image21.png" Type="http://schemas.openxmlformats.org/officeDocument/2006/relationships/image"/><Relationship Id="rId6" Target="../media/image22.png" Type="http://schemas.openxmlformats.org/officeDocument/2006/relationships/image"/><Relationship Id="rId7" Target="../media/image23.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4.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https://gamma.app/?utm_source=made-with-gamma" TargetMode="External" Type="http://schemas.openxmlformats.org/officeDocument/2006/relationships/hyperlink"/><Relationship Id="rId4" Target="../media/image25.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0F0F1"/>
            </a:solidFill>
            <a:ln w="12700">
              <a:solidFill>
                <a:srgbClr val="000000"/>
              </a:solidFill>
            </a:ln>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FFFFF"/>
            </a:solidFill>
            <a:ln w="12700">
              <a:solidFill>
                <a:srgbClr val="000000"/>
              </a:solidFill>
            </a:ln>
          </p:spPr>
        </p:sp>
      </p:grpSp>
      <p:sp>
        <p:nvSpPr>
          <p:cNvPr name="Freeform 6" id="6" descr="preencoded.png">
            <a:hlinkClick r:id="rId3" tooltip="https://gamma.app/?utm_source=made-with-gamma"/>
          </p:cNvPr>
          <p:cNvSpPr/>
          <p:nvPr/>
        </p:nvSpPr>
        <p:spPr>
          <a:xfrm flipH="false" flipV="false" rot="0">
            <a:off x="16049015" y="9686925"/>
            <a:ext cx="2153260" cy="514350"/>
          </a:xfrm>
          <a:custGeom>
            <a:avLst/>
            <a:gdLst/>
            <a:ahLst/>
            <a:cxnLst/>
            <a:rect r="r" b="b" t="t" l="l"/>
            <a:pathLst>
              <a:path h="514350" w="2153260">
                <a:moveTo>
                  <a:pt x="0" y="0"/>
                </a:moveTo>
                <a:lnTo>
                  <a:pt x="2153260" y="0"/>
                </a:lnTo>
                <a:lnTo>
                  <a:pt x="2153260" y="514350"/>
                </a:lnTo>
                <a:lnTo>
                  <a:pt x="0" y="514350"/>
                </a:lnTo>
                <a:lnTo>
                  <a:pt x="0" y="0"/>
                </a:lnTo>
                <a:close/>
              </a:path>
            </a:pathLst>
          </a:custGeom>
          <a:blipFill>
            <a:blip r:embed="rId2"/>
            <a:stretch>
              <a:fillRect l="0" t="0" r="0" b="0"/>
            </a:stretch>
          </a:blipFill>
        </p:spPr>
      </p:sp>
      <p:sp>
        <p:nvSpPr>
          <p:cNvPr name="Freeform 7" id="7" descr="preencoded.png"/>
          <p:cNvSpPr/>
          <p:nvPr/>
        </p:nvSpPr>
        <p:spPr>
          <a:xfrm flipH="false" flipV="false" rot="0">
            <a:off x="11430000" y="0"/>
            <a:ext cx="6858000" cy="10287000"/>
          </a:xfrm>
          <a:custGeom>
            <a:avLst/>
            <a:gdLst/>
            <a:ahLst/>
            <a:cxnLst/>
            <a:rect r="r" b="b" t="t" l="l"/>
            <a:pathLst>
              <a:path h="10287000" w="6858000">
                <a:moveTo>
                  <a:pt x="0" y="0"/>
                </a:moveTo>
                <a:lnTo>
                  <a:pt x="6858000" y="0"/>
                </a:lnTo>
                <a:lnTo>
                  <a:pt x="6858000" y="10287000"/>
                </a:lnTo>
                <a:lnTo>
                  <a:pt x="0" y="10287000"/>
                </a:lnTo>
                <a:lnTo>
                  <a:pt x="0" y="0"/>
                </a:lnTo>
                <a:close/>
              </a:path>
            </a:pathLst>
          </a:custGeom>
          <a:blipFill>
            <a:blip r:embed="rId4"/>
            <a:stretch>
              <a:fillRect l="0" t="0" r="0" b="0"/>
            </a:stretch>
          </a:blipFill>
        </p:spPr>
      </p:sp>
      <p:sp>
        <p:nvSpPr>
          <p:cNvPr name="TextBox 8" id="8"/>
          <p:cNvSpPr txBox="true"/>
          <p:nvPr/>
        </p:nvSpPr>
        <p:spPr>
          <a:xfrm rot="0">
            <a:off x="504012" y="2976988"/>
            <a:ext cx="9933750" cy="1885740"/>
          </a:xfrm>
          <a:prstGeom prst="rect">
            <a:avLst/>
          </a:prstGeom>
        </p:spPr>
        <p:txBody>
          <a:bodyPr anchor="t" rtlCol="false" tIns="0" lIns="0" bIns="0" rIns="0">
            <a:spAutoFit/>
          </a:bodyPr>
          <a:lstStyle/>
          <a:p>
            <a:pPr algn="l">
              <a:lnSpc>
                <a:spcPts val="7426"/>
              </a:lnSpc>
            </a:pPr>
            <a:r>
              <a:rPr lang="en-US" sz="5955" b="true">
                <a:solidFill>
                  <a:srgbClr val="152D47"/>
                </a:solidFill>
                <a:latin typeface="Crimson Pro Bold"/>
                <a:ea typeface="Crimson Pro Bold"/>
                <a:cs typeface="Crimson Pro Bold"/>
                <a:sym typeface="Crimson Pro Bold"/>
              </a:rPr>
              <a:t>EEG Emotion Recognition: </a:t>
            </a:r>
          </a:p>
          <a:p>
            <a:pPr algn="l">
              <a:lnSpc>
                <a:spcPts val="7427"/>
              </a:lnSpc>
            </a:pPr>
            <a:r>
              <a:rPr lang="en-US" sz="5955" b="true">
                <a:solidFill>
                  <a:srgbClr val="152D47"/>
                </a:solidFill>
                <a:latin typeface="Crimson Pro Bold"/>
                <a:ea typeface="Crimson Pro Bold"/>
                <a:cs typeface="Crimson Pro Bold"/>
                <a:sym typeface="Crimson Pro Bold"/>
              </a:rPr>
              <a:t>A NeuroHack Solution</a:t>
            </a:r>
          </a:p>
        </p:txBody>
      </p:sp>
      <p:sp>
        <p:nvSpPr>
          <p:cNvPr name="TextBox 9" id="9"/>
          <p:cNvSpPr txBox="true"/>
          <p:nvPr/>
        </p:nvSpPr>
        <p:spPr>
          <a:xfrm rot="0">
            <a:off x="504012" y="5272272"/>
            <a:ext cx="9445523" cy="414337"/>
          </a:xfrm>
          <a:prstGeom prst="rect">
            <a:avLst/>
          </a:prstGeom>
        </p:spPr>
        <p:txBody>
          <a:bodyPr anchor="t" rtlCol="false" tIns="0" lIns="0" bIns="0" rIns="0">
            <a:spAutoFit/>
          </a:bodyPr>
          <a:lstStyle/>
          <a:p>
            <a:pPr algn="l">
              <a:lnSpc>
                <a:spcPts val="3562"/>
              </a:lnSpc>
            </a:pPr>
            <a:r>
              <a:rPr lang="en-US" sz="2187" b="true">
                <a:solidFill>
                  <a:srgbClr val="4C4C4D"/>
                </a:solidFill>
                <a:latin typeface="Heebo Bold"/>
                <a:ea typeface="Heebo Bold"/>
                <a:cs typeface="Heebo Bold"/>
                <a:sym typeface="Heebo Bold"/>
              </a:rPr>
              <a:t>Unlocking the Secrets of the Brain with Machine Learning</a:t>
            </a:r>
          </a:p>
        </p:txBody>
      </p:sp>
      <p:sp>
        <p:nvSpPr>
          <p:cNvPr name="TextBox 10" id="10"/>
          <p:cNvSpPr txBox="true"/>
          <p:nvPr/>
        </p:nvSpPr>
        <p:spPr>
          <a:xfrm rot="0">
            <a:off x="504012" y="6266707"/>
            <a:ext cx="4020860" cy="1725612"/>
          </a:xfrm>
          <a:prstGeom prst="rect">
            <a:avLst/>
          </a:prstGeom>
        </p:spPr>
        <p:txBody>
          <a:bodyPr anchor="t" rtlCol="false" tIns="0" lIns="0" bIns="0" rIns="0">
            <a:spAutoFit/>
          </a:bodyPr>
          <a:lstStyle/>
          <a:p>
            <a:pPr algn="l">
              <a:lnSpc>
                <a:spcPts val="3437"/>
              </a:lnSpc>
            </a:pPr>
            <a:r>
              <a:rPr lang="en-US" sz="2750" b="true">
                <a:solidFill>
                  <a:srgbClr val="152D47"/>
                </a:solidFill>
                <a:latin typeface="Crimson Pro Bold"/>
                <a:ea typeface="Crimson Pro Bold"/>
                <a:cs typeface="Crimson Pro Bold"/>
                <a:sym typeface="Crimson Pro Bold"/>
              </a:rPr>
              <a:t>Team: Deep Learners</a:t>
            </a:r>
          </a:p>
          <a:p>
            <a:pPr algn="l">
              <a:lnSpc>
                <a:spcPts val="3437"/>
              </a:lnSpc>
            </a:pPr>
            <a:r>
              <a:rPr lang="en-US" sz="2750" b="true">
                <a:solidFill>
                  <a:srgbClr val="152D47"/>
                </a:solidFill>
                <a:latin typeface="Crimson Pro Bold"/>
                <a:ea typeface="Crimson Pro Bold"/>
                <a:cs typeface="Crimson Pro Bold"/>
                <a:sym typeface="Crimson Pro Bold"/>
              </a:rPr>
              <a:t>Lead: Aman Jaiswal (Solo)</a:t>
            </a:r>
          </a:p>
          <a:p>
            <a:pPr algn="l">
              <a:lnSpc>
                <a:spcPts val="3437"/>
              </a:lnSpc>
            </a:pPr>
            <a:r>
              <a:rPr lang="en-US" sz="2750" b="true">
                <a:solidFill>
                  <a:srgbClr val="152D47"/>
                </a:solidFill>
                <a:latin typeface="Crimson Pro Bold"/>
                <a:ea typeface="Crimson Pro Bold"/>
                <a:cs typeface="Crimson Pro Bold"/>
                <a:sym typeface="Crimson Pro Bold"/>
              </a:rPr>
              <a:t>Shaastra 2026 - IIT Madras</a:t>
            </a:r>
          </a:p>
          <a:p>
            <a:pPr algn="l">
              <a:lnSpc>
                <a:spcPts val="3437"/>
              </a:lnSpc>
            </a:pP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0F0F1"/>
            </a:solidFill>
            <a:ln w="12700">
              <a:solidFill>
                <a:srgbClr val="000000"/>
              </a:solidFill>
            </a:ln>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FFFFF"/>
            </a:solidFill>
            <a:ln w="12700">
              <a:solidFill>
                <a:srgbClr val="000000"/>
              </a:solidFill>
            </a:ln>
          </p:spPr>
        </p:sp>
      </p:grpSp>
      <p:grpSp>
        <p:nvGrpSpPr>
          <p:cNvPr name="Group 6" id="6"/>
          <p:cNvGrpSpPr/>
          <p:nvPr/>
        </p:nvGrpSpPr>
        <p:grpSpPr>
          <a:xfrm rot="0">
            <a:off x="992238" y="1227239"/>
            <a:ext cx="1617459" cy="532809"/>
            <a:chOff x="0" y="0"/>
            <a:chExt cx="2156612" cy="710413"/>
          </a:xfrm>
        </p:grpSpPr>
        <p:sp>
          <p:nvSpPr>
            <p:cNvPr name="Freeform 7" id="7"/>
            <p:cNvSpPr/>
            <p:nvPr/>
          </p:nvSpPr>
          <p:spPr>
            <a:xfrm flipH="false" flipV="false" rot="0">
              <a:off x="0" y="0"/>
              <a:ext cx="2156587" cy="710438"/>
            </a:xfrm>
            <a:custGeom>
              <a:avLst/>
              <a:gdLst/>
              <a:ahLst/>
              <a:cxnLst/>
              <a:rect r="r" b="b" t="t" l="l"/>
              <a:pathLst>
                <a:path h="710438" w="2156587">
                  <a:moveTo>
                    <a:pt x="0" y="45339"/>
                  </a:moveTo>
                  <a:cubicBezTo>
                    <a:pt x="0" y="20320"/>
                    <a:pt x="20320" y="0"/>
                    <a:pt x="45339" y="0"/>
                  </a:cubicBezTo>
                  <a:lnTo>
                    <a:pt x="2111248" y="0"/>
                  </a:lnTo>
                  <a:cubicBezTo>
                    <a:pt x="2136267" y="0"/>
                    <a:pt x="2156587" y="20320"/>
                    <a:pt x="2156587" y="45339"/>
                  </a:cubicBezTo>
                  <a:lnTo>
                    <a:pt x="2156587" y="665099"/>
                  </a:lnTo>
                  <a:cubicBezTo>
                    <a:pt x="2156587" y="690118"/>
                    <a:pt x="2136267" y="710438"/>
                    <a:pt x="2111248" y="710438"/>
                  </a:cubicBezTo>
                  <a:lnTo>
                    <a:pt x="45339" y="710438"/>
                  </a:lnTo>
                  <a:cubicBezTo>
                    <a:pt x="20320" y="710438"/>
                    <a:pt x="0" y="690118"/>
                    <a:pt x="0" y="665099"/>
                  </a:cubicBezTo>
                  <a:close/>
                </a:path>
              </a:pathLst>
            </a:custGeom>
            <a:solidFill>
              <a:srgbClr val="CCD7FF"/>
            </a:solidFill>
            <a:ln w="12700">
              <a:solidFill>
                <a:srgbClr val="000000"/>
              </a:solidFill>
            </a:ln>
          </p:spPr>
        </p:sp>
      </p:grpSp>
      <p:sp>
        <p:nvSpPr>
          <p:cNvPr name="TextBox 8" id="8"/>
          <p:cNvSpPr txBox="true"/>
          <p:nvPr/>
        </p:nvSpPr>
        <p:spPr>
          <a:xfrm rot="0">
            <a:off x="1162345" y="1245546"/>
            <a:ext cx="1277245" cy="429520"/>
          </a:xfrm>
          <a:prstGeom prst="rect">
            <a:avLst/>
          </a:prstGeom>
        </p:spPr>
        <p:txBody>
          <a:bodyPr anchor="t" rtlCol="false" tIns="0" lIns="0" bIns="0" rIns="0">
            <a:spAutoFit/>
          </a:bodyPr>
          <a:lstStyle/>
          <a:p>
            <a:pPr algn="l">
              <a:lnSpc>
                <a:spcPts val="2812"/>
              </a:lnSpc>
            </a:pPr>
            <a:r>
              <a:rPr lang="en-US" sz="1750">
                <a:solidFill>
                  <a:srgbClr val="4C4C4D"/>
                </a:solidFill>
                <a:latin typeface="Heebo"/>
                <a:ea typeface="Heebo"/>
                <a:cs typeface="Heebo"/>
                <a:sym typeface="Heebo"/>
              </a:rPr>
              <a:t>CHALLENGE</a:t>
            </a:r>
          </a:p>
        </p:txBody>
      </p:sp>
      <p:sp>
        <p:nvSpPr>
          <p:cNvPr name="TextBox 9" id="9"/>
          <p:cNvSpPr txBox="true"/>
          <p:nvPr/>
        </p:nvSpPr>
        <p:spPr>
          <a:xfrm rot="0">
            <a:off x="992238" y="1835353"/>
            <a:ext cx="9568015" cy="746817"/>
          </a:xfrm>
          <a:prstGeom prst="rect">
            <a:avLst/>
          </a:prstGeom>
        </p:spPr>
        <p:txBody>
          <a:bodyPr anchor="t" rtlCol="false" tIns="0" lIns="0" bIns="0" rIns="0">
            <a:spAutoFit/>
          </a:bodyPr>
          <a:lstStyle/>
          <a:p>
            <a:pPr algn="l">
              <a:lnSpc>
                <a:spcPts val="5562"/>
              </a:lnSpc>
            </a:pPr>
            <a:r>
              <a:rPr lang="en-US" sz="4437" b="true">
                <a:solidFill>
                  <a:srgbClr val="152D47"/>
                </a:solidFill>
                <a:latin typeface="Crimson Pro Bold"/>
                <a:ea typeface="Crimson Pro Bold"/>
                <a:cs typeface="Crimson Pro Bold"/>
                <a:sym typeface="Crimson Pro Bold"/>
              </a:rPr>
              <a:t>The EEG Emotion Recognition Challenge</a:t>
            </a:r>
          </a:p>
        </p:txBody>
      </p:sp>
      <p:sp>
        <p:nvSpPr>
          <p:cNvPr name="TextBox 10" id="10"/>
          <p:cNvSpPr txBox="true"/>
          <p:nvPr/>
        </p:nvSpPr>
        <p:spPr>
          <a:xfrm rot="0">
            <a:off x="992238" y="3176740"/>
            <a:ext cx="7805890" cy="1446609"/>
          </a:xfrm>
          <a:prstGeom prst="rect">
            <a:avLst/>
          </a:prstGeom>
        </p:spPr>
        <p:txBody>
          <a:bodyPr anchor="t" rtlCol="false" tIns="0" lIns="0" bIns="0" rIns="0">
            <a:spAutoFit/>
          </a:bodyPr>
          <a:lstStyle/>
          <a:p>
            <a:pPr algn="l">
              <a:lnSpc>
                <a:spcPts val="3562"/>
              </a:lnSpc>
            </a:pPr>
            <a:r>
              <a:rPr lang="en-US" sz="2187">
                <a:solidFill>
                  <a:srgbClr val="4C4C4D"/>
                </a:solidFill>
                <a:latin typeface="Heebo"/>
                <a:ea typeface="Heebo"/>
                <a:cs typeface="Heebo"/>
                <a:sym typeface="Heebo"/>
              </a:rPr>
              <a:t>Understanding human emotions from brain signals is a significant challenge. Our project tackles this by classifying emotions into three dimensions:</a:t>
            </a:r>
          </a:p>
        </p:txBody>
      </p:sp>
      <p:sp>
        <p:nvSpPr>
          <p:cNvPr name="TextBox 11" id="11"/>
          <p:cNvSpPr txBox="true"/>
          <p:nvPr/>
        </p:nvSpPr>
        <p:spPr>
          <a:xfrm rot="0">
            <a:off x="992238" y="4792713"/>
            <a:ext cx="7805890" cy="539353"/>
          </a:xfrm>
          <a:prstGeom prst="rect">
            <a:avLst/>
          </a:prstGeom>
        </p:spPr>
        <p:txBody>
          <a:bodyPr anchor="t" rtlCol="false" tIns="0" lIns="0" bIns="0" rIns="0">
            <a:spAutoFit/>
          </a:bodyPr>
          <a:lstStyle/>
          <a:p>
            <a:pPr algn="l" marL="329902" indent="-164951" lvl="1">
              <a:lnSpc>
                <a:spcPts val="3562"/>
              </a:lnSpc>
              <a:buFont typeface="Arial"/>
              <a:buChar char="•"/>
            </a:pPr>
            <a:r>
              <a:rPr lang="en-US" sz="2187">
                <a:solidFill>
                  <a:srgbClr val="4C4C4D"/>
                </a:solidFill>
                <a:latin typeface="Heebo"/>
                <a:ea typeface="Heebo"/>
                <a:cs typeface="Heebo"/>
                <a:sym typeface="Heebo"/>
              </a:rPr>
              <a:t>Valence (positive/negative)</a:t>
            </a:r>
          </a:p>
        </p:txBody>
      </p:sp>
      <p:sp>
        <p:nvSpPr>
          <p:cNvPr name="TextBox 12" id="12"/>
          <p:cNvSpPr txBox="true"/>
          <p:nvPr/>
        </p:nvSpPr>
        <p:spPr>
          <a:xfrm rot="0">
            <a:off x="992238" y="5345459"/>
            <a:ext cx="7805890" cy="539353"/>
          </a:xfrm>
          <a:prstGeom prst="rect">
            <a:avLst/>
          </a:prstGeom>
        </p:spPr>
        <p:txBody>
          <a:bodyPr anchor="t" rtlCol="false" tIns="0" lIns="0" bIns="0" rIns="0">
            <a:spAutoFit/>
          </a:bodyPr>
          <a:lstStyle/>
          <a:p>
            <a:pPr algn="l" marL="329902" indent="-164951" lvl="1">
              <a:lnSpc>
                <a:spcPts val="3562"/>
              </a:lnSpc>
              <a:buFont typeface="Arial"/>
              <a:buChar char="•"/>
            </a:pPr>
            <a:r>
              <a:rPr lang="en-US" sz="2187">
                <a:solidFill>
                  <a:srgbClr val="4C4C4D"/>
                </a:solidFill>
                <a:latin typeface="Heebo"/>
                <a:ea typeface="Heebo"/>
                <a:cs typeface="Heebo"/>
                <a:sym typeface="Heebo"/>
              </a:rPr>
              <a:t>Arousal (calm/excited)</a:t>
            </a:r>
          </a:p>
        </p:txBody>
      </p:sp>
      <p:sp>
        <p:nvSpPr>
          <p:cNvPr name="TextBox 13" id="13"/>
          <p:cNvSpPr txBox="true"/>
          <p:nvPr/>
        </p:nvSpPr>
        <p:spPr>
          <a:xfrm rot="0">
            <a:off x="992238" y="5898204"/>
            <a:ext cx="7805890" cy="539353"/>
          </a:xfrm>
          <a:prstGeom prst="rect">
            <a:avLst/>
          </a:prstGeom>
        </p:spPr>
        <p:txBody>
          <a:bodyPr anchor="t" rtlCol="false" tIns="0" lIns="0" bIns="0" rIns="0">
            <a:spAutoFit/>
          </a:bodyPr>
          <a:lstStyle/>
          <a:p>
            <a:pPr algn="l" marL="329902" indent="-164951" lvl="1">
              <a:lnSpc>
                <a:spcPts val="3562"/>
              </a:lnSpc>
              <a:buFont typeface="Arial"/>
              <a:buChar char="•"/>
            </a:pPr>
            <a:r>
              <a:rPr lang="en-US" sz="2187">
                <a:solidFill>
                  <a:srgbClr val="4C4C4D"/>
                </a:solidFill>
                <a:latin typeface="Heebo"/>
                <a:ea typeface="Heebo"/>
                <a:cs typeface="Heebo"/>
                <a:sym typeface="Heebo"/>
              </a:rPr>
              <a:t>Dominance (controlled/uncontrolled)</a:t>
            </a:r>
          </a:p>
        </p:txBody>
      </p:sp>
      <p:sp>
        <p:nvSpPr>
          <p:cNvPr name="TextBox 14" id="14"/>
          <p:cNvSpPr txBox="true"/>
          <p:nvPr/>
        </p:nvSpPr>
        <p:spPr>
          <a:xfrm rot="0">
            <a:off x="992238" y="6606931"/>
            <a:ext cx="7805890" cy="539353"/>
          </a:xfrm>
          <a:prstGeom prst="rect">
            <a:avLst/>
          </a:prstGeom>
        </p:spPr>
        <p:txBody>
          <a:bodyPr anchor="t" rtlCol="false" tIns="0" lIns="0" bIns="0" rIns="0">
            <a:spAutoFit/>
          </a:bodyPr>
          <a:lstStyle/>
          <a:p>
            <a:pPr algn="l">
              <a:lnSpc>
                <a:spcPts val="3562"/>
              </a:lnSpc>
            </a:pPr>
            <a:r>
              <a:rPr lang="en-US" sz="2187">
                <a:solidFill>
                  <a:srgbClr val="4C4C4D"/>
                </a:solidFill>
                <a:latin typeface="Heebo"/>
                <a:ea typeface="Heebo"/>
                <a:cs typeface="Heebo"/>
                <a:sym typeface="Heebo"/>
              </a:rPr>
              <a:t>This capability holds immense potential for:</a:t>
            </a:r>
          </a:p>
        </p:txBody>
      </p:sp>
      <p:sp>
        <p:nvSpPr>
          <p:cNvPr name="TextBox 15" id="15"/>
          <p:cNvSpPr txBox="true"/>
          <p:nvPr/>
        </p:nvSpPr>
        <p:spPr>
          <a:xfrm rot="0">
            <a:off x="992238" y="7315648"/>
            <a:ext cx="7805890" cy="539353"/>
          </a:xfrm>
          <a:prstGeom prst="rect">
            <a:avLst/>
          </a:prstGeom>
        </p:spPr>
        <p:txBody>
          <a:bodyPr anchor="t" rtlCol="false" tIns="0" lIns="0" bIns="0" rIns="0">
            <a:spAutoFit/>
          </a:bodyPr>
          <a:lstStyle/>
          <a:p>
            <a:pPr algn="l" marL="329902" indent="-164951" lvl="1">
              <a:lnSpc>
                <a:spcPts val="3562"/>
              </a:lnSpc>
              <a:buFont typeface="Arial"/>
              <a:buChar char="•"/>
            </a:pPr>
            <a:r>
              <a:rPr lang="en-US" sz="2187">
                <a:solidFill>
                  <a:srgbClr val="4C4C4D"/>
                </a:solidFill>
                <a:latin typeface="Heebo"/>
                <a:ea typeface="Heebo"/>
                <a:cs typeface="Heebo"/>
                <a:sym typeface="Heebo"/>
              </a:rPr>
              <a:t>Mental health diagnostics</a:t>
            </a:r>
          </a:p>
        </p:txBody>
      </p:sp>
      <p:sp>
        <p:nvSpPr>
          <p:cNvPr name="TextBox 16" id="16"/>
          <p:cNvSpPr txBox="true"/>
          <p:nvPr/>
        </p:nvSpPr>
        <p:spPr>
          <a:xfrm rot="0">
            <a:off x="992238" y="7868393"/>
            <a:ext cx="7805890" cy="539353"/>
          </a:xfrm>
          <a:prstGeom prst="rect">
            <a:avLst/>
          </a:prstGeom>
        </p:spPr>
        <p:txBody>
          <a:bodyPr anchor="t" rtlCol="false" tIns="0" lIns="0" bIns="0" rIns="0">
            <a:spAutoFit/>
          </a:bodyPr>
          <a:lstStyle/>
          <a:p>
            <a:pPr algn="l" marL="329902" indent="-164951" lvl="1">
              <a:lnSpc>
                <a:spcPts val="3562"/>
              </a:lnSpc>
              <a:buFont typeface="Arial"/>
              <a:buChar char="•"/>
            </a:pPr>
            <a:r>
              <a:rPr lang="en-US" sz="2187">
                <a:solidFill>
                  <a:srgbClr val="4C4C4D"/>
                </a:solidFill>
                <a:latin typeface="Heebo"/>
                <a:ea typeface="Heebo"/>
                <a:cs typeface="Heebo"/>
                <a:sym typeface="Heebo"/>
              </a:rPr>
              <a:t>Human-Computer Interaction (HCI)</a:t>
            </a:r>
          </a:p>
        </p:txBody>
      </p:sp>
      <p:sp>
        <p:nvSpPr>
          <p:cNvPr name="TextBox 17" id="17"/>
          <p:cNvSpPr txBox="true"/>
          <p:nvPr/>
        </p:nvSpPr>
        <p:spPr>
          <a:xfrm rot="0">
            <a:off x="992238" y="8421138"/>
            <a:ext cx="7805890" cy="539353"/>
          </a:xfrm>
          <a:prstGeom prst="rect">
            <a:avLst/>
          </a:prstGeom>
        </p:spPr>
        <p:txBody>
          <a:bodyPr anchor="t" rtlCol="false" tIns="0" lIns="0" bIns="0" rIns="0">
            <a:spAutoFit/>
          </a:bodyPr>
          <a:lstStyle/>
          <a:p>
            <a:pPr algn="l" marL="329902" indent="-164951" lvl="1">
              <a:lnSpc>
                <a:spcPts val="3562"/>
              </a:lnSpc>
              <a:buFont typeface="Arial"/>
              <a:buChar char="•"/>
            </a:pPr>
            <a:r>
              <a:rPr lang="en-US" sz="2187">
                <a:solidFill>
                  <a:srgbClr val="4C4C4D"/>
                </a:solidFill>
                <a:latin typeface="Heebo"/>
                <a:ea typeface="Heebo"/>
                <a:cs typeface="Heebo"/>
                <a:sym typeface="Heebo"/>
              </a:rPr>
              <a:t>Affective computing applications</a:t>
            </a:r>
          </a:p>
        </p:txBody>
      </p:sp>
      <p:sp>
        <p:nvSpPr>
          <p:cNvPr name="Freeform 18" id="18" descr="preencoded.png"/>
          <p:cNvSpPr/>
          <p:nvPr/>
        </p:nvSpPr>
        <p:spPr>
          <a:xfrm flipH="false" flipV="false" rot="0">
            <a:off x="9499397" y="3326311"/>
            <a:ext cx="7172030" cy="4019845"/>
          </a:xfrm>
          <a:custGeom>
            <a:avLst/>
            <a:gdLst/>
            <a:ahLst/>
            <a:cxnLst/>
            <a:rect r="r" b="b" t="t" l="l"/>
            <a:pathLst>
              <a:path h="4019845" w="7172030">
                <a:moveTo>
                  <a:pt x="0" y="0"/>
                </a:moveTo>
                <a:lnTo>
                  <a:pt x="7172030" y="0"/>
                </a:lnTo>
                <a:lnTo>
                  <a:pt x="7172030" y="4019845"/>
                </a:lnTo>
                <a:lnTo>
                  <a:pt x="0" y="4019845"/>
                </a:lnTo>
                <a:lnTo>
                  <a:pt x="0" y="0"/>
                </a:lnTo>
                <a:close/>
              </a:path>
            </a:pathLst>
          </a:custGeom>
          <a:blipFill>
            <a:blip r:embed="rId2"/>
            <a:stretch>
              <a:fillRect l="-5" t="0" r="-5" b="0"/>
            </a:stretch>
          </a:blipFill>
        </p:spPr>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0F0F1"/>
            </a:solidFill>
            <a:ln w="12700">
              <a:solidFill>
                <a:srgbClr val="000000"/>
              </a:solidFill>
            </a:ln>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FFFFF"/>
            </a:solidFill>
            <a:ln w="12700">
              <a:solidFill>
                <a:srgbClr val="000000"/>
              </a:solidFill>
            </a:ln>
          </p:spPr>
        </p:sp>
      </p:grpSp>
      <p:grpSp>
        <p:nvGrpSpPr>
          <p:cNvPr name="Group 6" id="6"/>
          <p:cNvGrpSpPr/>
          <p:nvPr/>
        </p:nvGrpSpPr>
        <p:grpSpPr>
          <a:xfrm rot="0">
            <a:off x="992238" y="937917"/>
            <a:ext cx="715566" cy="426244"/>
            <a:chOff x="0" y="0"/>
            <a:chExt cx="954088" cy="568325"/>
          </a:xfrm>
        </p:grpSpPr>
        <p:sp>
          <p:nvSpPr>
            <p:cNvPr name="Freeform 7" id="7"/>
            <p:cNvSpPr/>
            <p:nvPr/>
          </p:nvSpPr>
          <p:spPr>
            <a:xfrm flipH="false" flipV="false" rot="0">
              <a:off x="0" y="0"/>
              <a:ext cx="954151" cy="568325"/>
            </a:xfrm>
            <a:custGeom>
              <a:avLst/>
              <a:gdLst/>
              <a:ahLst/>
              <a:cxnLst/>
              <a:rect r="r" b="b" t="t" l="l"/>
              <a:pathLst>
                <a:path h="568325" w="954151">
                  <a:moveTo>
                    <a:pt x="0" y="36322"/>
                  </a:moveTo>
                  <a:cubicBezTo>
                    <a:pt x="0" y="16256"/>
                    <a:pt x="16256" y="0"/>
                    <a:pt x="36322" y="0"/>
                  </a:cubicBezTo>
                  <a:lnTo>
                    <a:pt x="917829" y="0"/>
                  </a:lnTo>
                  <a:cubicBezTo>
                    <a:pt x="937895" y="0"/>
                    <a:pt x="954151" y="16256"/>
                    <a:pt x="954151" y="36322"/>
                  </a:cubicBezTo>
                  <a:lnTo>
                    <a:pt x="954151" y="532003"/>
                  </a:lnTo>
                  <a:cubicBezTo>
                    <a:pt x="954151" y="552069"/>
                    <a:pt x="937895" y="568325"/>
                    <a:pt x="917829" y="568325"/>
                  </a:cubicBezTo>
                  <a:lnTo>
                    <a:pt x="36322" y="568325"/>
                  </a:lnTo>
                  <a:cubicBezTo>
                    <a:pt x="16256" y="568325"/>
                    <a:pt x="0" y="552069"/>
                    <a:pt x="0" y="532003"/>
                  </a:cubicBezTo>
                  <a:close/>
                </a:path>
              </a:pathLst>
            </a:custGeom>
            <a:solidFill>
              <a:srgbClr val="CCD7FF"/>
            </a:solidFill>
            <a:ln w="12700">
              <a:solidFill>
                <a:srgbClr val="000000"/>
              </a:solidFill>
            </a:ln>
          </p:spPr>
        </p:sp>
      </p:grpSp>
      <p:sp>
        <p:nvSpPr>
          <p:cNvPr name="TextBox 8" id="8"/>
          <p:cNvSpPr txBox="true"/>
          <p:nvPr/>
        </p:nvSpPr>
        <p:spPr>
          <a:xfrm rot="0">
            <a:off x="1128265" y="958301"/>
            <a:ext cx="443503" cy="234142"/>
          </a:xfrm>
          <a:prstGeom prst="rect">
            <a:avLst/>
          </a:prstGeom>
        </p:spPr>
        <p:txBody>
          <a:bodyPr anchor="t" rtlCol="false" tIns="0" lIns="0" bIns="0" rIns="0">
            <a:spAutoFit/>
          </a:bodyPr>
          <a:lstStyle/>
          <a:p>
            <a:pPr algn="l">
              <a:lnSpc>
                <a:spcPts val="2086"/>
              </a:lnSpc>
            </a:pPr>
            <a:r>
              <a:rPr lang="en-US" sz="1275">
                <a:solidFill>
                  <a:srgbClr val="4C4C4D"/>
                </a:solidFill>
                <a:latin typeface="Heebo"/>
                <a:ea typeface="Heebo"/>
                <a:cs typeface="Heebo"/>
                <a:sym typeface="Heebo"/>
              </a:rPr>
              <a:t>DATA</a:t>
            </a:r>
          </a:p>
        </p:txBody>
      </p:sp>
      <p:sp>
        <p:nvSpPr>
          <p:cNvPr name="TextBox 9" id="9"/>
          <p:cNvSpPr txBox="true"/>
          <p:nvPr/>
        </p:nvSpPr>
        <p:spPr>
          <a:xfrm rot="0">
            <a:off x="992238" y="1426216"/>
            <a:ext cx="9790662" cy="595608"/>
          </a:xfrm>
          <a:prstGeom prst="rect">
            <a:avLst/>
          </a:prstGeom>
        </p:spPr>
        <p:txBody>
          <a:bodyPr anchor="t" rtlCol="false" tIns="0" lIns="0" bIns="0" rIns="0">
            <a:spAutoFit/>
          </a:bodyPr>
          <a:lstStyle/>
          <a:p>
            <a:pPr algn="l">
              <a:lnSpc>
                <a:spcPts val="4437"/>
              </a:lnSpc>
            </a:pPr>
            <a:r>
              <a:rPr lang="en-US" sz="3562" b="true">
                <a:solidFill>
                  <a:srgbClr val="152D47"/>
                </a:solidFill>
                <a:latin typeface="Crimson Pro Bold"/>
                <a:ea typeface="Crimson Pro Bold"/>
                <a:cs typeface="Crimson Pro Bold"/>
                <a:sym typeface="Crimson Pro Bold"/>
              </a:rPr>
              <a:t>DREAMER Dataset: A Rich Source of Emotional Data</a:t>
            </a:r>
          </a:p>
        </p:txBody>
      </p:sp>
      <p:sp>
        <p:nvSpPr>
          <p:cNvPr name="TextBox 10" id="10"/>
          <p:cNvSpPr txBox="true"/>
          <p:nvPr/>
        </p:nvSpPr>
        <p:spPr>
          <a:xfrm rot="0">
            <a:off x="992238" y="2499417"/>
            <a:ext cx="7875089" cy="792366"/>
          </a:xfrm>
          <a:prstGeom prst="rect">
            <a:avLst/>
          </a:prstGeom>
        </p:spPr>
        <p:txBody>
          <a:bodyPr anchor="t" rtlCol="false" tIns="0" lIns="0" bIns="0" rIns="0">
            <a:spAutoFit/>
          </a:bodyPr>
          <a:lstStyle/>
          <a:p>
            <a:pPr algn="l">
              <a:lnSpc>
                <a:spcPts val="2812"/>
              </a:lnSpc>
            </a:pPr>
            <a:r>
              <a:rPr lang="en-US" sz="1750">
                <a:solidFill>
                  <a:srgbClr val="4C4C4D"/>
                </a:solidFill>
                <a:latin typeface="Heebo"/>
                <a:ea typeface="Heebo"/>
                <a:cs typeface="Heebo"/>
                <a:sym typeface="Heebo"/>
              </a:rPr>
              <a:t>Our solution was developed using the comprehensive DREAMER dataset, providing a robust foundation for our analysis:</a:t>
            </a:r>
          </a:p>
        </p:txBody>
      </p:sp>
      <p:sp>
        <p:nvSpPr>
          <p:cNvPr name="TextBox 11" id="11"/>
          <p:cNvSpPr txBox="true"/>
          <p:nvPr/>
        </p:nvSpPr>
        <p:spPr>
          <a:xfrm rot="0">
            <a:off x="992238" y="3429152"/>
            <a:ext cx="7875089" cy="429520"/>
          </a:xfrm>
          <a:prstGeom prst="rect">
            <a:avLst/>
          </a:prstGeom>
        </p:spPr>
        <p:txBody>
          <a:bodyPr anchor="t" rtlCol="false" tIns="0" lIns="0" bIns="0" rIns="0">
            <a:spAutoFit/>
          </a:bodyPr>
          <a:lstStyle/>
          <a:p>
            <a:pPr algn="l" marL="263922" indent="-131961" lvl="1">
              <a:lnSpc>
                <a:spcPts val="2812"/>
              </a:lnSpc>
              <a:buFont typeface="Arial"/>
              <a:buChar char="•"/>
            </a:pPr>
            <a:r>
              <a:rPr lang="en-US" b="true" sz="1750">
                <a:solidFill>
                  <a:srgbClr val="4C4C4D"/>
                </a:solidFill>
                <a:latin typeface="Heebo Bold"/>
                <a:ea typeface="Heebo Bold"/>
                <a:cs typeface="Heebo Bold"/>
                <a:sym typeface="Heebo Bold"/>
              </a:rPr>
              <a:t>Participants:</a:t>
            </a:r>
            <a:r>
              <a:rPr lang="en-US" sz="1750">
                <a:solidFill>
                  <a:srgbClr val="4C4C4D"/>
                </a:solidFill>
                <a:latin typeface="Heebo"/>
                <a:ea typeface="Heebo"/>
                <a:cs typeface="Heebo"/>
                <a:sym typeface="Heebo"/>
              </a:rPr>
              <a:t> 23 individuals</a:t>
            </a:r>
          </a:p>
        </p:txBody>
      </p:sp>
      <p:sp>
        <p:nvSpPr>
          <p:cNvPr name="TextBox 12" id="12"/>
          <p:cNvSpPr txBox="true"/>
          <p:nvPr/>
        </p:nvSpPr>
        <p:spPr>
          <a:xfrm rot="0">
            <a:off x="992238" y="3871322"/>
            <a:ext cx="7875089" cy="429520"/>
          </a:xfrm>
          <a:prstGeom prst="rect">
            <a:avLst/>
          </a:prstGeom>
        </p:spPr>
        <p:txBody>
          <a:bodyPr anchor="t" rtlCol="false" tIns="0" lIns="0" bIns="0" rIns="0">
            <a:spAutoFit/>
          </a:bodyPr>
          <a:lstStyle/>
          <a:p>
            <a:pPr algn="l" marL="263922" indent="-131961" lvl="1">
              <a:lnSpc>
                <a:spcPts val="2812"/>
              </a:lnSpc>
              <a:buFont typeface="Arial"/>
              <a:buChar char="•"/>
            </a:pPr>
            <a:r>
              <a:rPr lang="en-US" b="true" sz="1750">
                <a:solidFill>
                  <a:srgbClr val="4C4C4D"/>
                </a:solidFill>
                <a:latin typeface="Heebo Bold"/>
                <a:ea typeface="Heebo Bold"/>
                <a:cs typeface="Heebo Bold"/>
                <a:sym typeface="Heebo Bold"/>
              </a:rPr>
              <a:t>EEG Trials:</a:t>
            </a:r>
            <a:r>
              <a:rPr lang="en-US" sz="1750">
                <a:solidFill>
                  <a:srgbClr val="4C4C4D"/>
                </a:solidFill>
                <a:latin typeface="Heebo"/>
                <a:ea typeface="Heebo"/>
                <a:cs typeface="Heebo"/>
                <a:sym typeface="Heebo"/>
              </a:rPr>
              <a:t> 414 unique trials</a:t>
            </a:r>
          </a:p>
        </p:txBody>
      </p:sp>
      <p:sp>
        <p:nvSpPr>
          <p:cNvPr name="TextBox 13" id="13"/>
          <p:cNvSpPr txBox="true"/>
          <p:nvPr/>
        </p:nvSpPr>
        <p:spPr>
          <a:xfrm rot="0">
            <a:off x="992238" y="4313482"/>
            <a:ext cx="7875089" cy="429520"/>
          </a:xfrm>
          <a:prstGeom prst="rect">
            <a:avLst/>
          </a:prstGeom>
        </p:spPr>
        <p:txBody>
          <a:bodyPr anchor="t" rtlCol="false" tIns="0" lIns="0" bIns="0" rIns="0">
            <a:spAutoFit/>
          </a:bodyPr>
          <a:lstStyle/>
          <a:p>
            <a:pPr algn="l" marL="263922" indent="-131961" lvl="1">
              <a:lnSpc>
                <a:spcPts val="2812"/>
              </a:lnSpc>
              <a:buFont typeface="Arial"/>
              <a:buChar char="•"/>
            </a:pPr>
            <a:r>
              <a:rPr lang="en-US" b="true" sz="1750">
                <a:solidFill>
                  <a:srgbClr val="4C4C4D"/>
                </a:solidFill>
                <a:latin typeface="Heebo Bold"/>
                <a:ea typeface="Heebo Bold"/>
                <a:cs typeface="Heebo Bold"/>
                <a:sym typeface="Heebo Bold"/>
              </a:rPr>
              <a:t>Channels:</a:t>
            </a:r>
            <a:r>
              <a:rPr lang="en-US" sz="1750">
                <a:solidFill>
                  <a:srgbClr val="4C4C4D"/>
                </a:solidFill>
                <a:latin typeface="Heebo"/>
                <a:ea typeface="Heebo"/>
                <a:cs typeface="Heebo"/>
                <a:sym typeface="Heebo"/>
              </a:rPr>
              <a:t> 14 EEG channels (Emotiv EPOC+ headset)</a:t>
            </a:r>
          </a:p>
        </p:txBody>
      </p:sp>
      <p:sp>
        <p:nvSpPr>
          <p:cNvPr name="TextBox 14" id="14"/>
          <p:cNvSpPr txBox="true"/>
          <p:nvPr/>
        </p:nvSpPr>
        <p:spPr>
          <a:xfrm rot="0">
            <a:off x="992238" y="4755652"/>
            <a:ext cx="7875089" cy="429520"/>
          </a:xfrm>
          <a:prstGeom prst="rect">
            <a:avLst/>
          </a:prstGeom>
        </p:spPr>
        <p:txBody>
          <a:bodyPr anchor="t" rtlCol="false" tIns="0" lIns="0" bIns="0" rIns="0">
            <a:spAutoFit/>
          </a:bodyPr>
          <a:lstStyle/>
          <a:p>
            <a:pPr algn="l" marL="263922" indent="-131961" lvl="1">
              <a:lnSpc>
                <a:spcPts val="2812"/>
              </a:lnSpc>
              <a:buFont typeface="Arial"/>
              <a:buChar char="•"/>
            </a:pPr>
            <a:r>
              <a:rPr lang="en-US" b="true" sz="1750">
                <a:solidFill>
                  <a:srgbClr val="4C4C4D"/>
                </a:solidFill>
                <a:latin typeface="Heebo Bold"/>
                <a:ea typeface="Heebo Bold"/>
                <a:cs typeface="Heebo Bold"/>
                <a:sym typeface="Heebo Bold"/>
              </a:rPr>
              <a:t>Sampling Rate:</a:t>
            </a:r>
            <a:r>
              <a:rPr lang="en-US" sz="1750">
                <a:solidFill>
                  <a:srgbClr val="4C4C4D"/>
                </a:solidFill>
                <a:latin typeface="Heebo"/>
                <a:ea typeface="Heebo"/>
                <a:cs typeface="Heebo"/>
                <a:sym typeface="Heebo"/>
              </a:rPr>
              <a:t> 128 Hz</a:t>
            </a:r>
          </a:p>
        </p:txBody>
      </p:sp>
      <p:sp>
        <p:nvSpPr>
          <p:cNvPr name="TextBox 15" id="15"/>
          <p:cNvSpPr txBox="true"/>
          <p:nvPr/>
        </p:nvSpPr>
        <p:spPr>
          <a:xfrm rot="0">
            <a:off x="992238" y="5197821"/>
            <a:ext cx="7875089" cy="792366"/>
          </a:xfrm>
          <a:prstGeom prst="rect">
            <a:avLst/>
          </a:prstGeom>
        </p:spPr>
        <p:txBody>
          <a:bodyPr anchor="t" rtlCol="false" tIns="0" lIns="0" bIns="0" rIns="0">
            <a:spAutoFit/>
          </a:bodyPr>
          <a:lstStyle/>
          <a:p>
            <a:pPr algn="l" marL="263922" indent="-131961" lvl="1">
              <a:lnSpc>
                <a:spcPts val="2812"/>
              </a:lnSpc>
              <a:buFont typeface="Arial"/>
              <a:buChar char="•"/>
            </a:pPr>
            <a:r>
              <a:rPr lang="en-US" b="true" sz="1750">
                <a:solidFill>
                  <a:srgbClr val="4C4C4D"/>
                </a:solidFill>
                <a:latin typeface="Heebo Bold"/>
                <a:ea typeface="Heebo Bold"/>
                <a:cs typeface="Heebo Bold"/>
                <a:sym typeface="Heebo Bold"/>
              </a:rPr>
              <a:t>Trial Structure:</a:t>
            </a:r>
            <a:r>
              <a:rPr lang="en-US" sz="1750">
                <a:solidFill>
                  <a:srgbClr val="4C4C4D"/>
                </a:solidFill>
                <a:latin typeface="Heebo"/>
                <a:ea typeface="Heebo"/>
                <a:cs typeface="Heebo"/>
                <a:sym typeface="Heebo"/>
              </a:rPr>
              <a:t> Each trial corresponds to a single emotional video stimulus.</a:t>
            </a:r>
          </a:p>
        </p:txBody>
      </p:sp>
      <p:sp>
        <p:nvSpPr>
          <p:cNvPr name="TextBox 16" id="16"/>
          <p:cNvSpPr txBox="true"/>
          <p:nvPr/>
        </p:nvSpPr>
        <p:spPr>
          <a:xfrm rot="0">
            <a:off x="992238" y="6002836"/>
            <a:ext cx="7875089" cy="429520"/>
          </a:xfrm>
          <a:prstGeom prst="rect">
            <a:avLst/>
          </a:prstGeom>
        </p:spPr>
        <p:txBody>
          <a:bodyPr anchor="t" rtlCol="false" tIns="0" lIns="0" bIns="0" rIns="0">
            <a:spAutoFit/>
          </a:bodyPr>
          <a:lstStyle/>
          <a:p>
            <a:pPr algn="l" marL="263922" indent="-131961" lvl="1">
              <a:lnSpc>
                <a:spcPts val="2812"/>
              </a:lnSpc>
              <a:buFont typeface="Arial"/>
              <a:buChar char="•"/>
            </a:pPr>
            <a:r>
              <a:rPr lang="en-US" b="true" sz="1750">
                <a:solidFill>
                  <a:srgbClr val="4C4C4D"/>
                </a:solidFill>
                <a:latin typeface="Heebo Bold"/>
                <a:ea typeface="Heebo Bold"/>
                <a:cs typeface="Heebo Bold"/>
                <a:sym typeface="Heebo Bold"/>
              </a:rPr>
              <a:t>Emotion Ratings:</a:t>
            </a:r>
            <a:r>
              <a:rPr lang="en-US" sz="1750">
                <a:solidFill>
                  <a:srgbClr val="4C4C4D"/>
                </a:solidFill>
                <a:latin typeface="Heebo"/>
                <a:ea typeface="Heebo"/>
                <a:cs typeface="Heebo"/>
                <a:sym typeface="Heebo"/>
              </a:rPr>
              <a:t> Valence, Arousal, and Dominance on a 1-5 scale.</a:t>
            </a:r>
          </a:p>
        </p:txBody>
      </p:sp>
      <p:sp>
        <p:nvSpPr>
          <p:cNvPr name="Freeform 17" id="17" descr="preencoded.png"/>
          <p:cNvSpPr/>
          <p:nvPr/>
        </p:nvSpPr>
        <p:spPr>
          <a:xfrm flipH="false" flipV="false" rot="0">
            <a:off x="9430198" y="2617146"/>
            <a:ext cx="6300045" cy="5547122"/>
          </a:xfrm>
          <a:custGeom>
            <a:avLst/>
            <a:gdLst/>
            <a:ahLst/>
            <a:cxnLst/>
            <a:rect r="r" b="b" t="t" l="l"/>
            <a:pathLst>
              <a:path h="5547122" w="6300045">
                <a:moveTo>
                  <a:pt x="0" y="0"/>
                </a:moveTo>
                <a:lnTo>
                  <a:pt x="6300044" y="0"/>
                </a:lnTo>
                <a:lnTo>
                  <a:pt x="6300044" y="5547122"/>
                </a:lnTo>
                <a:lnTo>
                  <a:pt x="0" y="5547122"/>
                </a:lnTo>
                <a:lnTo>
                  <a:pt x="0" y="0"/>
                </a:lnTo>
                <a:close/>
              </a:path>
            </a:pathLst>
          </a:custGeom>
          <a:blipFill>
            <a:blip r:embed="rId2"/>
            <a:stretch>
              <a:fillRect l="0" t="0" r="0" b="0"/>
            </a:stretch>
          </a:blipFill>
        </p:spPr>
      </p:sp>
      <p:sp>
        <p:nvSpPr>
          <p:cNvPr name="TextBox 18" id="18"/>
          <p:cNvSpPr txBox="true"/>
          <p:nvPr/>
        </p:nvSpPr>
        <p:spPr>
          <a:xfrm rot="0">
            <a:off x="9430198" y="8352682"/>
            <a:ext cx="7875089" cy="792366"/>
          </a:xfrm>
          <a:prstGeom prst="rect">
            <a:avLst/>
          </a:prstGeom>
        </p:spPr>
        <p:txBody>
          <a:bodyPr anchor="t" rtlCol="false" tIns="0" lIns="0" bIns="0" rIns="0">
            <a:spAutoFit/>
          </a:bodyPr>
          <a:lstStyle/>
          <a:p>
            <a:pPr algn="l">
              <a:lnSpc>
                <a:spcPts val="2812"/>
              </a:lnSpc>
            </a:pPr>
            <a:r>
              <a:rPr lang="en-US" sz="1750">
                <a:solidFill>
                  <a:srgbClr val="4C4C4D"/>
                </a:solidFill>
                <a:latin typeface="Heebo"/>
                <a:ea typeface="Heebo"/>
                <a:cs typeface="Heebo"/>
                <a:sym typeface="Heebo"/>
              </a:rPr>
              <a:t>Distribution of emotional states within the DREAMER dataset, highlighting the variety of emotional contexts analysed.</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0F0F1"/>
            </a:solidFill>
            <a:ln w="12700">
              <a:solidFill>
                <a:srgbClr val="000000"/>
              </a:solidFill>
            </a:ln>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FFFFF"/>
            </a:solidFill>
            <a:ln w="12700">
              <a:solidFill>
                <a:srgbClr val="000000"/>
              </a:solidFill>
            </a:ln>
          </p:spPr>
        </p:sp>
      </p:grpSp>
      <p:grpSp>
        <p:nvGrpSpPr>
          <p:cNvPr name="Group 6" id="6"/>
          <p:cNvGrpSpPr/>
          <p:nvPr/>
        </p:nvGrpSpPr>
        <p:grpSpPr>
          <a:xfrm rot="0">
            <a:off x="986876" y="775392"/>
            <a:ext cx="1947415" cy="529981"/>
            <a:chOff x="0" y="0"/>
            <a:chExt cx="2596553" cy="706641"/>
          </a:xfrm>
        </p:grpSpPr>
        <p:sp>
          <p:nvSpPr>
            <p:cNvPr name="Freeform 7" id="7"/>
            <p:cNvSpPr/>
            <p:nvPr/>
          </p:nvSpPr>
          <p:spPr>
            <a:xfrm flipH="false" flipV="false" rot="0">
              <a:off x="0" y="0"/>
              <a:ext cx="2596515" cy="706628"/>
            </a:xfrm>
            <a:custGeom>
              <a:avLst/>
              <a:gdLst/>
              <a:ahLst/>
              <a:cxnLst/>
              <a:rect r="r" b="b" t="t" l="l"/>
              <a:pathLst>
                <a:path h="706628" w="2596515">
                  <a:moveTo>
                    <a:pt x="0" y="45085"/>
                  </a:moveTo>
                  <a:cubicBezTo>
                    <a:pt x="0" y="20193"/>
                    <a:pt x="20193" y="0"/>
                    <a:pt x="45085" y="0"/>
                  </a:cubicBezTo>
                  <a:lnTo>
                    <a:pt x="2551430" y="0"/>
                  </a:lnTo>
                  <a:cubicBezTo>
                    <a:pt x="2576322" y="0"/>
                    <a:pt x="2596515" y="20193"/>
                    <a:pt x="2596515" y="45085"/>
                  </a:cubicBezTo>
                  <a:lnTo>
                    <a:pt x="2596515" y="661543"/>
                  </a:lnTo>
                  <a:cubicBezTo>
                    <a:pt x="2596515" y="686435"/>
                    <a:pt x="2576322" y="706628"/>
                    <a:pt x="2551430" y="706628"/>
                  </a:cubicBezTo>
                  <a:lnTo>
                    <a:pt x="45085" y="706628"/>
                  </a:lnTo>
                  <a:cubicBezTo>
                    <a:pt x="20193" y="706628"/>
                    <a:pt x="0" y="686435"/>
                    <a:pt x="0" y="661543"/>
                  </a:cubicBezTo>
                  <a:close/>
                </a:path>
              </a:pathLst>
            </a:custGeom>
            <a:solidFill>
              <a:srgbClr val="CCD7FF"/>
            </a:solidFill>
            <a:ln w="12700">
              <a:solidFill>
                <a:srgbClr val="000000"/>
              </a:solidFill>
            </a:ln>
          </p:spPr>
        </p:sp>
      </p:grpSp>
      <p:sp>
        <p:nvSpPr>
          <p:cNvPr name="TextBox 8" id="8"/>
          <p:cNvSpPr txBox="true"/>
          <p:nvPr/>
        </p:nvSpPr>
        <p:spPr>
          <a:xfrm rot="0">
            <a:off x="1155944" y="793252"/>
            <a:ext cx="1609277" cy="427587"/>
          </a:xfrm>
          <a:prstGeom prst="rect">
            <a:avLst/>
          </a:prstGeom>
        </p:spPr>
        <p:txBody>
          <a:bodyPr anchor="t" rtlCol="false" tIns="0" lIns="0" bIns="0" rIns="0">
            <a:spAutoFit/>
          </a:bodyPr>
          <a:lstStyle/>
          <a:p>
            <a:pPr algn="l">
              <a:lnSpc>
                <a:spcPts val="2812"/>
              </a:lnSpc>
            </a:pPr>
            <a:r>
              <a:rPr lang="en-US" sz="1750">
                <a:solidFill>
                  <a:srgbClr val="4C4C4D"/>
                </a:solidFill>
                <a:latin typeface="Heebo"/>
                <a:ea typeface="Heebo"/>
                <a:cs typeface="Heebo"/>
                <a:sym typeface="Heebo"/>
              </a:rPr>
              <a:t>ARCHITECTURE</a:t>
            </a:r>
          </a:p>
        </p:txBody>
      </p:sp>
      <p:sp>
        <p:nvSpPr>
          <p:cNvPr name="TextBox 9" id="9"/>
          <p:cNvSpPr txBox="true"/>
          <p:nvPr/>
        </p:nvSpPr>
        <p:spPr>
          <a:xfrm rot="0">
            <a:off x="986876" y="1379934"/>
            <a:ext cx="10259016" cy="742950"/>
          </a:xfrm>
          <a:prstGeom prst="rect">
            <a:avLst/>
          </a:prstGeom>
        </p:spPr>
        <p:txBody>
          <a:bodyPr anchor="t" rtlCol="false" tIns="0" lIns="0" bIns="0" rIns="0">
            <a:spAutoFit/>
          </a:bodyPr>
          <a:lstStyle/>
          <a:p>
            <a:pPr algn="l">
              <a:lnSpc>
                <a:spcPts val="5500"/>
              </a:lnSpc>
            </a:pPr>
            <a:r>
              <a:rPr lang="en-US" sz="4437" b="true">
                <a:solidFill>
                  <a:srgbClr val="152D47"/>
                </a:solidFill>
                <a:latin typeface="Crimson Pro Bold"/>
                <a:ea typeface="Crimson Pro Bold"/>
                <a:cs typeface="Crimson Pro Bold"/>
                <a:sym typeface="Crimson Pro Bold"/>
              </a:rPr>
              <a:t>Solution Architecture: A Five-Phase Pipeline</a:t>
            </a:r>
          </a:p>
        </p:txBody>
      </p:sp>
      <p:sp>
        <p:nvSpPr>
          <p:cNvPr name="TextBox 10" id="10"/>
          <p:cNvSpPr txBox="true"/>
          <p:nvPr/>
        </p:nvSpPr>
        <p:spPr>
          <a:xfrm rot="0">
            <a:off x="986876" y="2459984"/>
            <a:ext cx="16314239" cy="536972"/>
          </a:xfrm>
          <a:prstGeom prst="rect">
            <a:avLst/>
          </a:prstGeom>
        </p:spPr>
        <p:txBody>
          <a:bodyPr anchor="t" rtlCol="false" tIns="0" lIns="0" bIns="0" rIns="0">
            <a:spAutoFit/>
          </a:bodyPr>
          <a:lstStyle/>
          <a:p>
            <a:pPr algn="l">
              <a:lnSpc>
                <a:spcPts val="3500"/>
              </a:lnSpc>
            </a:pPr>
            <a:r>
              <a:rPr lang="en-US" sz="2187">
                <a:solidFill>
                  <a:srgbClr val="4C4C4D"/>
                </a:solidFill>
                <a:latin typeface="Heebo"/>
                <a:ea typeface="Heebo"/>
                <a:cs typeface="Heebo"/>
                <a:sym typeface="Heebo"/>
              </a:rPr>
              <a:t>Our robust pipeline ensures comprehensive processing and analysis of EEG signals for accurate emotion recognition.</a:t>
            </a:r>
          </a:p>
        </p:txBody>
      </p:sp>
      <p:grpSp>
        <p:nvGrpSpPr>
          <p:cNvPr name="Group 11" id="11"/>
          <p:cNvGrpSpPr/>
          <p:nvPr/>
        </p:nvGrpSpPr>
        <p:grpSpPr>
          <a:xfrm rot="0">
            <a:off x="986876" y="3736924"/>
            <a:ext cx="5250066" cy="2536927"/>
            <a:chOff x="0" y="0"/>
            <a:chExt cx="7000088" cy="3382569"/>
          </a:xfrm>
        </p:grpSpPr>
        <p:sp>
          <p:nvSpPr>
            <p:cNvPr name="Freeform 12" id="12"/>
            <p:cNvSpPr/>
            <p:nvPr/>
          </p:nvSpPr>
          <p:spPr>
            <a:xfrm flipH="false" flipV="false" rot="0">
              <a:off x="0" y="0"/>
              <a:ext cx="7000113" cy="3382518"/>
            </a:xfrm>
            <a:custGeom>
              <a:avLst/>
              <a:gdLst/>
              <a:ahLst/>
              <a:cxnLst/>
              <a:rect r="r" b="b" t="t" l="l"/>
              <a:pathLst>
                <a:path h="3382518" w="7000113">
                  <a:moveTo>
                    <a:pt x="0" y="243840"/>
                  </a:moveTo>
                  <a:cubicBezTo>
                    <a:pt x="0" y="109220"/>
                    <a:pt x="109220" y="0"/>
                    <a:pt x="243840" y="0"/>
                  </a:cubicBezTo>
                  <a:lnTo>
                    <a:pt x="6756273" y="0"/>
                  </a:lnTo>
                  <a:cubicBezTo>
                    <a:pt x="6890893" y="0"/>
                    <a:pt x="7000113" y="109220"/>
                    <a:pt x="7000113" y="243840"/>
                  </a:cubicBezTo>
                  <a:lnTo>
                    <a:pt x="7000113" y="3138678"/>
                  </a:lnTo>
                  <a:cubicBezTo>
                    <a:pt x="7000113" y="3273298"/>
                    <a:pt x="6890893" y="3382518"/>
                    <a:pt x="6756273" y="3382518"/>
                  </a:cubicBezTo>
                  <a:lnTo>
                    <a:pt x="243840" y="3382518"/>
                  </a:lnTo>
                  <a:cubicBezTo>
                    <a:pt x="109220" y="3382518"/>
                    <a:pt x="0" y="3273298"/>
                    <a:pt x="0" y="3138678"/>
                  </a:cubicBezTo>
                  <a:close/>
                </a:path>
              </a:pathLst>
            </a:custGeom>
            <a:solidFill>
              <a:srgbClr val="FFFFFF"/>
            </a:solidFill>
            <a:ln w="12700">
              <a:solidFill>
                <a:srgbClr val="000000"/>
              </a:solidFill>
            </a:ln>
          </p:spPr>
        </p:sp>
      </p:grpSp>
      <p:grpSp>
        <p:nvGrpSpPr>
          <p:cNvPr name="Group 13" id="13"/>
          <p:cNvGrpSpPr/>
          <p:nvPr/>
        </p:nvGrpSpPr>
        <p:grpSpPr>
          <a:xfrm rot="0">
            <a:off x="986876" y="3698824"/>
            <a:ext cx="5250066" cy="152400"/>
            <a:chOff x="0" y="0"/>
            <a:chExt cx="7000088" cy="203200"/>
          </a:xfrm>
        </p:grpSpPr>
        <p:sp>
          <p:nvSpPr>
            <p:cNvPr name="Freeform 14" id="14"/>
            <p:cNvSpPr/>
            <p:nvPr/>
          </p:nvSpPr>
          <p:spPr>
            <a:xfrm flipH="false" flipV="false" rot="0">
              <a:off x="0" y="0"/>
              <a:ext cx="7000113" cy="203200"/>
            </a:xfrm>
            <a:custGeom>
              <a:avLst/>
              <a:gdLst/>
              <a:ahLst/>
              <a:cxnLst/>
              <a:rect r="r" b="b" t="t" l="l"/>
              <a:pathLst>
                <a:path h="203200" w="7000113">
                  <a:moveTo>
                    <a:pt x="0" y="56388"/>
                  </a:moveTo>
                  <a:cubicBezTo>
                    <a:pt x="0" y="25273"/>
                    <a:pt x="25273" y="0"/>
                    <a:pt x="56388" y="0"/>
                  </a:cubicBezTo>
                  <a:lnTo>
                    <a:pt x="6943725" y="0"/>
                  </a:lnTo>
                  <a:cubicBezTo>
                    <a:pt x="6974840" y="0"/>
                    <a:pt x="7000113" y="25273"/>
                    <a:pt x="7000113" y="56388"/>
                  </a:cubicBezTo>
                  <a:lnTo>
                    <a:pt x="7000113" y="146812"/>
                  </a:lnTo>
                  <a:cubicBezTo>
                    <a:pt x="7000113" y="177927"/>
                    <a:pt x="6974840" y="203200"/>
                    <a:pt x="6943725" y="203200"/>
                  </a:cubicBezTo>
                  <a:lnTo>
                    <a:pt x="56388" y="203200"/>
                  </a:lnTo>
                  <a:cubicBezTo>
                    <a:pt x="25273" y="203200"/>
                    <a:pt x="0" y="177927"/>
                    <a:pt x="0" y="146812"/>
                  </a:cubicBezTo>
                  <a:close/>
                </a:path>
              </a:pathLst>
            </a:custGeom>
            <a:solidFill>
              <a:srgbClr val="2150FE"/>
            </a:solidFill>
            <a:ln w="12700">
              <a:solidFill>
                <a:srgbClr val="000000"/>
              </a:solidFill>
            </a:ln>
          </p:spPr>
        </p:sp>
      </p:grpSp>
      <p:grpSp>
        <p:nvGrpSpPr>
          <p:cNvPr name="Group 15" id="15"/>
          <p:cNvGrpSpPr/>
          <p:nvPr/>
        </p:nvGrpSpPr>
        <p:grpSpPr>
          <a:xfrm rot="0">
            <a:off x="3189018" y="3314109"/>
            <a:ext cx="845791" cy="845791"/>
            <a:chOff x="0" y="0"/>
            <a:chExt cx="1127722" cy="1127722"/>
          </a:xfrm>
        </p:grpSpPr>
        <p:sp>
          <p:nvSpPr>
            <p:cNvPr name="Freeform 16" id="16"/>
            <p:cNvSpPr/>
            <p:nvPr/>
          </p:nvSpPr>
          <p:spPr>
            <a:xfrm flipH="false" flipV="false" rot="0">
              <a:off x="0" y="0"/>
              <a:ext cx="1127760" cy="1127760"/>
            </a:xfrm>
            <a:custGeom>
              <a:avLst/>
              <a:gdLst/>
              <a:ahLst/>
              <a:cxnLst/>
              <a:rect r="r" b="b" t="t" l="l"/>
              <a:pathLst>
                <a:path h="1127760" w="1127760">
                  <a:moveTo>
                    <a:pt x="0" y="563880"/>
                  </a:moveTo>
                  <a:cubicBezTo>
                    <a:pt x="0" y="252476"/>
                    <a:pt x="252476" y="0"/>
                    <a:pt x="563880" y="0"/>
                  </a:cubicBezTo>
                  <a:cubicBezTo>
                    <a:pt x="875284" y="0"/>
                    <a:pt x="1127760" y="252476"/>
                    <a:pt x="1127760" y="563880"/>
                  </a:cubicBezTo>
                  <a:cubicBezTo>
                    <a:pt x="1127760" y="875284"/>
                    <a:pt x="875284" y="1127760"/>
                    <a:pt x="563880" y="1127760"/>
                  </a:cubicBezTo>
                  <a:cubicBezTo>
                    <a:pt x="252476" y="1127760"/>
                    <a:pt x="0" y="875284"/>
                    <a:pt x="0" y="563880"/>
                  </a:cubicBezTo>
                  <a:close/>
                </a:path>
              </a:pathLst>
            </a:custGeom>
            <a:solidFill>
              <a:srgbClr val="2150FE"/>
            </a:solidFill>
            <a:ln w="12700">
              <a:solidFill>
                <a:srgbClr val="000000"/>
              </a:solidFill>
            </a:ln>
          </p:spPr>
        </p:sp>
      </p:grpSp>
      <p:sp>
        <p:nvSpPr>
          <p:cNvPr name="Freeform 17" id="17" descr="preencoded.png"/>
          <p:cNvSpPr/>
          <p:nvPr/>
        </p:nvSpPr>
        <p:spPr>
          <a:xfrm flipH="false" flipV="false" rot="0">
            <a:off x="3442764" y="3567855"/>
            <a:ext cx="338290" cy="338290"/>
          </a:xfrm>
          <a:custGeom>
            <a:avLst/>
            <a:gdLst/>
            <a:ahLst/>
            <a:cxnLst/>
            <a:rect r="r" b="b" t="t" l="l"/>
            <a:pathLst>
              <a:path h="338290" w="338290">
                <a:moveTo>
                  <a:pt x="0" y="0"/>
                </a:moveTo>
                <a:lnTo>
                  <a:pt x="338290" y="0"/>
                </a:lnTo>
                <a:lnTo>
                  <a:pt x="338290" y="338290"/>
                </a:lnTo>
                <a:lnTo>
                  <a:pt x="0" y="338290"/>
                </a:lnTo>
                <a:lnTo>
                  <a:pt x="0" y="0"/>
                </a:lnTo>
                <a:close/>
              </a:path>
            </a:pathLst>
          </a:custGeom>
          <a:blipFill>
            <a:blip r:embed="rId2">
              <a:extLst>
                <a:ext uri="{96DAC541-7B7A-43D3-8B79-37D633B846F1}">
                  <asvg:svgBlip xmlns:asvg="http://schemas.microsoft.com/office/drawing/2016/SVG/main" r:embed="rId3"/>
                </a:ext>
              </a:extLst>
            </a:blip>
            <a:stretch>
              <a:fillRect l="-4167" t="0" r="-4164" b="0"/>
            </a:stretch>
          </a:blipFill>
        </p:spPr>
      </p:sp>
      <p:sp>
        <p:nvSpPr>
          <p:cNvPr name="TextBox 18" id="18"/>
          <p:cNvSpPr txBox="true"/>
          <p:nvPr/>
        </p:nvSpPr>
        <p:spPr>
          <a:xfrm rot="0">
            <a:off x="1306859" y="4413199"/>
            <a:ext cx="3980707" cy="469106"/>
          </a:xfrm>
          <a:prstGeom prst="rect">
            <a:avLst/>
          </a:prstGeom>
        </p:spPr>
        <p:txBody>
          <a:bodyPr anchor="t" rtlCol="false" tIns="0" lIns="0" bIns="0" rIns="0">
            <a:spAutoFit/>
          </a:bodyPr>
          <a:lstStyle/>
          <a:p>
            <a:pPr algn="l">
              <a:lnSpc>
                <a:spcPts val="3437"/>
              </a:lnSpc>
            </a:pPr>
            <a:r>
              <a:rPr lang="en-US" sz="2750" b="true">
                <a:solidFill>
                  <a:srgbClr val="4C4C4D"/>
                </a:solidFill>
                <a:latin typeface="Crimson Pro Bold"/>
                <a:ea typeface="Crimson Pro Bold"/>
                <a:cs typeface="Crimson Pro Bold"/>
                <a:sym typeface="Crimson Pro Bold"/>
              </a:rPr>
              <a:t>Exploratory Analysis (EDA)</a:t>
            </a:r>
          </a:p>
        </p:txBody>
      </p:sp>
      <p:sp>
        <p:nvSpPr>
          <p:cNvPr name="TextBox 19" id="19"/>
          <p:cNvSpPr txBox="true"/>
          <p:nvPr/>
        </p:nvSpPr>
        <p:spPr>
          <a:xfrm rot="0">
            <a:off x="1306859" y="4965649"/>
            <a:ext cx="4610100" cy="988219"/>
          </a:xfrm>
          <a:prstGeom prst="rect">
            <a:avLst/>
          </a:prstGeom>
        </p:spPr>
        <p:txBody>
          <a:bodyPr anchor="t" rtlCol="false" tIns="0" lIns="0" bIns="0" rIns="0">
            <a:spAutoFit/>
          </a:bodyPr>
          <a:lstStyle/>
          <a:p>
            <a:pPr algn="l">
              <a:lnSpc>
                <a:spcPts val="3500"/>
              </a:lnSpc>
            </a:pPr>
            <a:r>
              <a:rPr lang="en-US" sz="2187">
                <a:solidFill>
                  <a:srgbClr val="4C4C4D"/>
                </a:solidFill>
                <a:latin typeface="Heebo"/>
                <a:ea typeface="Heebo"/>
                <a:cs typeface="Heebo"/>
                <a:sym typeface="Heebo"/>
              </a:rPr>
              <a:t>Understand data distribution and identify preliminary patterns.</a:t>
            </a:r>
          </a:p>
        </p:txBody>
      </p:sp>
      <p:grpSp>
        <p:nvGrpSpPr>
          <p:cNvPr name="Group 20" id="20"/>
          <p:cNvGrpSpPr/>
          <p:nvPr/>
        </p:nvGrpSpPr>
        <p:grpSpPr>
          <a:xfrm rot="0">
            <a:off x="6518824" y="3736924"/>
            <a:ext cx="5250209" cy="2536927"/>
            <a:chOff x="0" y="0"/>
            <a:chExt cx="7000278" cy="3382569"/>
          </a:xfrm>
        </p:grpSpPr>
        <p:sp>
          <p:nvSpPr>
            <p:cNvPr name="Freeform 21" id="21"/>
            <p:cNvSpPr/>
            <p:nvPr/>
          </p:nvSpPr>
          <p:spPr>
            <a:xfrm flipH="false" flipV="false" rot="0">
              <a:off x="0" y="0"/>
              <a:ext cx="7000240" cy="3382518"/>
            </a:xfrm>
            <a:custGeom>
              <a:avLst/>
              <a:gdLst/>
              <a:ahLst/>
              <a:cxnLst/>
              <a:rect r="r" b="b" t="t" l="l"/>
              <a:pathLst>
                <a:path h="3382518" w="7000240">
                  <a:moveTo>
                    <a:pt x="0" y="243840"/>
                  </a:moveTo>
                  <a:cubicBezTo>
                    <a:pt x="0" y="109220"/>
                    <a:pt x="109220" y="0"/>
                    <a:pt x="243840" y="0"/>
                  </a:cubicBezTo>
                  <a:lnTo>
                    <a:pt x="6756400" y="0"/>
                  </a:lnTo>
                  <a:cubicBezTo>
                    <a:pt x="6891020" y="0"/>
                    <a:pt x="7000240" y="109220"/>
                    <a:pt x="7000240" y="243840"/>
                  </a:cubicBezTo>
                  <a:lnTo>
                    <a:pt x="7000240" y="3138678"/>
                  </a:lnTo>
                  <a:cubicBezTo>
                    <a:pt x="7000240" y="3273298"/>
                    <a:pt x="6891020" y="3382518"/>
                    <a:pt x="6756400" y="3382518"/>
                  </a:cubicBezTo>
                  <a:lnTo>
                    <a:pt x="243840" y="3382518"/>
                  </a:lnTo>
                  <a:cubicBezTo>
                    <a:pt x="109220" y="3382518"/>
                    <a:pt x="0" y="3273298"/>
                    <a:pt x="0" y="3138678"/>
                  </a:cubicBezTo>
                  <a:close/>
                </a:path>
              </a:pathLst>
            </a:custGeom>
            <a:solidFill>
              <a:srgbClr val="FFFFFF"/>
            </a:solidFill>
            <a:ln w="12700">
              <a:solidFill>
                <a:srgbClr val="000000"/>
              </a:solidFill>
            </a:ln>
          </p:spPr>
        </p:sp>
      </p:grpSp>
      <p:grpSp>
        <p:nvGrpSpPr>
          <p:cNvPr name="Group 22" id="22"/>
          <p:cNvGrpSpPr/>
          <p:nvPr/>
        </p:nvGrpSpPr>
        <p:grpSpPr>
          <a:xfrm rot="0">
            <a:off x="6518824" y="3698824"/>
            <a:ext cx="5250209" cy="152400"/>
            <a:chOff x="0" y="0"/>
            <a:chExt cx="7000278" cy="203200"/>
          </a:xfrm>
        </p:grpSpPr>
        <p:sp>
          <p:nvSpPr>
            <p:cNvPr name="Freeform 23" id="23"/>
            <p:cNvSpPr/>
            <p:nvPr/>
          </p:nvSpPr>
          <p:spPr>
            <a:xfrm flipH="false" flipV="false" rot="0">
              <a:off x="0" y="0"/>
              <a:ext cx="7000240" cy="203200"/>
            </a:xfrm>
            <a:custGeom>
              <a:avLst/>
              <a:gdLst/>
              <a:ahLst/>
              <a:cxnLst/>
              <a:rect r="r" b="b" t="t" l="l"/>
              <a:pathLst>
                <a:path h="203200" w="7000240">
                  <a:moveTo>
                    <a:pt x="0" y="56388"/>
                  </a:moveTo>
                  <a:cubicBezTo>
                    <a:pt x="0" y="25273"/>
                    <a:pt x="25273" y="0"/>
                    <a:pt x="56388" y="0"/>
                  </a:cubicBezTo>
                  <a:lnTo>
                    <a:pt x="6943852" y="0"/>
                  </a:lnTo>
                  <a:cubicBezTo>
                    <a:pt x="6974967" y="0"/>
                    <a:pt x="7000240" y="25273"/>
                    <a:pt x="7000240" y="56388"/>
                  </a:cubicBezTo>
                  <a:lnTo>
                    <a:pt x="7000240" y="146812"/>
                  </a:lnTo>
                  <a:cubicBezTo>
                    <a:pt x="7000240" y="177927"/>
                    <a:pt x="6974967" y="203200"/>
                    <a:pt x="6943852" y="203200"/>
                  </a:cubicBezTo>
                  <a:lnTo>
                    <a:pt x="56388" y="203200"/>
                  </a:lnTo>
                  <a:cubicBezTo>
                    <a:pt x="25273" y="203200"/>
                    <a:pt x="0" y="177927"/>
                    <a:pt x="0" y="146812"/>
                  </a:cubicBezTo>
                  <a:close/>
                </a:path>
              </a:pathLst>
            </a:custGeom>
            <a:solidFill>
              <a:srgbClr val="2150FE"/>
            </a:solidFill>
            <a:ln w="12700">
              <a:solidFill>
                <a:srgbClr val="000000"/>
              </a:solidFill>
            </a:ln>
          </p:spPr>
        </p:sp>
      </p:grpSp>
      <p:grpSp>
        <p:nvGrpSpPr>
          <p:cNvPr name="Group 24" id="24"/>
          <p:cNvGrpSpPr/>
          <p:nvPr/>
        </p:nvGrpSpPr>
        <p:grpSpPr>
          <a:xfrm rot="0">
            <a:off x="8720957" y="3314109"/>
            <a:ext cx="845791" cy="845791"/>
            <a:chOff x="0" y="0"/>
            <a:chExt cx="1127722" cy="1127722"/>
          </a:xfrm>
        </p:grpSpPr>
        <p:sp>
          <p:nvSpPr>
            <p:cNvPr name="Freeform 25" id="25"/>
            <p:cNvSpPr/>
            <p:nvPr/>
          </p:nvSpPr>
          <p:spPr>
            <a:xfrm flipH="false" flipV="false" rot="0">
              <a:off x="0" y="0"/>
              <a:ext cx="1127760" cy="1127760"/>
            </a:xfrm>
            <a:custGeom>
              <a:avLst/>
              <a:gdLst/>
              <a:ahLst/>
              <a:cxnLst/>
              <a:rect r="r" b="b" t="t" l="l"/>
              <a:pathLst>
                <a:path h="1127760" w="1127760">
                  <a:moveTo>
                    <a:pt x="0" y="563880"/>
                  </a:moveTo>
                  <a:cubicBezTo>
                    <a:pt x="0" y="252476"/>
                    <a:pt x="252476" y="0"/>
                    <a:pt x="563880" y="0"/>
                  </a:cubicBezTo>
                  <a:cubicBezTo>
                    <a:pt x="875284" y="0"/>
                    <a:pt x="1127760" y="252476"/>
                    <a:pt x="1127760" y="563880"/>
                  </a:cubicBezTo>
                  <a:cubicBezTo>
                    <a:pt x="1127760" y="875284"/>
                    <a:pt x="875284" y="1127760"/>
                    <a:pt x="563880" y="1127760"/>
                  </a:cubicBezTo>
                  <a:cubicBezTo>
                    <a:pt x="252476" y="1127760"/>
                    <a:pt x="0" y="875284"/>
                    <a:pt x="0" y="563880"/>
                  </a:cubicBezTo>
                  <a:close/>
                </a:path>
              </a:pathLst>
            </a:custGeom>
            <a:solidFill>
              <a:srgbClr val="2150FE"/>
            </a:solidFill>
            <a:ln w="12700">
              <a:solidFill>
                <a:srgbClr val="000000"/>
              </a:solidFill>
            </a:ln>
          </p:spPr>
        </p:sp>
      </p:grpSp>
      <p:sp>
        <p:nvSpPr>
          <p:cNvPr name="Freeform 26" id="26" descr="preencoded.png"/>
          <p:cNvSpPr/>
          <p:nvPr/>
        </p:nvSpPr>
        <p:spPr>
          <a:xfrm flipH="false" flipV="false" rot="0">
            <a:off x="8974712" y="3567855"/>
            <a:ext cx="338290" cy="338290"/>
          </a:xfrm>
          <a:custGeom>
            <a:avLst/>
            <a:gdLst/>
            <a:ahLst/>
            <a:cxnLst/>
            <a:rect r="r" b="b" t="t" l="l"/>
            <a:pathLst>
              <a:path h="338290" w="338290">
                <a:moveTo>
                  <a:pt x="0" y="0"/>
                </a:moveTo>
                <a:lnTo>
                  <a:pt x="338290" y="0"/>
                </a:lnTo>
                <a:lnTo>
                  <a:pt x="338290" y="338290"/>
                </a:lnTo>
                <a:lnTo>
                  <a:pt x="0" y="338290"/>
                </a:lnTo>
                <a:lnTo>
                  <a:pt x="0" y="0"/>
                </a:lnTo>
                <a:close/>
              </a:path>
            </a:pathLst>
          </a:custGeom>
          <a:blipFill>
            <a:blip r:embed="rId4">
              <a:extLst>
                <a:ext uri="{96DAC541-7B7A-43D3-8B79-37D633B846F1}">
                  <asvg:svgBlip xmlns:asvg="http://schemas.microsoft.com/office/drawing/2016/SVG/main" r:embed="rId5"/>
                </a:ext>
              </a:extLst>
            </a:blip>
            <a:stretch>
              <a:fillRect l="0" t="-1388" r="0" b="-1388"/>
            </a:stretch>
          </a:blipFill>
        </p:spPr>
      </p:sp>
      <p:sp>
        <p:nvSpPr>
          <p:cNvPr name="TextBox 27" id="27"/>
          <p:cNvSpPr txBox="true"/>
          <p:nvPr/>
        </p:nvSpPr>
        <p:spPr>
          <a:xfrm rot="0">
            <a:off x="6838798" y="4413199"/>
            <a:ext cx="3524545" cy="469106"/>
          </a:xfrm>
          <a:prstGeom prst="rect">
            <a:avLst/>
          </a:prstGeom>
        </p:spPr>
        <p:txBody>
          <a:bodyPr anchor="t" rtlCol="false" tIns="0" lIns="0" bIns="0" rIns="0">
            <a:spAutoFit/>
          </a:bodyPr>
          <a:lstStyle/>
          <a:p>
            <a:pPr algn="l">
              <a:lnSpc>
                <a:spcPts val="3437"/>
              </a:lnSpc>
            </a:pPr>
            <a:r>
              <a:rPr lang="en-US" sz="2750" b="true">
                <a:solidFill>
                  <a:srgbClr val="4C4C4D"/>
                </a:solidFill>
                <a:latin typeface="Crimson Pro Bold"/>
                <a:ea typeface="Crimson Pro Bold"/>
                <a:cs typeface="Crimson Pro Bold"/>
                <a:sym typeface="Crimson Pro Bold"/>
              </a:rPr>
              <a:t>EEG Preprocessing</a:t>
            </a:r>
          </a:p>
        </p:txBody>
      </p:sp>
      <p:sp>
        <p:nvSpPr>
          <p:cNvPr name="TextBox 28" id="28"/>
          <p:cNvSpPr txBox="true"/>
          <p:nvPr/>
        </p:nvSpPr>
        <p:spPr>
          <a:xfrm rot="0">
            <a:off x="6838798" y="4965649"/>
            <a:ext cx="4610252" cy="988219"/>
          </a:xfrm>
          <a:prstGeom prst="rect">
            <a:avLst/>
          </a:prstGeom>
        </p:spPr>
        <p:txBody>
          <a:bodyPr anchor="t" rtlCol="false" tIns="0" lIns="0" bIns="0" rIns="0">
            <a:spAutoFit/>
          </a:bodyPr>
          <a:lstStyle/>
          <a:p>
            <a:pPr algn="l">
              <a:lnSpc>
                <a:spcPts val="3500"/>
              </a:lnSpc>
            </a:pPr>
            <a:r>
              <a:rPr lang="en-US" sz="2187">
                <a:solidFill>
                  <a:srgbClr val="4C4C4D"/>
                </a:solidFill>
                <a:latin typeface="Heebo"/>
                <a:ea typeface="Heebo"/>
                <a:cs typeface="Heebo"/>
                <a:sym typeface="Heebo"/>
              </a:rPr>
              <a:t>Clean noisy signals using filtering, ICA, ASR, and CAR techniques.</a:t>
            </a:r>
          </a:p>
        </p:txBody>
      </p:sp>
      <p:grpSp>
        <p:nvGrpSpPr>
          <p:cNvPr name="Group 29" id="29"/>
          <p:cNvGrpSpPr/>
          <p:nvPr/>
        </p:nvGrpSpPr>
        <p:grpSpPr>
          <a:xfrm rot="0">
            <a:off x="12050916" y="3736924"/>
            <a:ext cx="5250209" cy="2536927"/>
            <a:chOff x="0" y="0"/>
            <a:chExt cx="7000278" cy="3382569"/>
          </a:xfrm>
        </p:grpSpPr>
        <p:sp>
          <p:nvSpPr>
            <p:cNvPr name="Freeform 30" id="30"/>
            <p:cNvSpPr/>
            <p:nvPr/>
          </p:nvSpPr>
          <p:spPr>
            <a:xfrm flipH="false" flipV="false" rot="0">
              <a:off x="0" y="0"/>
              <a:ext cx="7000240" cy="3382518"/>
            </a:xfrm>
            <a:custGeom>
              <a:avLst/>
              <a:gdLst/>
              <a:ahLst/>
              <a:cxnLst/>
              <a:rect r="r" b="b" t="t" l="l"/>
              <a:pathLst>
                <a:path h="3382518" w="7000240">
                  <a:moveTo>
                    <a:pt x="0" y="243840"/>
                  </a:moveTo>
                  <a:cubicBezTo>
                    <a:pt x="0" y="109220"/>
                    <a:pt x="109220" y="0"/>
                    <a:pt x="243840" y="0"/>
                  </a:cubicBezTo>
                  <a:lnTo>
                    <a:pt x="6756400" y="0"/>
                  </a:lnTo>
                  <a:cubicBezTo>
                    <a:pt x="6891020" y="0"/>
                    <a:pt x="7000240" y="109220"/>
                    <a:pt x="7000240" y="243840"/>
                  </a:cubicBezTo>
                  <a:lnTo>
                    <a:pt x="7000240" y="3138678"/>
                  </a:lnTo>
                  <a:cubicBezTo>
                    <a:pt x="7000240" y="3273298"/>
                    <a:pt x="6891020" y="3382518"/>
                    <a:pt x="6756400" y="3382518"/>
                  </a:cubicBezTo>
                  <a:lnTo>
                    <a:pt x="243840" y="3382518"/>
                  </a:lnTo>
                  <a:cubicBezTo>
                    <a:pt x="109220" y="3382518"/>
                    <a:pt x="0" y="3273298"/>
                    <a:pt x="0" y="3138678"/>
                  </a:cubicBezTo>
                  <a:close/>
                </a:path>
              </a:pathLst>
            </a:custGeom>
            <a:solidFill>
              <a:srgbClr val="FFFFFF"/>
            </a:solidFill>
            <a:ln w="12700">
              <a:solidFill>
                <a:srgbClr val="000000"/>
              </a:solidFill>
            </a:ln>
          </p:spPr>
        </p:sp>
      </p:grpSp>
      <p:grpSp>
        <p:nvGrpSpPr>
          <p:cNvPr name="Group 31" id="31"/>
          <p:cNvGrpSpPr/>
          <p:nvPr/>
        </p:nvGrpSpPr>
        <p:grpSpPr>
          <a:xfrm rot="0">
            <a:off x="12050916" y="3698824"/>
            <a:ext cx="5250209" cy="152400"/>
            <a:chOff x="0" y="0"/>
            <a:chExt cx="7000278" cy="203200"/>
          </a:xfrm>
        </p:grpSpPr>
        <p:sp>
          <p:nvSpPr>
            <p:cNvPr name="Freeform 32" id="32"/>
            <p:cNvSpPr/>
            <p:nvPr/>
          </p:nvSpPr>
          <p:spPr>
            <a:xfrm flipH="false" flipV="false" rot="0">
              <a:off x="0" y="0"/>
              <a:ext cx="7000240" cy="203200"/>
            </a:xfrm>
            <a:custGeom>
              <a:avLst/>
              <a:gdLst/>
              <a:ahLst/>
              <a:cxnLst/>
              <a:rect r="r" b="b" t="t" l="l"/>
              <a:pathLst>
                <a:path h="203200" w="7000240">
                  <a:moveTo>
                    <a:pt x="0" y="56388"/>
                  </a:moveTo>
                  <a:cubicBezTo>
                    <a:pt x="0" y="25273"/>
                    <a:pt x="25273" y="0"/>
                    <a:pt x="56388" y="0"/>
                  </a:cubicBezTo>
                  <a:lnTo>
                    <a:pt x="6943852" y="0"/>
                  </a:lnTo>
                  <a:cubicBezTo>
                    <a:pt x="6974967" y="0"/>
                    <a:pt x="7000240" y="25273"/>
                    <a:pt x="7000240" y="56388"/>
                  </a:cubicBezTo>
                  <a:lnTo>
                    <a:pt x="7000240" y="146812"/>
                  </a:lnTo>
                  <a:cubicBezTo>
                    <a:pt x="7000240" y="177927"/>
                    <a:pt x="6974967" y="203200"/>
                    <a:pt x="6943852" y="203200"/>
                  </a:cubicBezTo>
                  <a:lnTo>
                    <a:pt x="56388" y="203200"/>
                  </a:lnTo>
                  <a:cubicBezTo>
                    <a:pt x="25273" y="203200"/>
                    <a:pt x="0" y="177927"/>
                    <a:pt x="0" y="146812"/>
                  </a:cubicBezTo>
                  <a:close/>
                </a:path>
              </a:pathLst>
            </a:custGeom>
            <a:solidFill>
              <a:srgbClr val="2150FE"/>
            </a:solidFill>
            <a:ln w="12700">
              <a:solidFill>
                <a:srgbClr val="000000"/>
              </a:solidFill>
            </a:ln>
          </p:spPr>
        </p:sp>
      </p:grpSp>
      <p:grpSp>
        <p:nvGrpSpPr>
          <p:cNvPr name="Group 33" id="33"/>
          <p:cNvGrpSpPr/>
          <p:nvPr/>
        </p:nvGrpSpPr>
        <p:grpSpPr>
          <a:xfrm rot="0">
            <a:off x="14253048" y="3314109"/>
            <a:ext cx="845791" cy="845791"/>
            <a:chOff x="0" y="0"/>
            <a:chExt cx="1127722" cy="1127722"/>
          </a:xfrm>
        </p:grpSpPr>
        <p:sp>
          <p:nvSpPr>
            <p:cNvPr name="Freeform 34" id="34"/>
            <p:cNvSpPr/>
            <p:nvPr/>
          </p:nvSpPr>
          <p:spPr>
            <a:xfrm flipH="false" flipV="false" rot="0">
              <a:off x="0" y="0"/>
              <a:ext cx="1127760" cy="1127760"/>
            </a:xfrm>
            <a:custGeom>
              <a:avLst/>
              <a:gdLst/>
              <a:ahLst/>
              <a:cxnLst/>
              <a:rect r="r" b="b" t="t" l="l"/>
              <a:pathLst>
                <a:path h="1127760" w="1127760">
                  <a:moveTo>
                    <a:pt x="0" y="563880"/>
                  </a:moveTo>
                  <a:cubicBezTo>
                    <a:pt x="0" y="252476"/>
                    <a:pt x="252476" y="0"/>
                    <a:pt x="563880" y="0"/>
                  </a:cubicBezTo>
                  <a:cubicBezTo>
                    <a:pt x="875284" y="0"/>
                    <a:pt x="1127760" y="252476"/>
                    <a:pt x="1127760" y="563880"/>
                  </a:cubicBezTo>
                  <a:cubicBezTo>
                    <a:pt x="1127760" y="875284"/>
                    <a:pt x="875284" y="1127760"/>
                    <a:pt x="563880" y="1127760"/>
                  </a:cubicBezTo>
                  <a:cubicBezTo>
                    <a:pt x="252476" y="1127760"/>
                    <a:pt x="0" y="875284"/>
                    <a:pt x="0" y="563880"/>
                  </a:cubicBezTo>
                  <a:close/>
                </a:path>
              </a:pathLst>
            </a:custGeom>
            <a:solidFill>
              <a:srgbClr val="2150FE"/>
            </a:solidFill>
            <a:ln w="12700">
              <a:solidFill>
                <a:srgbClr val="000000"/>
              </a:solidFill>
            </a:ln>
          </p:spPr>
        </p:sp>
      </p:grpSp>
      <p:sp>
        <p:nvSpPr>
          <p:cNvPr name="Freeform 35" id="35" descr="preencoded.png"/>
          <p:cNvSpPr/>
          <p:nvPr/>
        </p:nvSpPr>
        <p:spPr>
          <a:xfrm flipH="false" flipV="false" rot="0">
            <a:off x="14506794" y="3567855"/>
            <a:ext cx="338290" cy="338290"/>
          </a:xfrm>
          <a:custGeom>
            <a:avLst/>
            <a:gdLst/>
            <a:ahLst/>
            <a:cxnLst/>
            <a:rect r="r" b="b" t="t" l="l"/>
            <a:pathLst>
              <a:path h="338290" w="338290">
                <a:moveTo>
                  <a:pt x="0" y="0"/>
                </a:moveTo>
                <a:lnTo>
                  <a:pt x="338290" y="0"/>
                </a:lnTo>
                <a:lnTo>
                  <a:pt x="338290" y="338290"/>
                </a:lnTo>
                <a:lnTo>
                  <a:pt x="0" y="338290"/>
                </a:lnTo>
                <a:lnTo>
                  <a:pt x="0" y="0"/>
                </a:lnTo>
                <a:close/>
              </a:path>
            </a:pathLst>
          </a:custGeom>
          <a:blipFill>
            <a:blip r:embed="rId6">
              <a:extLst>
                <a:ext uri="{96DAC541-7B7A-43D3-8B79-37D633B846F1}">
                  <asvg:svgBlip xmlns:asvg="http://schemas.microsoft.com/office/drawing/2016/SVG/main" r:embed="rId7"/>
                </a:ext>
              </a:extLst>
            </a:blip>
            <a:stretch>
              <a:fillRect l="0" t="-9722" r="0" b="-9719"/>
            </a:stretch>
          </a:blipFill>
        </p:spPr>
      </p:sp>
      <p:sp>
        <p:nvSpPr>
          <p:cNvPr name="TextBox 36" id="36"/>
          <p:cNvSpPr txBox="true"/>
          <p:nvPr/>
        </p:nvSpPr>
        <p:spPr>
          <a:xfrm rot="0">
            <a:off x="12370889" y="4413199"/>
            <a:ext cx="3524545" cy="469106"/>
          </a:xfrm>
          <a:prstGeom prst="rect">
            <a:avLst/>
          </a:prstGeom>
        </p:spPr>
        <p:txBody>
          <a:bodyPr anchor="t" rtlCol="false" tIns="0" lIns="0" bIns="0" rIns="0">
            <a:spAutoFit/>
          </a:bodyPr>
          <a:lstStyle/>
          <a:p>
            <a:pPr algn="l">
              <a:lnSpc>
                <a:spcPts val="3437"/>
              </a:lnSpc>
            </a:pPr>
            <a:r>
              <a:rPr lang="en-US" sz="2750" b="true">
                <a:solidFill>
                  <a:srgbClr val="4C4C4D"/>
                </a:solidFill>
                <a:latin typeface="Crimson Pro Bold"/>
                <a:ea typeface="Crimson Pro Bold"/>
                <a:cs typeface="Crimson Pro Bold"/>
                <a:sym typeface="Crimson Pro Bold"/>
              </a:rPr>
              <a:t>Feature Extraction</a:t>
            </a:r>
          </a:p>
        </p:txBody>
      </p:sp>
      <p:sp>
        <p:nvSpPr>
          <p:cNvPr name="TextBox 37" id="37"/>
          <p:cNvSpPr txBox="true"/>
          <p:nvPr/>
        </p:nvSpPr>
        <p:spPr>
          <a:xfrm rot="0">
            <a:off x="12370889" y="4965649"/>
            <a:ext cx="4610252" cy="988219"/>
          </a:xfrm>
          <a:prstGeom prst="rect">
            <a:avLst/>
          </a:prstGeom>
        </p:spPr>
        <p:txBody>
          <a:bodyPr anchor="t" rtlCol="false" tIns="0" lIns="0" bIns="0" rIns="0">
            <a:spAutoFit/>
          </a:bodyPr>
          <a:lstStyle/>
          <a:p>
            <a:pPr algn="l">
              <a:lnSpc>
                <a:spcPts val="3500"/>
              </a:lnSpc>
            </a:pPr>
            <a:r>
              <a:rPr lang="en-US" sz="2187">
                <a:solidFill>
                  <a:srgbClr val="4C4C4D"/>
                </a:solidFill>
                <a:latin typeface="Heebo"/>
                <a:ea typeface="Heebo"/>
                <a:cs typeface="Heebo"/>
                <a:sym typeface="Heebo"/>
              </a:rPr>
              <a:t>Derive 280 advanced features from five distinct frequency bands.</a:t>
            </a:r>
          </a:p>
        </p:txBody>
      </p:sp>
      <p:grpSp>
        <p:nvGrpSpPr>
          <p:cNvPr name="Group 38" id="38"/>
          <p:cNvGrpSpPr/>
          <p:nvPr/>
        </p:nvGrpSpPr>
        <p:grpSpPr>
          <a:xfrm rot="0">
            <a:off x="986876" y="6978548"/>
            <a:ext cx="8016183" cy="2536927"/>
            <a:chOff x="0" y="0"/>
            <a:chExt cx="10688244" cy="3382569"/>
          </a:xfrm>
        </p:grpSpPr>
        <p:sp>
          <p:nvSpPr>
            <p:cNvPr name="Freeform 39" id="39"/>
            <p:cNvSpPr/>
            <p:nvPr/>
          </p:nvSpPr>
          <p:spPr>
            <a:xfrm flipH="false" flipV="false" rot="0">
              <a:off x="0" y="0"/>
              <a:ext cx="10688193" cy="3382518"/>
            </a:xfrm>
            <a:custGeom>
              <a:avLst/>
              <a:gdLst/>
              <a:ahLst/>
              <a:cxnLst/>
              <a:rect r="r" b="b" t="t" l="l"/>
              <a:pathLst>
                <a:path h="3382518" w="10688193">
                  <a:moveTo>
                    <a:pt x="0" y="243840"/>
                  </a:moveTo>
                  <a:cubicBezTo>
                    <a:pt x="0" y="109220"/>
                    <a:pt x="109220" y="0"/>
                    <a:pt x="243840" y="0"/>
                  </a:cubicBezTo>
                  <a:lnTo>
                    <a:pt x="10444353" y="0"/>
                  </a:lnTo>
                  <a:cubicBezTo>
                    <a:pt x="10578973" y="0"/>
                    <a:pt x="10688193" y="109220"/>
                    <a:pt x="10688193" y="243840"/>
                  </a:cubicBezTo>
                  <a:lnTo>
                    <a:pt x="10688193" y="3138678"/>
                  </a:lnTo>
                  <a:cubicBezTo>
                    <a:pt x="10688193" y="3273298"/>
                    <a:pt x="10578973" y="3382518"/>
                    <a:pt x="10444353" y="3382518"/>
                  </a:cubicBezTo>
                  <a:lnTo>
                    <a:pt x="243840" y="3382518"/>
                  </a:lnTo>
                  <a:cubicBezTo>
                    <a:pt x="109220" y="3382518"/>
                    <a:pt x="0" y="3273298"/>
                    <a:pt x="0" y="3138678"/>
                  </a:cubicBezTo>
                  <a:close/>
                </a:path>
              </a:pathLst>
            </a:custGeom>
            <a:solidFill>
              <a:srgbClr val="FFFFFF"/>
            </a:solidFill>
            <a:ln w="12700">
              <a:solidFill>
                <a:srgbClr val="000000"/>
              </a:solidFill>
            </a:ln>
          </p:spPr>
        </p:sp>
      </p:grpSp>
      <p:grpSp>
        <p:nvGrpSpPr>
          <p:cNvPr name="Group 40" id="40"/>
          <p:cNvGrpSpPr/>
          <p:nvPr/>
        </p:nvGrpSpPr>
        <p:grpSpPr>
          <a:xfrm rot="0">
            <a:off x="986876" y="6940448"/>
            <a:ext cx="8016183" cy="152400"/>
            <a:chOff x="0" y="0"/>
            <a:chExt cx="10688244" cy="203200"/>
          </a:xfrm>
        </p:grpSpPr>
        <p:sp>
          <p:nvSpPr>
            <p:cNvPr name="Freeform 41" id="41"/>
            <p:cNvSpPr/>
            <p:nvPr/>
          </p:nvSpPr>
          <p:spPr>
            <a:xfrm flipH="false" flipV="false" rot="0">
              <a:off x="0" y="0"/>
              <a:ext cx="10688193" cy="203200"/>
            </a:xfrm>
            <a:custGeom>
              <a:avLst/>
              <a:gdLst/>
              <a:ahLst/>
              <a:cxnLst/>
              <a:rect r="r" b="b" t="t" l="l"/>
              <a:pathLst>
                <a:path h="203200" w="10688193">
                  <a:moveTo>
                    <a:pt x="0" y="56388"/>
                  </a:moveTo>
                  <a:cubicBezTo>
                    <a:pt x="0" y="25273"/>
                    <a:pt x="25273" y="0"/>
                    <a:pt x="56388" y="0"/>
                  </a:cubicBezTo>
                  <a:lnTo>
                    <a:pt x="10631805" y="0"/>
                  </a:lnTo>
                  <a:cubicBezTo>
                    <a:pt x="10662920" y="0"/>
                    <a:pt x="10688193" y="25273"/>
                    <a:pt x="10688193" y="56388"/>
                  </a:cubicBezTo>
                  <a:lnTo>
                    <a:pt x="10688193" y="146812"/>
                  </a:lnTo>
                  <a:cubicBezTo>
                    <a:pt x="10688193" y="177927"/>
                    <a:pt x="10662920" y="203200"/>
                    <a:pt x="10631805" y="203200"/>
                  </a:cubicBezTo>
                  <a:lnTo>
                    <a:pt x="56388" y="203200"/>
                  </a:lnTo>
                  <a:cubicBezTo>
                    <a:pt x="25273" y="203200"/>
                    <a:pt x="0" y="177927"/>
                    <a:pt x="0" y="146812"/>
                  </a:cubicBezTo>
                  <a:close/>
                </a:path>
              </a:pathLst>
            </a:custGeom>
            <a:solidFill>
              <a:srgbClr val="2150FE"/>
            </a:solidFill>
            <a:ln w="12700">
              <a:solidFill>
                <a:srgbClr val="000000"/>
              </a:solidFill>
            </a:ln>
          </p:spPr>
        </p:sp>
      </p:grpSp>
      <p:grpSp>
        <p:nvGrpSpPr>
          <p:cNvPr name="Group 42" id="42"/>
          <p:cNvGrpSpPr/>
          <p:nvPr/>
        </p:nvGrpSpPr>
        <p:grpSpPr>
          <a:xfrm rot="0">
            <a:off x="4572076" y="6555734"/>
            <a:ext cx="845791" cy="845791"/>
            <a:chOff x="0" y="0"/>
            <a:chExt cx="1127722" cy="1127722"/>
          </a:xfrm>
        </p:grpSpPr>
        <p:sp>
          <p:nvSpPr>
            <p:cNvPr name="Freeform 43" id="43"/>
            <p:cNvSpPr/>
            <p:nvPr/>
          </p:nvSpPr>
          <p:spPr>
            <a:xfrm flipH="false" flipV="false" rot="0">
              <a:off x="0" y="0"/>
              <a:ext cx="1127760" cy="1127760"/>
            </a:xfrm>
            <a:custGeom>
              <a:avLst/>
              <a:gdLst/>
              <a:ahLst/>
              <a:cxnLst/>
              <a:rect r="r" b="b" t="t" l="l"/>
              <a:pathLst>
                <a:path h="1127760" w="1127760">
                  <a:moveTo>
                    <a:pt x="0" y="563880"/>
                  </a:moveTo>
                  <a:cubicBezTo>
                    <a:pt x="0" y="252476"/>
                    <a:pt x="252476" y="0"/>
                    <a:pt x="563880" y="0"/>
                  </a:cubicBezTo>
                  <a:cubicBezTo>
                    <a:pt x="875284" y="0"/>
                    <a:pt x="1127760" y="252476"/>
                    <a:pt x="1127760" y="563880"/>
                  </a:cubicBezTo>
                  <a:cubicBezTo>
                    <a:pt x="1127760" y="875284"/>
                    <a:pt x="875284" y="1127760"/>
                    <a:pt x="563880" y="1127760"/>
                  </a:cubicBezTo>
                  <a:cubicBezTo>
                    <a:pt x="252476" y="1127760"/>
                    <a:pt x="0" y="875284"/>
                    <a:pt x="0" y="563880"/>
                  </a:cubicBezTo>
                  <a:close/>
                </a:path>
              </a:pathLst>
            </a:custGeom>
            <a:solidFill>
              <a:srgbClr val="2150FE"/>
            </a:solidFill>
            <a:ln w="12700">
              <a:solidFill>
                <a:srgbClr val="000000"/>
              </a:solidFill>
            </a:ln>
          </p:spPr>
        </p:sp>
      </p:grpSp>
      <p:sp>
        <p:nvSpPr>
          <p:cNvPr name="Freeform 44" id="44" descr="preencoded.png"/>
          <p:cNvSpPr/>
          <p:nvPr/>
        </p:nvSpPr>
        <p:spPr>
          <a:xfrm flipH="false" flipV="false" rot="0">
            <a:off x="4825822" y="6809480"/>
            <a:ext cx="338290" cy="338290"/>
          </a:xfrm>
          <a:custGeom>
            <a:avLst/>
            <a:gdLst/>
            <a:ahLst/>
            <a:cxnLst/>
            <a:rect r="r" b="b" t="t" l="l"/>
            <a:pathLst>
              <a:path h="338290" w="338290">
                <a:moveTo>
                  <a:pt x="0" y="0"/>
                </a:moveTo>
                <a:lnTo>
                  <a:pt x="338290" y="0"/>
                </a:lnTo>
                <a:lnTo>
                  <a:pt x="338290" y="338290"/>
                </a:lnTo>
                <a:lnTo>
                  <a:pt x="0" y="33829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45" id="45"/>
          <p:cNvSpPr txBox="true"/>
          <p:nvPr/>
        </p:nvSpPr>
        <p:spPr>
          <a:xfrm rot="0">
            <a:off x="1306859" y="7654823"/>
            <a:ext cx="3524545" cy="469106"/>
          </a:xfrm>
          <a:prstGeom prst="rect">
            <a:avLst/>
          </a:prstGeom>
        </p:spPr>
        <p:txBody>
          <a:bodyPr anchor="t" rtlCol="false" tIns="0" lIns="0" bIns="0" rIns="0">
            <a:spAutoFit/>
          </a:bodyPr>
          <a:lstStyle/>
          <a:p>
            <a:pPr algn="l">
              <a:lnSpc>
                <a:spcPts val="3437"/>
              </a:lnSpc>
            </a:pPr>
            <a:r>
              <a:rPr lang="en-US" sz="2750" b="true">
                <a:solidFill>
                  <a:srgbClr val="4C4C4D"/>
                </a:solidFill>
                <a:latin typeface="Crimson Pro Bold"/>
                <a:ea typeface="Crimson Pro Bold"/>
                <a:cs typeface="Crimson Pro Bold"/>
                <a:sym typeface="Crimson Pro Bold"/>
              </a:rPr>
              <a:t>Classification</a:t>
            </a:r>
          </a:p>
        </p:txBody>
      </p:sp>
      <p:sp>
        <p:nvSpPr>
          <p:cNvPr name="TextBox 46" id="46"/>
          <p:cNvSpPr txBox="true"/>
          <p:nvPr/>
        </p:nvSpPr>
        <p:spPr>
          <a:xfrm rot="0">
            <a:off x="1306859" y="8207273"/>
            <a:ext cx="7376217" cy="988219"/>
          </a:xfrm>
          <a:prstGeom prst="rect">
            <a:avLst/>
          </a:prstGeom>
        </p:spPr>
        <p:txBody>
          <a:bodyPr anchor="t" rtlCol="false" tIns="0" lIns="0" bIns="0" rIns="0">
            <a:spAutoFit/>
          </a:bodyPr>
          <a:lstStyle/>
          <a:p>
            <a:pPr algn="l">
              <a:lnSpc>
                <a:spcPts val="3500"/>
              </a:lnSpc>
            </a:pPr>
            <a:r>
              <a:rPr lang="en-US" sz="2187">
                <a:solidFill>
                  <a:srgbClr val="4C4C4D"/>
                </a:solidFill>
                <a:latin typeface="Heebo"/>
                <a:ea typeface="Heebo"/>
                <a:cs typeface="Heebo"/>
                <a:sym typeface="Heebo"/>
              </a:rPr>
              <a:t>Train five different machine learning models and implement an ensemble voting classifier.</a:t>
            </a:r>
          </a:p>
        </p:txBody>
      </p:sp>
      <p:grpSp>
        <p:nvGrpSpPr>
          <p:cNvPr name="Group 47" id="47"/>
          <p:cNvGrpSpPr/>
          <p:nvPr/>
        </p:nvGrpSpPr>
        <p:grpSpPr>
          <a:xfrm rot="0">
            <a:off x="9284941" y="6978548"/>
            <a:ext cx="8016183" cy="2536927"/>
            <a:chOff x="0" y="0"/>
            <a:chExt cx="10688244" cy="3382569"/>
          </a:xfrm>
        </p:grpSpPr>
        <p:sp>
          <p:nvSpPr>
            <p:cNvPr name="Freeform 48" id="48"/>
            <p:cNvSpPr/>
            <p:nvPr/>
          </p:nvSpPr>
          <p:spPr>
            <a:xfrm flipH="false" flipV="false" rot="0">
              <a:off x="0" y="0"/>
              <a:ext cx="10688193" cy="3382518"/>
            </a:xfrm>
            <a:custGeom>
              <a:avLst/>
              <a:gdLst/>
              <a:ahLst/>
              <a:cxnLst/>
              <a:rect r="r" b="b" t="t" l="l"/>
              <a:pathLst>
                <a:path h="3382518" w="10688193">
                  <a:moveTo>
                    <a:pt x="0" y="243840"/>
                  </a:moveTo>
                  <a:cubicBezTo>
                    <a:pt x="0" y="109220"/>
                    <a:pt x="109220" y="0"/>
                    <a:pt x="243840" y="0"/>
                  </a:cubicBezTo>
                  <a:lnTo>
                    <a:pt x="10444353" y="0"/>
                  </a:lnTo>
                  <a:cubicBezTo>
                    <a:pt x="10578973" y="0"/>
                    <a:pt x="10688193" y="109220"/>
                    <a:pt x="10688193" y="243840"/>
                  </a:cubicBezTo>
                  <a:lnTo>
                    <a:pt x="10688193" y="3138678"/>
                  </a:lnTo>
                  <a:cubicBezTo>
                    <a:pt x="10688193" y="3273298"/>
                    <a:pt x="10578973" y="3382518"/>
                    <a:pt x="10444353" y="3382518"/>
                  </a:cubicBezTo>
                  <a:lnTo>
                    <a:pt x="243840" y="3382518"/>
                  </a:lnTo>
                  <a:cubicBezTo>
                    <a:pt x="109220" y="3382518"/>
                    <a:pt x="0" y="3273298"/>
                    <a:pt x="0" y="3138678"/>
                  </a:cubicBezTo>
                  <a:close/>
                </a:path>
              </a:pathLst>
            </a:custGeom>
            <a:solidFill>
              <a:srgbClr val="FFFFFF"/>
            </a:solidFill>
            <a:ln w="12700">
              <a:solidFill>
                <a:srgbClr val="000000"/>
              </a:solidFill>
            </a:ln>
          </p:spPr>
        </p:sp>
      </p:grpSp>
      <p:grpSp>
        <p:nvGrpSpPr>
          <p:cNvPr name="Group 49" id="49"/>
          <p:cNvGrpSpPr/>
          <p:nvPr/>
        </p:nvGrpSpPr>
        <p:grpSpPr>
          <a:xfrm rot="0">
            <a:off x="9284941" y="6940448"/>
            <a:ext cx="8016183" cy="152400"/>
            <a:chOff x="0" y="0"/>
            <a:chExt cx="10688244" cy="203200"/>
          </a:xfrm>
        </p:grpSpPr>
        <p:sp>
          <p:nvSpPr>
            <p:cNvPr name="Freeform 50" id="50"/>
            <p:cNvSpPr/>
            <p:nvPr/>
          </p:nvSpPr>
          <p:spPr>
            <a:xfrm flipH="false" flipV="false" rot="0">
              <a:off x="0" y="0"/>
              <a:ext cx="10688193" cy="203200"/>
            </a:xfrm>
            <a:custGeom>
              <a:avLst/>
              <a:gdLst/>
              <a:ahLst/>
              <a:cxnLst/>
              <a:rect r="r" b="b" t="t" l="l"/>
              <a:pathLst>
                <a:path h="203200" w="10688193">
                  <a:moveTo>
                    <a:pt x="0" y="56388"/>
                  </a:moveTo>
                  <a:cubicBezTo>
                    <a:pt x="0" y="25273"/>
                    <a:pt x="25273" y="0"/>
                    <a:pt x="56388" y="0"/>
                  </a:cubicBezTo>
                  <a:lnTo>
                    <a:pt x="10631805" y="0"/>
                  </a:lnTo>
                  <a:cubicBezTo>
                    <a:pt x="10662920" y="0"/>
                    <a:pt x="10688193" y="25273"/>
                    <a:pt x="10688193" y="56388"/>
                  </a:cubicBezTo>
                  <a:lnTo>
                    <a:pt x="10688193" y="146812"/>
                  </a:lnTo>
                  <a:cubicBezTo>
                    <a:pt x="10688193" y="177927"/>
                    <a:pt x="10662920" y="203200"/>
                    <a:pt x="10631805" y="203200"/>
                  </a:cubicBezTo>
                  <a:lnTo>
                    <a:pt x="56388" y="203200"/>
                  </a:lnTo>
                  <a:cubicBezTo>
                    <a:pt x="25273" y="203200"/>
                    <a:pt x="0" y="177927"/>
                    <a:pt x="0" y="146812"/>
                  </a:cubicBezTo>
                  <a:close/>
                </a:path>
              </a:pathLst>
            </a:custGeom>
            <a:solidFill>
              <a:srgbClr val="2150FE"/>
            </a:solidFill>
            <a:ln w="12700">
              <a:solidFill>
                <a:srgbClr val="000000"/>
              </a:solidFill>
            </a:ln>
          </p:spPr>
        </p:sp>
      </p:grpSp>
      <p:grpSp>
        <p:nvGrpSpPr>
          <p:cNvPr name="Group 51" id="51"/>
          <p:cNvGrpSpPr/>
          <p:nvPr/>
        </p:nvGrpSpPr>
        <p:grpSpPr>
          <a:xfrm rot="0">
            <a:off x="12870132" y="6555734"/>
            <a:ext cx="845791" cy="845791"/>
            <a:chOff x="0" y="0"/>
            <a:chExt cx="1127722" cy="1127722"/>
          </a:xfrm>
        </p:grpSpPr>
        <p:sp>
          <p:nvSpPr>
            <p:cNvPr name="Freeform 52" id="52"/>
            <p:cNvSpPr/>
            <p:nvPr/>
          </p:nvSpPr>
          <p:spPr>
            <a:xfrm flipH="false" flipV="false" rot="0">
              <a:off x="0" y="0"/>
              <a:ext cx="1127760" cy="1127760"/>
            </a:xfrm>
            <a:custGeom>
              <a:avLst/>
              <a:gdLst/>
              <a:ahLst/>
              <a:cxnLst/>
              <a:rect r="r" b="b" t="t" l="l"/>
              <a:pathLst>
                <a:path h="1127760" w="1127760">
                  <a:moveTo>
                    <a:pt x="0" y="563880"/>
                  </a:moveTo>
                  <a:cubicBezTo>
                    <a:pt x="0" y="252476"/>
                    <a:pt x="252476" y="0"/>
                    <a:pt x="563880" y="0"/>
                  </a:cubicBezTo>
                  <a:cubicBezTo>
                    <a:pt x="875284" y="0"/>
                    <a:pt x="1127760" y="252476"/>
                    <a:pt x="1127760" y="563880"/>
                  </a:cubicBezTo>
                  <a:cubicBezTo>
                    <a:pt x="1127760" y="875284"/>
                    <a:pt x="875284" y="1127760"/>
                    <a:pt x="563880" y="1127760"/>
                  </a:cubicBezTo>
                  <a:cubicBezTo>
                    <a:pt x="252476" y="1127760"/>
                    <a:pt x="0" y="875284"/>
                    <a:pt x="0" y="563880"/>
                  </a:cubicBezTo>
                  <a:close/>
                </a:path>
              </a:pathLst>
            </a:custGeom>
            <a:solidFill>
              <a:srgbClr val="2150FE"/>
            </a:solidFill>
            <a:ln w="12700">
              <a:solidFill>
                <a:srgbClr val="000000"/>
              </a:solidFill>
            </a:ln>
          </p:spPr>
        </p:sp>
      </p:grpSp>
      <p:sp>
        <p:nvSpPr>
          <p:cNvPr name="Freeform 53" id="53" descr="preencoded.png"/>
          <p:cNvSpPr/>
          <p:nvPr/>
        </p:nvSpPr>
        <p:spPr>
          <a:xfrm flipH="false" flipV="false" rot="0">
            <a:off x="13123888" y="6809480"/>
            <a:ext cx="338290" cy="338290"/>
          </a:xfrm>
          <a:custGeom>
            <a:avLst/>
            <a:gdLst/>
            <a:ahLst/>
            <a:cxnLst/>
            <a:rect r="r" b="b" t="t" l="l"/>
            <a:pathLst>
              <a:path h="338290" w="338290">
                <a:moveTo>
                  <a:pt x="0" y="0"/>
                </a:moveTo>
                <a:lnTo>
                  <a:pt x="338290" y="0"/>
                </a:lnTo>
                <a:lnTo>
                  <a:pt x="338290" y="338290"/>
                </a:lnTo>
                <a:lnTo>
                  <a:pt x="0" y="338290"/>
                </a:lnTo>
                <a:lnTo>
                  <a:pt x="0" y="0"/>
                </a:lnTo>
                <a:close/>
              </a:path>
            </a:pathLst>
          </a:custGeom>
          <a:blipFill>
            <a:blip r:embed="rId10">
              <a:extLst>
                <a:ext uri="{96DAC541-7B7A-43D3-8B79-37D633B846F1}">
                  <asvg:svgBlip xmlns:asvg="http://schemas.microsoft.com/office/drawing/2016/SVG/main" r:embed="rId11"/>
                </a:ext>
              </a:extLst>
            </a:blip>
            <a:stretch>
              <a:fillRect l="0" t="-1388" r="0" b="-1388"/>
            </a:stretch>
          </a:blipFill>
        </p:spPr>
      </p:sp>
      <p:sp>
        <p:nvSpPr>
          <p:cNvPr name="TextBox 54" id="54"/>
          <p:cNvSpPr txBox="true"/>
          <p:nvPr/>
        </p:nvSpPr>
        <p:spPr>
          <a:xfrm rot="0">
            <a:off x="9604924" y="7654823"/>
            <a:ext cx="3524545" cy="469106"/>
          </a:xfrm>
          <a:prstGeom prst="rect">
            <a:avLst/>
          </a:prstGeom>
        </p:spPr>
        <p:txBody>
          <a:bodyPr anchor="t" rtlCol="false" tIns="0" lIns="0" bIns="0" rIns="0">
            <a:spAutoFit/>
          </a:bodyPr>
          <a:lstStyle/>
          <a:p>
            <a:pPr algn="l">
              <a:lnSpc>
                <a:spcPts val="3437"/>
              </a:lnSpc>
            </a:pPr>
            <a:r>
              <a:rPr lang="en-US" sz="2750" b="true">
                <a:solidFill>
                  <a:srgbClr val="4C4C4D"/>
                </a:solidFill>
                <a:latin typeface="Crimson Pro Bold"/>
                <a:ea typeface="Crimson Pro Bold"/>
                <a:cs typeface="Crimson Pro Bold"/>
                <a:sym typeface="Crimson Pro Bold"/>
              </a:rPr>
              <a:t>Bonus Analysis</a:t>
            </a:r>
          </a:p>
        </p:txBody>
      </p:sp>
      <p:sp>
        <p:nvSpPr>
          <p:cNvPr name="TextBox 55" id="55"/>
          <p:cNvSpPr txBox="true"/>
          <p:nvPr/>
        </p:nvSpPr>
        <p:spPr>
          <a:xfrm rot="0">
            <a:off x="9604924" y="8207273"/>
            <a:ext cx="7376217" cy="988219"/>
          </a:xfrm>
          <a:prstGeom prst="rect">
            <a:avLst/>
          </a:prstGeom>
        </p:spPr>
        <p:txBody>
          <a:bodyPr anchor="t" rtlCol="false" tIns="0" lIns="0" bIns="0" rIns="0">
            <a:spAutoFit/>
          </a:bodyPr>
          <a:lstStyle/>
          <a:p>
            <a:pPr algn="l">
              <a:lnSpc>
                <a:spcPts val="3500"/>
              </a:lnSpc>
            </a:pPr>
            <a:r>
              <a:rPr lang="en-US" sz="2187">
                <a:solidFill>
                  <a:srgbClr val="4C4C4D"/>
                </a:solidFill>
                <a:latin typeface="Heebo"/>
                <a:ea typeface="Heebo"/>
                <a:cs typeface="Heebo"/>
                <a:sym typeface="Heebo"/>
              </a:rPr>
              <a:t>Generate brain topography maps and extract deeper insights.</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0F0F1"/>
            </a:solidFill>
            <a:ln w="12700">
              <a:solidFill>
                <a:srgbClr val="000000"/>
              </a:solidFill>
            </a:ln>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FFFFF"/>
            </a:solidFill>
            <a:ln w="12700">
              <a:solidFill>
                <a:srgbClr val="000000"/>
              </a:solidFill>
            </a:ln>
          </p:spPr>
        </p:sp>
      </p:grpSp>
      <p:grpSp>
        <p:nvGrpSpPr>
          <p:cNvPr name="Group 6" id="6"/>
          <p:cNvGrpSpPr/>
          <p:nvPr/>
        </p:nvGrpSpPr>
        <p:grpSpPr>
          <a:xfrm rot="0">
            <a:off x="557060" y="441427"/>
            <a:ext cx="725986" cy="194224"/>
            <a:chOff x="0" y="0"/>
            <a:chExt cx="967981" cy="258966"/>
          </a:xfrm>
        </p:grpSpPr>
        <p:sp>
          <p:nvSpPr>
            <p:cNvPr name="Freeform 7" id="7"/>
            <p:cNvSpPr/>
            <p:nvPr/>
          </p:nvSpPr>
          <p:spPr>
            <a:xfrm flipH="false" flipV="false" rot="0">
              <a:off x="0" y="0"/>
              <a:ext cx="967994" cy="258953"/>
            </a:xfrm>
            <a:custGeom>
              <a:avLst/>
              <a:gdLst/>
              <a:ahLst/>
              <a:cxnLst/>
              <a:rect r="r" b="b" t="t" l="l"/>
              <a:pathLst>
                <a:path h="258953" w="967994">
                  <a:moveTo>
                    <a:pt x="0" y="16510"/>
                  </a:moveTo>
                  <a:cubicBezTo>
                    <a:pt x="0" y="7366"/>
                    <a:pt x="7366" y="0"/>
                    <a:pt x="16510" y="0"/>
                  </a:cubicBezTo>
                  <a:lnTo>
                    <a:pt x="951484" y="0"/>
                  </a:lnTo>
                  <a:cubicBezTo>
                    <a:pt x="960628" y="0"/>
                    <a:pt x="967994" y="7366"/>
                    <a:pt x="967994" y="16510"/>
                  </a:cubicBezTo>
                  <a:lnTo>
                    <a:pt x="967994" y="242443"/>
                  </a:lnTo>
                  <a:cubicBezTo>
                    <a:pt x="967994" y="251587"/>
                    <a:pt x="960628" y="258953"/>
                    <a:pt x="951484" y="258953"/>
                  </a:cubicBezTo>
                  <a:lnTo>
                    <a:pt x="16510" y="258953"/>
                  </a:lnTo>
                  <a:cubicBezTo>
                    <a:pt x="7366" y="258953"/>
                    <a:pt x="0" y="251587"/>
                    <a:pt x="0" y="242443"/>
                  </a:cubicBezTo>
                  <a:close/>
                </a:path>
              </a:pathLst>
            </a:custGeom>
            <a:solidFill>
              <a:srgbClr val="CCD7FF"/>
            </a:solidFill>
            <a:ln w="12700">
              <a:solidFill>
                <a:srgbClr val="000000"/>
              </a:solidFill>
            </a:ln>
          </p:spPr>
        </p:sp>
      </p:grpSp>
      <p:sp>
        <p:nvSpPr>
          <p:cNvPr name="TextBox 8" id="8"/>
          <p:cNvSpPr txBox="true"/>
          <p:nvPr/>
        </p:nvSpPr>
        <p:spPr>
          <a:xfrm rot="0">
            <a:off x="619125" y="443808"/>
            <a:ext cx="601866" cy="160887"/>
          </a:xfrm>
          <a:prstGeom prst="rect">
            <a:avLst/>
          </a:prstGeom>
        </p:spPr>
        <p:txBody>
          <a:bodyPr anchor="t" rtlCol="false" tIns="0" lIns="0" bIns="0" rIns="0">
            <a:spAutoFit/>
          </a:bodyPr>
          <a:lstStyle/>
          <a:p>
            <a:pPr algn="l">
              <a:lnSpc>
                <a:spcPts val="1000"/>
              </a:lnSpc>
            </a:pPr>
            <a:r>
              <a:rPr lang="en-US" sz="624">
                <a:solidFill>
                  <a:srgbClr val="4C4C4D"/>
                </a:solidFill>
                <a:latin typeface="Heebo"/>
                <a:ea typeface="Heebo"/>
                <a:cs typeface="Heebo"/>
                <a:sym typeface="Heebo"/>
              </a:rPr>
              <a:t>METHODOLOGY</a:t>
            </a:r>
          </a:p>
        </p:txBody>
      </p:sp>
      <p:sp>
        <p:nvSpPr>
          <p:cNvPr name="TextBox 9" id="9"/>
          <p:cNvSpPr txBox="true"/>
          <p:nvPr/>
        </p:nvSpPr>
        <p:spPr>
          <a:xfrm rot="0">
            <a:off x="557060" y="667493"/>
            <a:ext cx="4744641" cy="268186"/>
          </a:xfrm>
          <a:prstGeom prst="rect">
            <a:avLst/>
          </a:prstGeom>
        </p:spPr>
        <p:txBody>
          <a:bodyPr anchor="t" rtlCol="false" tIns="0" lIns="0" bIns="0" rIns="0">
            <a:spAutoFit/>
          </a:bodyPr>
          <a:lstStyle/>
          <a:p>
            <a:pPr algn="l">
              <a:lnSpc>
                <a:spcPts val="1999"/>
              </a:lnSpc>
            </a:pPr>
            <a:r>
              <a:rPr lang="en-US" sz="1625" b="true">
                <a:solidFill>
                  <a:srgbClr val="152D47"/>
                </a:solidFill>
                <a:latin typeface="Crimson Pro Bold"/>
                <a:ea typeface="Crimson Pro Bold"/>
                <a:cs typeface="Crimson Pro Bold"/>
                <a:sym typeface="Crimson Pro Bold"/>
              </a:rPr>
              <a:t>Advanced Preprocessing Techniques for Cleaner Signals</a:t>
            </a:r>
          </a:p>
        </p:txBody>
      </p:sp>
      <p:sp>
        <p:nvSpPr>
          <p:cNvPr name="TextBox 10" id="10"/>
          <p:cNvSpPr txBox="true"/>
          <p:nvPr/>
        </p:nvSpPr>
        <p:spPr>
          <a:xfrm rot="0">
            <a:off x="557060" y="1062190"/>
            <a:ext cx="17173870" cy="194072"/>
          </a:xfrm>
          <a:prstGeom prst="rect">
            <a:avLst/>
          </a:prstGeom>
        </p:spPr>
        <p:txBody>
          <a:bodyPr anchor="t" rtlCol="false" tIns="0" lIns="0" bIns="0" rIns="0">
            <a:spAutoFit/>
          </a:bodyPr>
          <a:lstStyle/>
          <a:p>
            <a:pPr algn="l">
              <a:lnSpc>
                <a:spcPts val="1249"/>
              </a:lnSpc>
            </a:pPr>
            <a:r>
              <a:rPr lang="en-US" sz="812">
                <a:solidFill>
                  <a:srgbClr val="4C4C4D"/>
                </a:solidFill>
                <a:latin typeface="Heebo"/>
                <a:ea typeface="Heebo"/>
                <a:cs typeface="Heebo"/>
                <a:sym typeface="Heebo"/>
              </a:rPr>
              <a:t>Ensuring signal integrity is paramount for accurate feature extraction and classification.</a:t>
            </a:r>
          </a:p>
        </p:txBody>
      </p:sp>
      <p:grpSp>
        <p:nvGrpSpPr>
          <p:cNvPr name="Group 11" id="11"/>
          <p:cNvGrpSpPr/>
          <p:nvPr/>
        </p:nvGrpSpPr>
        <p:grpSpPr>
          <a:xfrm rot="0">
            <a:off x="557060" y="1527724"/>
            <a:ext cx="8535143" cy="4139355"/>
            <a:chOff x="0" y="0"/>
            <a:chExt cx="11380191" cy="5519141"/>
          </a:xfrm>
        </p:grpSpPr>
        <p:sp>
          <p:nvSpPr>
            <p:cNvPr name="Freeform 12" id="12"/>
            <p:cNvSpPr/>
            <p:nvPr/>
          </p:nvSpPr>
          <p:spPr>
            <a:xfrm flipH="false" flipV="false" rot="0">
              <a:off x="0" y="0"/>
              <a:ext cx="11380216" cy="5519166"/>
            </a:xfrm>
            <a:custGeom>
              <a:avLst/>
              <a:gdLst/>
              <a:ahLst/>
              <a:cxnLst/>
              <a:rect r="r" b="b" t="t" l="l"/>
              <a:pathLst>
                <a:path h="5519166" w="11380216">
                  <a:moveTo>
                    <a:pt x="0" y="60960"/>
                  </a:moveTo>
                  <a:cubicBezTo>
                    <a:pt x="0" y="27305"/>
                    <a:pt x="27305" y="0"/>
                    <a:pt x="60960" y="0"/>
                  </a:cubicBezTo>
                  <a:lnTo>
                    <a:pt x="11319256" y="0"/>
                  </a:lnTo>
                  <a:cubicBezTo>
                    <a:pt x="11352912" y="0"/>
                    <a:pt x="11380216" y="27305"/>
                    <a:pt x="11380216" y="60960"/>
                  </a:cubicBezTo>
                  <a:lnTo>
                    <a:pt x="11380216" y="5458206"/>
                  </a:lnTo>
                  <a:cubicBezTo>
                    <a:pt x="11380216" y="5491861"/>
                    <a:pt x="11352912" y="5519166"/>
                    <a:pt x="11319256" y="5519166"/>
                  </a:cubicBezTo>
                  <a:lnTo>
                    <a:pt x="60960" y="5519166"/>
                  </a:lnTo>
                  <a:cubicBezTo>
                    <a:pt x="27305" y="5519166"/>
                    <a:pt x="0" y="5491861"/>
                    <a:pt x="0" y="5458206"/>
                  </a:cubicBezTo>
                  <a:close/>
                </a:path>
              </a:pathLst>
            </a:custGeom>
            <a:solidFill>
              <a:srgbClr val="FFFFFF"/>
            </a:solidFill>
            <a:ln w="12700">
              <a:solidFill>
                <a:srgbClr val="000000"/>
              </a:solidFill>
            </a:ln>
          </p:spPr>
        </p:sp>
      </p:grpSp>
      <p:grpSp>
        <p:nvGrpSpPr>
          <p:cNvPr name="Group 13" id="13"/>
          <p:cNvGrpSpPr/>
          <p:nvPr/>
        </p:nvGrpSpPr>
        <p:grpSpPr>
          <a:xfrm rot="0">
            <a:off x="557060" y="1518199"/>
            <a:ext cx="8535143" cy="38100"/>
            <a:chOff x="0" y="0"/>
            <a:chExt cx="11380191" cy="50800"/>
          </a:xfrm>
        </p:grpSpPr>
        <p:sp>
          <p:nvSpPr>
            <p:cNvPr name="Freeform 14" id="14"/>
            <p:cNvSpPr/>
            <p:nvPr/>
          </p:nvSpPr>
          <p:spPr>
            <a:xfrm flipH="false" flipV="false" rot="0">
              <a:off x="0" y="0"/>
              <a:ext cx="11380216" cy="50800"/>
            </a:xfrm>
            <a:custGeom>
              <a:avLst/>
              <a:gdLst/>
              <a:ahLst/>
              <a:cxnLst/>
              <a:rect r="r" b="b" t="t" l="l"/>
              <a:pathLst>
                <a:path h="50800" w="11380216">
                  <a:moveTo>
                    <a:pt x="0" y="20701"/>
                  </a:moveTo>
                  <a:cubicBezTo>
                    <a:pt x="0" y="9271"/>
                    <a:pt x="9271" y="0"/>
                    <a:pt x="20701" y="0"/>
                  </a:cubicBezTo>
                  <a:lnTo>
                    <a:pt x="11359515" y="0"/>
                  </a:lnTo>
                  <a:cubicBezTo>
                    <a:pt x="11370945" y="0"/>
                    <a:pt x="11380216" y="9271"/>
                    <a:pt x="11380216" y="20701"/>
                  </a:cubicBezTo>
                  <a:lnTo>
                    <a:pt x="11380216" y="30099"/>
                  </a:lnTo>
                  <a:cubicBezTo>
                    <a:pt x="11380216" y="41529"/>
                    <a:pt x="11370945" y="50800"/>
                    <a:pt x="11359515" y="50800"/>
                  </a:cubicBezTo>
                  <a:lnTo>
                    <a:pt x="20701" y="50800"/>
                  </a:lnTo>
                  <a:cubicBezTo>
                    <a:pt x="9271" y="50800"/>
                    <a:pt x="0" y="41529"/>
                    <a:pt x="0" y="30099"/>
                  </a:cubicBezTo>
                  <a:close/>
                </a:path>
              </a:pathLst>
            </a:custGeom>
            <a:solidFill>
              <a:srgbClr val="2150FE"/>
            </a:solidFill>
            <a:ln w="12700">
              <a:solidFill>
                <a:srgbClr val="000000"/>
              </a:solidFill>
            </a:ln>
          </p:spPr>
        </p:sp>
      </p:grpSp>
      <p:grpSp>
        <p:nvGrpSpPr>
          <p:cNvPr name="Group 15" id="15"/>
          <p:cNvGrpSpPr/>
          <p:nvPr/>
        </p:nvGrpSpPr>
        <p:grpSpPr>
          <a:xfrm rot="0">
            <a:off x="4669412" y="1372638"/>
            <a:ext cx="310305" cy="310305"/>
            <a:chOff x="0" y="0"/>
            <a:chExt cx="413741" cy="413741"/>
          </a:xfrm>
        </p:grpSpPr>
        <p:sp>
          <p:nvSpPr>
            <p:cNvPr name="Freeform 16" id="16"/>
            <p:cNvSpPr/>
            <p:nvPr/>
          </p:nvSpPr>
          <p:spPr>
            <a:xfrm flipH="false" flipV="false" rot="0">
              <a:off x="0" y="0"/>
              <a:ext cx="413766" cy="413766"/>
            </a:xfrm>
            <a:custGeom>
              <a:avLst/>
              <a:gdLst/>
              <a:ahLst/>
              <a:cxnLst/>
              <a:rect r="r" b="b" t="t" l="l"/>
              <a:pathLst>
                <a:path h="413766" w="413766">
                  <a:moveTo>
                    <a:pt x="0" y="206883"/>
                  </a:moveTo>
                  <a:cubicBezTo>
                    <a:pt x="0" y="92583"/>
                    <a:pt x="92583" y="0"/>
                    <a:pt x="206883" y="0"/>
                  </a:cubicBezTo>
                  <a:cubicBezTo>
                    <a:pt x="321183" y="0"/>
                    <a:pt x="413766" y="92583"/>
                    <a:pt x="413766" y="206883"/>
                  </a:cubicBezTo>
                  <a:cubicBezTo>
                    <a:pt x="413766" y="321183"/>
                    <a:pt x="321183" y="413766"/>
                    <a:pt x="206883" y="413766"/>
                  </a:cubicBezTo>
                  <a:cubicBezTo>
                    <a:pt x="92583" y="413766"/>
                    <a:pt x="0" y="321183"/>
                    <a:pt x="0" y="206883"/>
                  </a:cubicBezTo>
                  <a:close/>
                </a:path>
              </a:pathLst>
            </a:custGeom>
            <a:solidFill>
              <a:srgbClr val="2150FE"/>
            </a:solidFill>
            <a:ln w="12700">
              <a:solidFill>
                <a:srgbClr val="000000"/>
              </a:solidFill>
            </a:ln>
          </p:spPr>
        </p:sp>
      </p:grpSp>
      <p:sp>
        <p:nvSpPr>
          <p:cNvPr name="Freeform 17" id="17" descr="preencoded.png"/>
          <p:cNvSpPr/>
          <p:nvPr/>
        </p:nvSpPr>
        <p:spPr>
          <a:xfrm flipH="false" flipV="false" rot="0">
            <a:off x="4762424" y="1465659"/>
            <a:ext cx="124120" cy="124120"/>
          </a:xfrm>
          <a:custGeom>
            <a:avLst/>
            <a:gdLst/>
            <a:ahLst/>
            <a:cxnLst/>
            <a:rect r="r" b="b" t="t" l="l"/>
            <a:pathLst>
              <a:path h="124120" w="124120">
                <a:moveTo>
                  <a:pt x="0" y="0"/>
                </a:moveTo>
                <a:lnTo>
                  <a:pt x="124120" y="0"/>
                </a:lnTo>
                <a:lnTo>
                  <a:pt x="124120" y="124121"/>
                </a:lnTo>
                <a:lnTo>
                  <a:pt x="0" y="124121"/>
                </a:lnTo>
                <a:lnTo>
                  <a:pt x="0" y="0"/>
                </a:lnTo>
                <a:close/>
              </a:path>
            </a:pathLst>
          </a:custGeom>
          <a:blipFill>
            <a:blip r:embed="rId2"/>
            <a:stretch>
              <a:fillRect l="0" t="0" r="0" b="0"/>
            </a:stretch>
          </a:blipFill>
        </p:spPr>
      </p:sp>
      <p:sp>
        <p:nvSpPr>
          <p:cNvPr name="TextBox 18" id="18"/>
          <p:cNvSpPr txBox="true"/>
          <p:nvPr/>
        </p:nvSpPr>
        <p:spPr>
          <a:xfrm rot="0">
            <a:off x="670027" y="1767335"/>
            <a:ext cx="1293314" cy="180680"/>
          </a:xfrm>
          <a:prstGeom prst="rect">
            <a:avLst/>
          </a:prstGeom>
        </p:spPr>
        <p:txBody>
          <a:bodyPr anchor="t" rtlCol="false" tIns="0" lIns="0" bIns="0" rIns="0">
            <a:spAutoFit/>
          </a:bodyPr>
          <a:lstStyle/>
          <a:p>
            <a:pPr algn="l">
              <a:lnSpc>
                <a:spcPts val="1250"/>
              </a:lnSpc>
            </a:pPr>
            <a:r>
              <a:rPr lang="en-US" sz="1000" b="true">
                <a:solidFill>
                  <a:srgbClr val="4C4C4D"/>
                </a:solidFill>
                <a:latin typeface="Crimson Pro Bold"/>
                <a:ea typeface="Crimson Pro Bold"/>
                <a:cs typeface="Crimson Pro Bold"/>
                <a:sym typeface="Crimson Pro Bold"/>
              </a:rPr>
              <a:t>Filtering</a:t>
            </a:r>
          </a:p>
        </p:txBody>
      </p:sp>
      <p:sp>
        <p:nvSpPr>
          <p:cNvPr name="TextBox 19" id="19"/>
          <p:cNvSpPr txBox="true"/>
          <p:nvPr/>
        </p:nvSpPr>
        <p:spPr>
          <a:xfrm rot="0">
            <a:off x="670027" y="1981495"/>
            <a:ext cx="8309219" cy="194072"/>
          </a:xfrm>
          <a:prstGeom prst="rect">
            <a:avLst/>
          </a:prstGeom>
        </p:spPr>
        <p:txBody>
          <a:bodyPr anchor="t" rtlCol="false" tIns="0" lIns="0" bIns="0" rIns="0">
            <a:spAutoFit/>
          </a:bodyPr>
          <a:lstStyle/>
          <a:p>
            <a:pPr algn="l" marL="122535" indent="-61268" lvl="1">
              <a:lnSpc>
                <a:spcPts val="1249"/>
              </a:lnSpc>
              <a:buFont typeface="Arial"/>
              <a:buChar char="•"/>
            </a:pPr>
            <a:r>
              <a:rPr lang="en-US" sz="812">
                <a:solidFill>
                  <a:srgbClr val="4C4C4D"/>
                </a:solidFill>
                <a:latin typeface="Heebo"/>
                <a:ea typeface="Heebo"/>
                <a:cs typeface="Heebo"/>
                <a:sym typeface="Heebo"/>
              </a:rPr>
              <a:t>50Hz Notch Filter: Eliminates electrical noise.</a:t>
            </a:r>
          </a:p>
        </p:txBody>
      </p:sp>
      <p:sp>
        <p:nvSpPr>
          <p:cNvPr name="TextBox 20" id="20"/>
          <p:cNvSpPr txBox="true"/>
          <p:nvPr/>
        </p:nvSpPr>
        <p:spPr>
          <a:xfrm rot="0">
            <a:off x="670027" y="2183159"/>
            <a:ext cx="8309219" cy="194072"/>
          </a:xfrm>
          <a:prstGeom prst="rect">
            <a:avLst/>
          </a:prstGeom>
        </p:spPr>
        <p:txBody>
          <a:bodyPr anchor="t" rtlCol="false" tIns="0" lIns="0" bIns="0" rIns="0">
            <a:spAutoFit/>
          </a:bodyPr>
          <a:lstStyle/>
          <a:p>
            <a:pPr algn="l" marL="122535" indent="-61268" lvl="1">
              <a:lnSpc>
                <a:spcPts val="1249"/>
              </a:lnSpc>
              <a:buFont typeface="Arial"/>
              <a:buChar char="•"/>
            </a:pPr>
            <a:r>
              <a:rPr lang="en-US" sz="812">
                <a:solidFill>
                  <a:srgbClr val="4C4C4D"/>
                </a:solidFill>
                <a:latin typeface="Heebo"/>
                <a:ea typeface="Heebo"/>
                <a:cs typeface="Heebo"/>
                <a:sym typeface="Heebo"/>
              </a:rPr>
              <a:t>0.5-45Hz Bandpass: Retains relevant brain signal frequencies.</a:t>
            </a:r>
          </a:p>
        </p:txBody>
      </p:sp>
      <p:sp>
        <p:nvSpPr>
          <p:cNvPr name="Freeform 21" id="21" descr="preencoded.png"/>
          <p:cNvSpPr/>
          <p:nvPr/>
        </p:nvSpPr>
        <p:spPr>
          <a:xfrm flipH="false" flipV="false" rot="0">
            <a:off x="670027" y="2610002"/>
            <a:ext cx="3995442" cy="2832649"/>
          </a:xfrm>
          <a:custGeom>
            <a:avLst/>
            <a:gdLst/>
            <a:ahLst/>
            <a:cxnLst/>
            <a:rect r="r" b="b" t="t" l="l"/>
            <a:pathLst>
              <a:path h="2832649" w="3995442">
                <a:moveTo>
                  <a:pt x="0" y="0"/>
                </a:moveTo>
                <a:lnTo>
                  <a:pt x="3995442" y="0"/>
                </a:lnTo>
                <a:lnTo>
                  <a:pt x="3995442" y="2832650"/>
                </a:lnTo>
                <a:lnTo>
                  <a:pt x="0" y="2832650"/>
                </a:lnTo>
                <a:lnTo>
                  <a:pt x="0" y="0"/>
                </a:lnTo>
                <a:close/>
              </a:path>
            </a:pathLst>
          </a:custGeom>
          <a:blipFill>
            <a:blip r:embed="rId3"/>
            <a:stretch>
              <a:fillRect l="-9" t="0" r="-9" b="0"/>
            </a:stretch>
          </a:blipFill>
        </p:spPr>
      </p:sp>
      <p:grpSp>
        <p:nvGrpSpPr>
          <p:cNvPr name="Group 22" id="22"/>
          <p:cNvGrpSpPr/>
          <p:nvPr/>
        </p:nvGrpSpPr>
        <p:grpSpPr>
          <a:xfrm rot="0">
            <a:off x="9195645" y="1527724"/>
            <a:ext cx="8535295" cy="4139355"/>
            <a:chOff x="0" y="0"/>
            <a:chExt cx="11380394" cy="5519141"/>
          </a:xfrm>
        </p:grpSpPr>
        <p:sp>
          <p:nvSpPr>
            <p:cNvPr name="Freeform 23" id="23"/>
            <p:cNvSpPr/>
            <p:nvPr/>
          </p:nvSpPr>
          <p:spPr>
            <a:xfrm flipH="false" flipV="false" rot="0">
              <a:off x="0" y="0"/>
              <a:ext cx="11380343" cy="5519166"/>
            </a:xfrm>
            <a:custGeom>
              <a:avLst/>
              <a:gdLst/>
              <a:ahLst/>
              <a:cxnLst/>
              <a:rect r="r" b="b" t="t" l="l"/>
              <a:pathLst>
                <a:path h="5519166" w="11380343">
                  <a:moveTo>
                    <a:pt x="0" y="60960"/>
                  </a:moveTo>
                  <a:cubicBezTo>
                    <a:pt x="0" y="27305"/>
                    <a:pt x="27305" y="0"/>
                    <a:pt x="60960" y="0"/>
                  </a:cubicBezTo>
                  <a:lnTo>
                    <a:pt x="11319383" y="0"/>
                  </a:lnTo>
                  <a:cubicBezTo>
                    <a:pt x="11353038" y="0"/>
                    <a:pt x="11380343" y="27305"/>
                    <a:pt x="11380343" y="60960"/>
                  </a:cubicBezTo>
                  <a:lnTo>
                    <a:pt x="11380343" y="5458206"/>
                  </a:lnTo>
                  <a:cubicBezTo>
                    <a:pt x="11380343" y="5491861"/>
                    <a:pt x="11353038" y="5519166"/>
                    <a:pt x="11319383" y="5519166"/>
                  </a:cubicBezTo>
                  <a:lnTo>
                    <a:pt x="60960" y="5519166"/>
                  </a:lnTo>
                  <a:cubicBezTo>
                    <a:pt x="27305" y="5519166"/>
                    <a:pt x="0" y="5491861"/>
                    <a:pt x="0" y="5458206"/>
                  </a:cubicBezTo>
                  <a:close/>
                </a:path>
              </a:pathLst>
            </a:custGeom>
            <a:solidFill>
              <a:srgbClr val="FFFFFF"/>
            </a:solidFill>
            <a:ln w="12700">
              <a:solidFill>
                <a:srgbClr val="000000"/>
              </a:solidFill>
            </a:ln>
          </p:spPr>
        </p:sp>
      </p:grpSp>
      <p:grpSp>
        <p:nvGrpSpPr>
          <p:cNvPr name="Group 24" id="24"/>
          <p:cNvGrpSpPr/>
          <p:nvPr/>
        </p:nvGrpSpPr>
        <p:grpSpPr>
          <a:xfrm rot="0">
            <a:off x="9195645" y="1518199"/>
            <a:ext cx="8535295" cy="38100"/>
            <a:chOff x="0" y="0"/>
            <a:chExt cx="11380394" cy="50800"/>
          </a:xfrm>
        </p:grpSpPr>
        <p:sp>
          <p:nvSpPr>
            <p:cNvPr name="Freeform 25" id="25"/>
            <p:cNvSpPr/>
            <p:nvPr/>
          </p:nvSpPr>
          <p:spPr>
            <a:xfrm flipH="false" flipV="false" rot="0">
              <a:off x="0" y="0"/>
              <a:ext cx="11380343" cy="50800"/>
            </a:xfrm>
            <a:custGeom>
              <a:avLst/>
              <a:gdLst/>
              <a:ahLst/>
              <a:cxnLst/>
              <a:rect r="r" b="b" t="t" l="l"/>
              <a:pathLst>
                <a:path h="50800" w="11380343">
                  <a:moveTo>
                    <a:pt x="0" y="20701"/>
                  </a:moveTo>
                  <a:cubicBezTo>
                    <a:pt x="0" y="9271"/>
                    <a:pt x="9271" y="0"/>
                    <a:pt x="20701" y="0"/>
                  </a:cubicBezTo>
                  <a:lnTo>
                    <a:pt x="11359642" y="0"/>
                  </a:lnTo>
                  <a:cubicBezTo>
                    <a:pt x="11371073" y="0"/>
                    <a:pt x="11380343" y="9271"/>
                    <a:pt x="11380343" y="20701"/>
                  </a:cubicBezTo>
                  <a:lnTo>
                    <a:pt x="11380343" y="30099"/>
                  </a:lnTo>
                  <a:cubicBezTo>
                    <a:pt x="11380343" y="41529"/>
                    <a:pt x="11371073" y="50800"/>
                    <a:pt x="11359642" y="50800"/>
                  </a:cubicBezTo>
                  <a:lnTo>
                    <a:pt x="20701" y="50800"/>
                  </a:lnTo>
                  <a:cubicBezTo>
                    <a:pt x="9271" y="50800"/>
                    <a:pt x="0" y="41529"/>
                    <a:pt x="0" y="30099"/>
                  </a:cubicBezTo>
                  <a:close/>
                </a:path>
              </a:pathLst>
            </a:custGeom>
            <a:solidFill>
              <a:srgbClr val="2150FE"/>
            </a:solidFill>
            <a:ln w="12700">
              <a:solidFill>
                <a:srgbClr val="000000"/>
              </a:solidFill>
            </a:ln>
          </p:spPr>
        </p:sp>
      </p:grpSp>
      <p:grpSp>
        <p:nvGrpSpPr>
          <p:cNvPr name="Group 26" id="26"/>
          <p:cNvGrpSpPr/>
          <p:nvPr/>
        </p:nvGrpSpPr>
        <p:grpSpPr>
          <a:xfrm rot="0">
            <a:off x="13308140" y="1372638"/>
            <a:ext cx="310305" cy="310305"/>
            <a:chOff x="0" y="0"/>
            <a:chExt cx="413741" cy="413741"/>
          </a:xfrm>
        </p:grpSpPr>
        <p:sp>
          <p:nvSpPr>
            <p:cNvPr name="Freeform 27" id="27"/>
            <p:cNvSpPr/>
            <p:nvPr/>
          </p:nvSpPr>
          <p:spPr>
            <a:xfrm flipH="false" flipV="false" rot="0">
              <a:off x="0" y="0"/>
              <a:ext cx="413766" cy="413766"/>
            </a:xfrm>
            <a:custGeom>
              <a:avLst/>
              <a:gdLst/>
              <a:ahLst/>
              <a:cxnLst/>
              <a:rect r="r" b="b" t="t" l="l"/>
              <a:pathLst>
                <a:path h="413766" w="413766">
                  <a:moveTo>
                    <a:pt x="0" y="206883"/>
                  </a:moveTo>
                  <a:cubicBezTo>
                    <a:pt x="0" y="92583"/>
                    <a:pt x="92583" y="0"/>
                    <a:pt x="206883" y="0"/>
                  </a:cubicBezTo>
                  <a:cubicBezTo>
                    <a:pt x="321183" y="0"/>
                    <a:pt x="413766" y="92583"/>
                    <a:pt x="413766" y="206883"/>
                  </a:cubicBezTo>
                  <a:cubicBezTo>
                    <a:pt x="413766" y="321183"/>
                    <a:pt x="321183" y="413766"/>
                    <a:pt x="206883" y="413766"/>
                  </a:cubicBezTo>
                  <a:cubicBezTo>
                    <a:pt x="92583" y="413766"/>
                    <a:pt x="0" y="321183"/>
                    <a:pt x="0" y="206883"/>
                  </a:cubicBezTo>
                  <a:close/>
                </a:path>
              </a:pathLst>
            </a:custGeom>
            <a:solidFill>
              <a:srgbClr val="2150FE"/>
            </a:solidFill>
            <a:ln w="12700">
              <a:solidFill>
                <a:srgbClr val="000000"/>
              </a:solidFill>
            </a:ln>
          </p:spPr>
        </p:sp>
      </p:grpSp>
      <p:sp>
        <p:nvSpPr>
          <p:cNvPr name="TextBox 28" id="28"/>
          <p:cNvSpPr txBox="true"/>
          <p:nvPr/>
        </p:nvSpPr>
        <p:spPr>
          <a:xfrm rot="0">
            <a:off x="13401151" y="1402556"/>
            <a:ext cx="124120" cy="202702"/>
          </a:xfrm>
          <a:prstGeom prst="rect">
            <a:avLst/>
          </a:prstGeom>
        </p:spPr>
        <p:txBody>
          <a:bodyPr anchor="t" rtlCol="false" tIns="0" lIns="0" bIns="0" rIns="0">
            <a:spAutoFit/>
          </a:bodyPr>
          <a:lstStyle/>
          <a:p>
            <a:pPr algn="l">
              <a:lnSpc>
                <a:spcPts val="1562"/>
              </a:lnSpc>
            </a:pPr>
            <a:r>
              <a:rPr lang="en-US" sz="937" b="true">
                <a:solidFill>
                  <a:srgbClr val="FFFFFF"/>
                </a:solidFill>
                <a:latin typeface="Crimson Pro Bold"/>
                <a:ea typeface="Crimson Pro Bold"/>
                <a:cs typeface="Crimson Pro Bold"/>
                <a:sym typeface="Crimson Pro Bold"/>
              </a:rPr>
              <a:t>2</a:t>
            </a:r>
          </a:p>
        </p:txBody>
      </p:sp>
      <p:sp>
        <p:nvSpPr>
          <p:cNvPr name="TextBox 29" id="29"/>
          <p:cNvSpPr txBox="true"/>
          <p:nvPr/>
        </p:nvSpPr>
        <p:spPr>
          <a:xfrm rot="0">
            <a:off x="9308602" y="1767335"/>
            <a:ext cx="2132257" cy="180680"/>
          </a:xfrm>
          <a:prstGeom prst="rect">
            <a:avLst/>
          </a:prstGeom>
        </p:spPr>
        <p:txBody>
          <a:bodyPr anchor="t" rtlCol="false" tIns="0" lIns="0" bIns="0" rIns="0">
            <a:spAutoFit/>
          </a:bodyPr>
          <a:lstStyle/>
          <a:p>
            <a:pPr algn="l">
              <a:lnSpc>
                <a:spcPts val="1250"/>
              </a:lnSpc>
            </a:pPr>
            <a:r>
              <a:rPr lang="en-US" sz="1000" b="true">
                <a:solidFill>
                  <a:srgbClr val="4C4C4D"/>
                </a:solidFill>
                <a:latin typeface="Crimson Pro Bold"/>
                <a:ea typeface="Crimson Pro Bold"/>
                <a:cs typeface="Crimson Pro Bold"/>
                <a:sym typeface="Crimson Pro Bold"/>
              </a:rPr>
              <a:t>ICA (Independent Component Analysis)</a:t>
            </a:r>
          </a:p>
        </p:txBody>
      </p:sp>
      <p:sp>
        <p:nvSpPr>
          <p:cNvPr name="TextBox 30" id="30"/>
          <p:cNvSpPr txBox="true"/>
          <p:nvPr/>
        </p:nvSpPr>
        <p:spPr>
          <a:xfrm rot="0">
            <a:off x="9308602" y="2209057"/>
            <a:ext cx="8309372" cy="194072"/>
          </a:xfrm>
          <a:prstGeom prst="rect">
            <a:avLst/>
          </a:prstGeom>
        </p:spPr>
        <p:txBody>
          <a:bodyPr anchor="t" rtlCol="false" tIns="0" lIns="0" bIns="0" rIns="0">
            <a:spAutoFit/>
          </a:bodyPr>
          <a:lstStyle/>
          <a:p>
            <a:pPr algn="l" marL="122535" indent="-61268" lvl="1">
              <a:lnSpc>
                <a:spcPts val="1249"/>
              </a:lnSpc>
              <a:buFont typeface="Arial"/>
              <a:buChar char="•"/>
            </a:pPr>
            <a:r>
              <a:rPr lang="en-US" sz="812">
                <a:solidFill>
                  <a:srgbClr val="4C4C4D"/>
                </a:solidFill>
                <a:latin typeface="Heebo"/>
                <a:ea typeface="Heebo"/>
                <a:cs typeface="Heebo"/>
                <a:sym typeface="Heebo"/>
              </a:rPr>
              <a:t>Removes eye blinks, eye movements, and muscle artifacts.</a:t>
            </a:r>
          </a:p>
        </p:txBody>
      </p:sp>
      <p:sp>
        <p:nvSpPr>
          <p:cNvPr name="TextBox 31" id="31"/>
          <p:cNvSpPr txBox="true"/>
          <p:nvPr/>
        </p:nvSpPr>
        <p:spPr>
          <a:xfrm rot="0">
            <a:off x="9308602" y="2410720"/>
            <a:ext cx="8309372" cy="194072"/>
          </a:xfrm>
          <a:prstGeom prst="rect">
            <a:avLst/>
          </a:prstGeom>
        </p:spPr>
        <p:txBody>
          <a:bodyPr anchor="t" rtlCol="false" tIns="0" lIns="0" bIns="0" rIns="0">
            <a:spAutoFit/>
          </a:bodyPr>
          <a:lstStyle/>
          <a:p>
            <a:pPr algn="l" marL="122535" indent="-61268" lvl="1">
              <a:lnSpc>
                <a:spcPts val="1249"/>
              </a:lnSpc>
              <a:buFont typeface="Arial"/>
              <a:buChar char="•"/>
            </a:pPr>
            <a:r>
              <a:rPr lang="en-US" sz="812">
                <a:solidFill>
                  <a:srgbClr val="4C4C4D"/>
                </a:solidFill>
                <a:latin typeface="Heebo"/>
                <a:ea typeface="Heebo"/>
                <a:cs typeface="Heebo"/>
                <a:sym typeface="Heebo"/>
              </a:rPr>
              <a:t>Detected 2-4 artifactual components per trial.</a:t>
            </a:r>
          </a:p>
        </p:txBody>
      </p:sp>
      <p:sp>
        <p:nvSpPr>
          <p:cNvPr name="Freeform 32" id="32" descr="preencoded.png"/>
          <p:cNvSpPr/>
          <p:nvPr/>
        </p:nvSpPr>
        <p:spPr>
          <a:xfrm flipH="false" flipV="false" rot="0">
            <a:off x="9308602" y="2721178"/>
            <a:ext cx="2838745" cy="2832945"/>
          </a:xfrm>
          <a:custGeom>
            <a:avLst/>
            <a:gdLst/>
            <a:ahLst/>
            <a:cxnLst/>
            <a:rect r="r" b="b" t="t" l="l"/>
            <a:pathLst>
              <a:path h="2832945" w="2838745">
                <a:moveTo>
                  <a:pt x="0" y="0"/>
                </a:moveTo>
                <a:lnTo>
                  <a:pt x="2838745" y="0"/>
                </a:lnTo>
                <a:lnTo>
                  <a:pt x="2838745" y="2832945"/>
                </a:lnTo>
                <a:lnTo>
                  <a:pt x="0" y="2832945"/>
                </a:lnTo>
                <a:lnTo>
                  <a:pt x="0" y="0"/>
                </a:lnTo>
                <a:close/>
              </a:path>
            </a:pathLst>
          </a:custGeom>
          <a:blipFill>
            <a:blip r:embed="rId4"/>
            <a:stretch>
              <a:fillRect l="-65" t="0" r="-65" b="0"/>
            </a:stretch>
          </a:blipFill>
        </p:spPr>
      </p:sp>
      <p:grpSp>
        <p:nvGrpSpPr>
          <p:cNvPr name="Group 33" id="33"/>
          <p:cNvGrpSpPr/>
          <p:nvPr/>
        </p:nvGrpSpPr>
        <p:grpSpPr>
          <a:xfrm rot="0">
            <a:off x="557060" y="5925588"/>
            <a:ext cx="8535143" cy="3919985"/>
            <a:chOff x="0" y="0"/>
            <a:chExt cx="11380191" cy="5226647"/>
          </a:xfrm>
        </p:grpSpPr>
        <p:sp>
          <p:nvSpPr>
            <p:cNvPr name="Freeform 34" id="34"/>
            <p:cNvSpPr/>
            <p:nvPr/>
          </p:nvSpPr>
          <p:spPr>
            <a:xfrm flipH="false" flipV="false" rot="0">
              <a:off x="0" y="0"/>
              <a:ext cx="11380216" cy="5226685"/>
            </a:xfrm>
            <a:custGeom>
              <a:avLst/>
              <a:gdLst/>
              <a:ahLst/>
              <a:cxnLst/>
              <a:rect r="r" b="b" t="t" l="l"/>
              <a:pathLst>
                <a:path h="5226685" w="11380216">
                  <a:moveTo>
                    <a:pt x="0" y="60960"/>
                  </a:moveTo>
                  <a:cubicBezTo>
                    <a:pt x="0" y="27305"/>
                    <a:pt x="27305" y="0"/>
                    <a:pt x="60960" y="0"/>
                  </a:cubicBezTo>
                  <a:lnTo>
                    <a:pt x="11319256" y="0"/>
                  </a:lnTo>
                  <a:cubicBezTo>
                    <a:pt x="11352912" y="0"/>
                    <a:pt x="11380216" y="27305"/>
                    <a:pt x="11380216" y="60960"/>
                  </a:cubicBezTo>
                  <a:lnTo>
                    <a:pt x="11380216" y="5165725"/>
                  </a:lnTo>
                  <a:cubicBezTo>
                    <a:pt x="11380216" y="5199380"/>
                    <a:pt x="11352912" y="5226685"/>
                    <a:pt x="11319256" y="5226685"/>
                  </a:cubicBezTo>
                  <a:lnTo>
                    <a:pt x="60960" y="5226685"/>
                  </a:lnTo>
                  <a:cubicBezTo>
                    <a:pt x="27305" y="5226685"/>
                    <a:pt x="0" y="5199380"/>
                    <a:pt x="0" y="5165725"/>
                  </a:cubicBezTo>
                  <a:close/>
                </a:path>
              </a:pathLst>
            </a:custGeom>
            <a:solidFill>
              <a:srgbClr val="FFFFFF"/>
            </a:solidFill>
            <a:ln w="12700">
              <a:solidFill>
                <a:srgbClr val="000000"/>
              </a:solidFill>
            </a:ln>
          </p:spPr>
        </p:sp>
      </p:grpSp>
      <p:grpSp>
        <p:nvGrpSpPr>
          <p:cNvPr name="Group 35" id="35"/>
          <p:cNvGrpSpPr/>
          <p:nvPr/>
        </p:nvGrpSpPr>
        <p:grpSpPr>
          <a:xfrm rot="0">
            <a:off x="557060" y="5916063"/>
            <a:ext cx="8535143" cy="38100"/>
            <a:chOff x="0" y="0"/>
            <a:chExt cx="11380191" cy="50800"/>
          </a:xfrm>
        </p:grpSpPr>
        <p:sp>
          <p:nvSpPr>
            <p:cNvPr name="Freeform 36" id="36"/>
            <p:cNvSpPr/>
            <p:nvPr/>
          </p:nvSpPr>
          <p:spPr>
            <a:xfrm flipH="false" flipV="false" rot="0">
              <a:off x="0" y="0"/>
              <a:ext cx="11380216" cy="50800"/>
            </a:xfrm>
            <a:custGeom>
              <a:avLst/>
              <a:gdLst/>
              <a:ahLst/>
              <a:cxnLst/>
              <a:rect r="r" b="b" t="t" l="l"/>
              <a:pathLst>
                <a:path h="50800" w="11380216">
                  <a:moveTo>
                    <a:pt x="0" y="20701"/>
                  </a:moveTo>
                  <a:cubicBezTo>
                    <a:pt x="0" y="9271"/>
                    <a:pt x="9271" y="0"/>
                    <a:pt x="20701" y="0"/>
                  </a:cubicBezTo>
                  <a:lnTo>
                    <a:pt x="11359515" y="0"/>
                  </a:lnTo>
                  <a:cubicBezTo>
                    <a:pt x="11370945" y="0"/>
                    <a:pt x="11380216" y="9271"/>
                    <a:pt x="11380216" y="20701"/>
                  </a:cubicBezTo>
                  <a:lnTo>
                    <a:pt x="11380216" y="30099"/>
                  </a:lnTo>
                  <a:cubicBezTo>
                    <a:pt x="11380216" y="41529"/>
                    <a:pt x="11370945" y="50800"/>
                    <a:pt x="11359515" y="50800"/>
                  </a:cubicBezTo>
                  <a:lnTo>
                    <a:pt x="20701" y="50800"/>
                  </a:lnTo>
                  <a:cubicBezTo>
                    <a:pt x="9271" y="50800"/>
                    <a:pt x="0" y="41529"/>
                    <a:pt x="0" y="30099"/>
                  </a:cubicBezTo>
                  <a:close/>
                </a:path>
              </a:pathLst>
            </a:custGeom>
            <a:solidFill>
              <a:srgbClr val="2150FE"/>
            </a:solidFill>
            <a:ln w="12700">
              <a:solidFill>
                <a:srgbClr val="000000"/>
              </a:solidFill>
            </a:ln>
          </p:spPr>
        </p:sp>
      </p:grpSp>
      <p:grpSp>
        <p:nvGrpSpPr>
          <p:cNvPr name="Group 37" id="37"/>
          <p:cNvGrpSpPr/>
          <p:nvPr/>
        </p:nvGrpSpPr>
        <p:grpSpPr>
          <a:xfrm rot="0">
            <a:off x="4669412" y="5770512"/>
            <a:ext cx="310305" cy="310305"/>
            <a:chOff x="0" y="0"/>
            <a:chExt cx="413741" cy="413741"/>
          </a:xfrm>
        </p:grpSpPr>
        <p:sp>
          <p:nvSpPr>
            <p:cNvPr name="Freeform 38" id="38"/>
            <p:cNvSpPr/>
            <p:nvPr/>
          </p:nvSpPr>
          <p:spPr>
            <a:xfrm flipH="false" flipV="false" rot="0">
              <a:off x="0" y="0"/>
              <a:ext cx="413766" cy="413766"/>
            </a:xfrm>
            <a:custGeom>
              <a:avLst/>
              <a:gdLst/>
              <a:ahLst/>
              <a:cxnLst/>
              <a:rect r="r" b="b" t="t" l="l"/>
              <a:pathLst>
                <a:path h="413766" w="413766">
                  <a:moveTo>
                    <a:pt x="0" y="206883"/>
                  </a:moveTo>
                  <a:cubicBezTo>
                    <a:pt x="0" y="92583"/>
                    <a:pt x="92583" y="0"/>
                    <a:pt x="206883" y="0"/>
                  </a:cubicBezTo>
                  <a:cubicBezTo>
                    <a:pt x="321183" y="0"/>
                    <a:pt x="413766" y="92583"/>
                    <a:pt x="413766" y="206883"/>
                  </a:cubicBezTo>
                  <a:cubicBezTo>
                    <a:pt x="413766" y="321183"/>
                    <a:pt x="321183" y="413766"/>
                    <a:pt x="206883" y="413766"/>
                  </a:cubicBezTo>
                  <a:cubicBezTo>
                    <a:pt x="92583" y="413766"/>
                    <a:pt x="0" y="321183"/>
                    <a:pt x="0" y="206883"/>
                  </a:cubicBezTo>
                  <a:close/>
                </a:path>
              </a:pathLst>
            </a:custGeom>
            <a:solidFill>
              <a:srgbClr val="2150FE"/>
            </a:solidFill>
            <a:ln w="12700">
              <a:solidFill>
                <a:srgbClr val="000000"/>
              </a:solidFill>
            </a:ln>
          </p:spPr>
        </p:sp>
      </p:grpSp>
      <p:sp>
        <p:nvSpPr>
          <p:cNvPr name="TextBox 39" id="39"/>
          <p:cNvSpPr txBox="true"/>
          <p:nvPr/>
        </p:nvSpPr>
        <p:spPr>
          <a:xfrm rot="0">
            <a:off x="4762424" y="5800430"/>
            <a:ext cx="124120" cy="202702"/>
          </a:xfrm>
          <a:prstGeom prst="rect">
            <a:avLst/>
          </a:prstGeom>
        </p:spPr>
        <p:txBody>
          <a:bodyPr anchor="t" rtlCol="false" tIns="0" lIns="0" bIns="0" rIns="0">
            <a:spAutoFit/>
          </a:bodyPr>
          <a:lstStyle/>
          <a:p>
            <a:pPr algn="l">
              <a:lnSpc>
                <a:spcPts val="1562"/>
              </a:lnSpc>
            </a:pPr>
            <a:r>
              <a:rPr lang="en-US" sz="937" b="true">
                <a:solidFill>
                  <a:srgbClr val="FFFFFF"/>
                </a:solidFill>
                <a:latin typeface="Crimson Pro Bold"/>
                <a:ea typeface="Crimson Pro Bold"/>
                <a:cs typeface="Crimson Pro Bold"/>
                <a:sym typeface="Crimson Pro Bold"/>
              </a:rPr>
              <a:t>3</a:t>
            </a:r>
          </a:p>
        </p:txBody>
      </p:sp>
      <p:sp>
        <p:nvSpPr>
          <p:cNvPr name="TextBox 40" id="40"/>
          <p:cNvSpPr txBox="true"/>
          <p:nvPr/>
        </p:nvSpPr>
        <p:spPr>
          <a:xfrm rot="0">
            <a:off x="670027" y="6165209"/>
            <a:ext cx="2114550" cy="180680"/>
          </a:xfrm>
          <a:prstGeom prst="rect">
            <a:avLst/>
          </a:prstGeom>
        </p:spPr>
        <p:txBody>
          <a:bodyPr anchor="t" rtlCol="false" tIns="0" lIns="0" bIns="0" rIns="0">
            <a:spAutoFit/>
          </a:bodyPr>
          <a:lstStyle/>
          <a:p>
            <a:pPr algn="l">
              <a:lnSpc>
                <a:spcPts val="1250"/>
              </a:lnSpc>
            </a:pPr>
            <a:r>
              <a:rPr lang="en-US" sz="1000" b="true">
                <a:solidFill>
                  <a:srgbClr val="4C4C4D"/>
                </a:solidFill>
                <a:latin typeface="Crimson Pro Bold"/>
                <a:ea typeface="Crimson Pro Bold"/>
                <a:cs typeface="Crimson Pro Bold"/>
                <a:sym typeface="Crimson Pro Bold"/>
              </a:rPr>
              <a:t>ASR (Artifact Subspace Reconstruction)</a:t>
            </a:r>
          </a:p>
        </p:txBody>
      </p:sp>
      <p:sp>
        <p:nvSpPr>
          <p:cNvPr name="TextBox 41" id="41"/>
          <p:cNvSpPr txBox="true"/>
          <p:nvPr/>
        </p:nvSpPr>
        <p:spPr>
          <a:xfrm rot="0">
            <a:off x="670027" y="6379369"/>
            <a:ext cx="8309219" cy="194072"/>
          </a:xfrm>
          <a:prstGeom prst="rect">
            <a:avLst/>
          </a:prstGeom>
        </p:spPr>
        <p:txBody>
          <a:bodyPr anchor="t" rtlCol="false" tIns="0" lIns="0" bIns="0" rIns="0">
            <a:spAutoFit/>
          </a:bodyPr>
          <a:lstStyle/>
          <a:p>
            <a:pPr algn="l" marL="122535" indent="-61268" lvl="1">
              <a:lnSpc>
                <a:spcPts val="1249"/>
              </a:lnSpc>
              <a:buFont typeface="Arial"/>
              <a:buChar char="•"/>
            </a:pPr>
            <a:r>
              <a:rPr lang="en-US" sz="812">
                <a:solidFill>
                  <a:srgbClr val="4C4C4D"/>
                </a:solidFill>
                <a:latin typeface="Heebo"/>
                <a:ea typeface="Heebo"/>
                <a:cs typeface="Heebo"/>
                <a:sym typeface="Heebo"/>
              </a:rPr>
              <a:t>Removes burst artifacts (head movements, electrode pops).</a:t>
            </a:r>
          </a:p>
        </p:txBody>
      </p:sp>
      <p:sp>
        <p:nvSpPr>
          <p:cNvPr name="TextBox 42" id="42"/>
          <p:cNvSpPr txBox="true"/>
          <p:nvPr/>
        </p:nvSpPr>
        <p:spPr>
          <a:xfrm rot="0">
            <a:off x="670027" y="6581032"/>
            <a:ext cx="8309219" cy="194072"/>
          </a:xfrm>
          <a:prstGeom prst="rect">
            <a:avLst/>
          </a:prstGeom>
        </p:spPr>
        <p:txBody>
          <a:bodyPr anchor="t" rtlCol="false" tIns="0" lIns="0" bIns="0" rIns="0">
            <a:spAutoFit/>
          </a:bodyPr>
          <a:lstStyle/>
          <a:p>
            <a:pPr algn="l" marL="122535" indent="-61268" lvl="1">
              <a:lnSpc>
                <a:spcPts val="1249"/>
              </a:lnSpc>
              <a:buFont typeface="Arial"/>
              <a:buChar char="•"/>
            </a:pPr>
            <a:r>
              <a:rPr lang="en-US" sz="812">
                <a:solidFill>
                  <a:srgbClr val="4C4C4D"/>
                </a:solidFill>
                <a:latin typeface="Heebo"/>
                <a:ea typeface="Heebo"/>
                <a:cs typeface="Heebo"/>
                <a:sym typeface="Heebo"/>
              </a:rPr>
              <a:t>Repairs over 11,000 artifactual samples per trial.</a:t>
            </a:r>
          </a:p>
        </p:txBody>
      </p:sp>
      <p:sp>
        <p:nvSpPr>
          <p:cNvPr name="Freeform 43" id="43" descr="preencoded.png"/>
          <p:cNvSpPr/>
          <p:nvPr/>
        </p:nvSpPr>
        <p:spPr>
          <a:xfrm flipH="false" flipV="false" rot="0">
            <a:off x="670027" y="6891490"/>
            <a:ext cx="4581973" cy="2831602"/>
          </a:xfrm>
          <a:custGeom>
            <a:avLst/>
            <a:gdLst/>
            <a:ahLst/>
            <a:cxnLst/>
            <a:rect r="r" b="b" t="t" l="l"/>
            <a:pathLst>
              <a:path h="2831602" w="4581973">
                <a:moveTo>
                  <a:pt x="0" y="0"/>
                </a:moveTo>
                <a:lnTo>
                  <a:pt x="4581972" y="0"/>
                </a:lnTo>
                <a:lnTo>
                  <a:pt x="4581972" y="2831601"/>
                </a:lnTo>
                <a:lnTo>
                  <a:pt x="0" y="2831601"/>
                </a:lnTo>
                <a:lnTo>
                  <a:pt x="0" y="0"/>
                </a:lnTo>
                <a:close/>
              </a:path>
            </a:pathLst>
          </a:custGeom>
          <a:blipFill>
            <a:blip r:embed="rId5"/>
            <a:stretch>
              <a:fillRect l="-42" t="0" r="-42" b="0"/>
            </a:stretch>
          </a:blipFill>
        </p:spPr>
      </p:sp>
      <p:grpSp>
        <p:nvGrpSpPr>
          <p:cNvPr name="Group 44" id="44"/>
          <p:cNvGrpSpPr/>
          <p:nvPr/>
        </p:nvGrpSpPr>
        <p:grpSpPr>
          <a:xfrm rot="0">
            <a:off x="9195645" y="5925588"/>
            <a:ext cx="8535295" cy="3919985"/>
            <a:chOff x="0" y="0"/>
            <a:chExt cx="11380394" cy="5226647"/>
          </a:xfrm>
        </p:grpSpPr>
        <p:sp>
          <p:nvSpPr>
            <p:cNvPr name="Freeform 45" id="45"/>
            <p:cNvSpPr/>
            <p:nvPr/>
          </p:nvSpPr>
          <p:spPr>
            <a:xfrm flipH="false" flipV="false" rot="0">
              <a:off x="0" y="0"/>
              <a:ext cx="11380470" cy="5226685"/>
            </a:xfrm>
            <a:custGeom>
              <a:avLst/>
              <a:gdLst/>
              <a:ahLst/>
              <a:cxnLst/>
              <a:rect r="r" b="b" t="t" l="l"/>
              <a:pathLst>
                <a:path h="5226685" w="11380470">
                  <a:moveTo>
                    <a:pt x="0" y="60960"/>
                  </a:moveTo>
                  <a:cubicBezTo>
                    <a:pt x="0" y="27305"/>
                    <a:pt x="27305" y="0"/>
                    <a:pt x="60960" y="0"/>
                  </a:cubicBezTo>
                  <a:lnTo>
                    <a:pt x="11319510" y="0"/>
                  </a:lnTo>
                  <a:cubicBezTo>
                    <a:pt x="11353165" y="0"/>
                    <a:pt x="11380470" y="27305"/>
                    <a:pt x="11380470" y="60960"/>
                  </a:cubicBezTo>
                  <a:lnTo>
                    <a:pt x="11380470" y="5165725"/>
                  </a:lnTo>
                  <a:cubicBezTo>
                    <a:pt x="11380470" y="5199380"/>
                    <a:pt x="11353165" y="5226685"/>
                    <a:pt x="11319510" y="5226685"/>
                  </a:cubicBezTo>
                  <a:lnTo>
                    <a:pt x="60960" y="5226685"/>
                  </a:lnTo>
                  <a:cubicBezTo>
                    <a:pt x="27305" y="5226685"/>
                    <a:pt x="0" y="5199380"/>
                    <a:pt x="0" y="5165725"/>
                  </a:cubicBezTo>
                  <a:close/>
                </a:path>
              </a:pathLst>
            </a:custGeom>
            <a:solidFill>
              <a:srgbClr val="FFFFFF"/>
            </a:solidFill>
            <a:ln w="12700">
              <a:solidFill>
                <a:srgbClr val="000000"/>
              </a:solidFill>
            </a:ln>
          </p:spPr>
        </p:sp>
      </p:grpSp>
      <p:grpSp>
        <p:nvGrpSpPr>
          <p:cNvPr name="Group 46" id="46"/>
          <p:cNvGrpSpPr/>
          <p:nvPr/>
        </p:nvGrpSpPr>
        <p:grpSpPr>
          <a:xfrm rot="0">
            <a:off x="9195645" y="5916063"/>
            <a:ext cx="8535295" cy="38100"/>
            <a:chOff x="0" y="0"/>
            <a:chExt cx="11380394" cy="50800"/>
          </a:xfrm>
        </p:grpSpPr>
        <p:sp>
          <p:nvSpPr>
            <p:cNvPr name="Freeform 47" id="47"/>
            <p:cNvSpPr/>
            <p:nvPr/>
          </p:nvSpPr>
          <p:spPr>
            <a:xfrm flipH="false" flipV="false" rot="0">
              <a:off x="0" y="0"/>
              <a:ext cx="11380343" cy="50800"/>
            </a:xfrm>
            <a:custGeom>
              <a:avLst/>
              <a:gdLst/>
              <a:ahLst/>
              <a:cxnLst/>
              <a:rect r="r" b="b" t="t" l="l"/>
              <a:pathLst>
                <a:path h="50800" w="11380343">
                  <a:moveTo>
                    <a:pt x="0" y="20701"/>
                  </a:moveTo>
                  <a:cubicBezTo>
                    <a:pt x="0" y="9271"/>
                    <a:pt x="9271" y="0"/>
                    <a:pt x="20701" y="0"/>
                  </a:cubicBezTo>
                  <a:lnTo>
                    <a:pt x="11359642" y="0"/>
                  </a:lnTo>
                  <a:cubicBezTo>
                    <a:pt x="11371073" y="0"/>
                    <a:pt x="11380343" y="9271"/>
                    <a:pt x="11380343" y="20701"/>
                  </a:cubicBezTo>
                  <a:lnTo>
                    <a:pt x="11380343" y="30099"/>
                  </a:lnTo>
                  <a:cubicBezTo>
                    <a:pt x="11380343" y="41529"/>
                    <a:pt x="11371073" y="50800"/>
                    <a:pt x="11359642" y="50800"/>
                  </a:cubicBezTo>
                  <a:lnTo>
                    <a:pt x="20701" y="50800"/>
                  </a:lnTo>
                  <a:cubicBezTo>
                    <a:pt x="9271" y="50800"/>
                    <a:pt x="0" y="41529"/>
                    <a:pt x="0" y="30099"/>
                  </a:cubicBezTo>
                  <a:close/>
                </a:path>
              </a:pathLst>
            </a:custGeom>
            <a:solidFill>
              <a:srgbClr val="2150FE"/>
            </a:solidFill>
            <a:ln w="12700">
              <a:solidFill>
                <a:srgbClr val="000000"/>
              </a:solidFill>
            </a:ln>
          </p:spPr>
        </p:sp>
      </p:grpSp>
      <p:grpSp>
        <p:nvGrpSpPr>
          <p:cNvPr name="Group 48" id="48"/>
          <p:cNvGrpSpPr/>
          <p:nvPr/>
        </p:nvGrpSpPr>
        <p:grpSpPr>
          <a:xfrm rot="0">
            <a:off x="13308140" y="5770512"/>
            <a:ext cx="310305" cy="310305"/>
            <a:chOff x="0" y="0"/>
            <a:chExt cx="413741" cy="413741"/>
          </a:xfrm>
        </p:grpSpPr>
        <p:sp>
          <p:nvSpPr>
            <p:cNvPr name="Freeform 49" id="49"/>
            <p:cNvSpPr/>
            <p:nvPr/>
          </p:nvSpPr>
          <p:spPr>
            <a:xfrm flipH="false" flipV="false" rot="0">
              <a:off x="0" y="0"/>
              <a:ext cx="413766" cy="413766"/>
            </a:xfrm>
            <a:custGeom>
              <a:avLst/>
              <a:gdLst/>
              <a:ahLst/>
              <a:cxnLst/>
              <a:rect r="r" b="b" t="t" l="l"/>
              <a:pathLst>
                <a:path h="413766" w="413766">
                  <a:moveTo>
                    <a:pt x="0" y="206883"/>
                  </a:moveTo>
                  <a:cubicBezTo>
                    <a:pt x="0" y="92583"/>
                    <a:pt x="92583" y="0"/>
                    <a:pt x="206883" y="0"/>
                  </a:cubicBezTo>
                  <a:cubicBezTo>
                    <a:pt x="321183" y="0"/>
                    <a:pt x="413766" y="92583"/>
                    <a:pt x="413766" y="206883"/>
                  </a:cubicBezTo>
                  <a:cubicBezTo>
                    <a:pt x="413766" y="321183"/>
                    <a:pt x="321183" y="413766"/>
                    <a:pt x="206883" y="413766"/>
                  </a:cubicBezTo>
                  <a:cubicBezTo>
                    <a:pt x="92583" y="413766"/>
                    <a:pt x="0" y="321183"/>
                    <a:pt x="0" y="206883"/>
                  </a:cubicBezTo>
                  <a:close/>
                </a:path>
              </a:pathLst>
            </a:custGeom>
            <a:solidFill>
              <a:srgbClr val="2150FE"/>
            </a:solidFill>
            <a:ln w="12700">
              <a:solidFill>
                <a:srgbClr val="000000"/>
              </a:solidFill>
            </a:ln>
          </p:spPr>
        </p:sp>
      </p:grpSp>
      <p:sp>
        <p:nvSpPr>
          <p:cNvPr name="TextBox 50" id="50"/>
          <p:cNvSpPr txBox="true"/>
          <p:nvPr/>
        </p:nvSpPr>
        <p:spPr>
          <a:xfrm rot="0">
            <a:off x="13401151" y="5800430"/>
            <a:ext cx="124120" cy="202702"/>
          </a:xfrm>
          <a:prstGeom prst="rect">
            <a:avLst/>
          </a:prstGeom>
        </p:spPr>
        <p:txBody>
          <a:bodyPr anchor="t" rtlCol="false" tIns="0" lIns="0" bIns="0" rIns="0">
            <a:spAutoFit/>
          </a:bodyPr>
          <a:lstStyle/>
          <a:p>
            <a:pPr algn="l">
              <a:lnSpc>
                <a:spcPts val="1562"/>
              </a:lnSpc>
            </a:pPr>
            <a:r>
              <a:rPr lang="en-US" sz="937" b="true">
                <a:solidFill>
                  <a:srgbClr val="FFFFFF"/>
                </a:solidFill>
                <a:latin typeface="Crimson Pro Bold"/>
                <a:ea typeface="Crimson Pro Bold"/>
                <a:cs typeface="Crimson Pro Bold"/>
                <a:sym typeface="Crimson Pro Bold"/>
              </a:rPr>
              <a:t>4</a:t>
            </a:r>
          </a:p>
        </p:txBody>
      </p:sp>
      <p:sp>
        <p:nvSpPr>
          <p:cNvPr name="TextBox 51" id="51"/>
          <p:cNvSpPr txBox="true"/>
          <p:nvPr/>
        </p:nvSpPr>
        <p:spPr>
          <a:xfrm rot="0">
            <a:off x="9308602" y="6165209"/>
            <a:ext cx="1951882" cy="180680"/>
          </a:xfrm>
          <a:prstGeom prst="rect">
            <a:avLst/>
          </a:prstGeom>
        </p:spPr>
        <p:txBody>
          <a:bodyPr anchor="t" rtlCol="false" tIns="0" lIns="0" bIns="0" rIns="0">
            <a:spAutoFit/>
          </a:bodyPr>
          <a:lstStyle/>
          <a:p>
            <a:pPr algn="l">
              <a:lnSpc>
                <a:spcPts val="1250"/>
              </a:lnSpc>
            </a:pPr>
            <a:r>
              <a:rPr lang="en-US" sz="1000" b="true">
                <a:solidFill>
                  <a:srgbClr val="4C4C4D"/>
                </a:solidFill>
                <a:latin typeface="Crimson Pro Bold"/>
                <a:ea typeface="Crimson Pro Bold"/>
                <a:cs typeface="Crimson Pro Bold"/>
                <a:sym typeface="Crimson Pro Bold"/>
              </a:rPr>
              <a:t>CAR (Common Average Referencing)</a:t>
            </a:r>
          </a:p>
        </p:txBody>
      </p:sp>
      <p:sp>
        <p:nvSpPr>
          <p:cNvPr name="TextBox 52" id="52"/>
          <p:cNvSpPr txBox="true"/>
          <p:nvPr/>
        </p:nvSpPr>
        <p:spPr>
          <a:xfrm rot="0">
            <a:off x="9308602" y="6379369"/>
            <a:ext cx="8309372" cy="194072"/>
          </a:xfrm>
          <a:prstGeom prst="rect">
            <a:avLst/>
          </a:prstGeom>
        </p:spPr>
        <p:txBody>
          <a:bodyPr anchor="t" rtlCol="false" tIns="0" lIns="0" bIns="0" rIns="0">
            <a:spAutoFit/>
          </a:bodyPr>
          <a:lstStyle/>
          <a:p>
            <a:pPr algn="l" marL="122535" indent="-61268" lvl="1">
              <a:lnSpc>
                <a:spcPts val="1249"/>
              </a:lnSpc>
              <a:buFont typeface="Arial"/>
              <a:buChar char="•"/>
            </a:pPr>
            <a:r>
              <a:rPr lang="en-US" sz="812">
                <a:solidFill>
                  <a:srgbClr val="4C4C4D"/>
                </a:solidFill>
                <a:latin typeface="Heebo"/>
                <a:ea typeface="Heebo"/>
                <a:cs typeface="Heebo"/>
                <a:sym typeface="Heebo"/>
              </a:rPr>
              <a:t>Removes common-mode noise across all channels.</a:t>
            </a:r>
          </a:p>
        </p:txBody>
      </p:sp>
      <p:sp>
        <p:nvSpPr>
          <p:cNvPr name="TextBox 53" id="53"/>
          <p:cNvSpPr txBox="true"/>
          <p:nvPr/>
        </p:nvSpPr>
        <p:spPr>
          <a:xfrm rot="0">
            <a:off x="9308602" y="6581032"/>
            <a:ext cx="8309372" cy="203597"/>
          </a:xfrm>
          <a:prstGeom prst="rect">
            <a:avLst/>
          </a:prstGeom>
        </p:spPr>
        <p:txBody>
          <a:bodyPr anchor="t" rtlCol="false" tIns="0" lIns="0" bIns="0" rIns="0">
            <a:spAutoFit/>
          </a:bodyPr>
          <a:lstStyle/>
          <a:p>
            <a:pPr algn="l" marL="122535" indent="-61268" lvl="1">
              <a:lnSpc>
                <a:spcPts val="1249"/>
              </a:lnSpc>
              <a:buFont typeface="Arial"/>
              <a:buChar char="•"/>
            </a:pPr>
            <a:r>
              <a:rPr lang="en-US" sz="812">
                <a:solidFill>
                  <a:srgbClr val="4C4C4D"/>
                </a:solidFill>
                <a:latin typeface="Heebo"/>
                <a:ea typeface="Heebo"/>
                <a:cs typeface="Heebo"/>
                <a:sym typeface="Heebo"/>
              </a:rPr>
              <a:t>Formula: </a:t>
            </a:r>
            <a:r>
              <a:rPr lang="en-US" sz="812" i="true">
                <a:solidFill>
                  <a:srgbClr val="4C4C4D"/>
                </a:solidFill>
                <a:latin typeface="Heebo"/>
                <a:ea typeface="Heebo"/>
                <a:cs typeface="Heebo"/>
                <a:sym typeface="Heebo"/>
              </a:rPr>
              <a:t>V_{CAR}(i) = V_{raw}(i) - mean(all channels)</a:t>
            </a:r>
          </a:p>
        </p:txBody>
      </p:sp>
      <p:sp>
        <p:nvSpPr>
          <p:cNvPr name="Freeform 54" id="54" descr="preencoded.png"/>
          <p:cNvSpPr/>
          <p:nvPr/>
        </p:nvSpPr>
        <p:spPr>
          <a:xfrm flipH="false" flipV="false" rot="0">
            <a:off x="9308602" y="6901015"/>
            <a:ext cx="4581973" cy="2831602"/>
          </a:xfrm>
          <a:custGeom>
            <a:avLst/>
            <a:gdLst/>
            <a:ahLst/>
            <a:cxnLst/>
            <a:rect r="r" b="b" t="t" l="l"/>
            <a:pathLst>
              <a:path h="2831602" w="4581973">
                <a:moveTo>
                  <a:pt x="0" y="0"/>
                </a:moveTo>
                <a:lnTo>
                  <a:pt x="4581972" y="0"/>
                </a:lnTo>
                <a:lnTo>
                  <a:pt x="4581972" y="2831601"/>
                </a:lnTo>
                <a:lnTo>
                  <a:pt x="0" y="2831601"/>
                </a:lnTo>
                <a:lnTo>
                  <a:pt x="0" y="0"/>
                </a:lnTo>
                <a:close/>
              </a:path>
            </a:pathLst>
          </a:custGeom>
          <a:blipFill>
            <a:blip r:embed="rId6"/>
            <a:stretch>
              <a:fillRect l="-42" t="0" r="-42" b="0"/>
            </a:stretch>
          </a:blipFill>
        </p:spPr>
      </p:sp>
    </p:spTree>
  </p:cSld>
  <p:clrMapOvr>
    <a:masterClrMapping/>
  </p:clrMapOvr>
</p:sld>
</file>

<file path=ppt/slides/slide6.xml><?xml version="1.0" encoding="utf-8"?>
<p:sld xmlns:p="http://schemas.openxmlformats.org/presentationml/2006/main" xmlns:a="http://schemas.openxmlformats.org/drawingml/2006/main">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0F0F1"/>
            </a:solidFill>
            <a:ln w="12700">
              <a:solidFill>
                <a:srgbClr val="000000"/>
              </a:solidFill>
            </a:ln>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FFFFF"/>
            </a:solidFill>
            <a:ln w="12700">
              <a:solidFill>
                <a:srgbClr val="000000"/>
              </a:solidFill>
            </a:ln>
          </p:spPr>
        </p:sp>
      </p:grpSp>
      <p:grpSp>
        <p:nvGrpSpPr>
          <p:cNvPr name="Group 6" id="6"/>
          <p:cNvGrpSpPr/>
          <p:nvPr/>
        </p:nvGrpSpPr>
        <p:grpSpPr>
          <a:xfrm rot="0">
            <a:off x="992238" y="782984"/>
            <a:ext cx="919010" cy="346319"/>
            <a:chOff x="0" y="0"/>
            <a:chExt cx="1225347" cy="461759"/>
          </a:xfrm>
        </p:grpSpPr>
        <p:sp>
          <p:nvSpPr>
            <p:cNvPr name="Freeform 7" id="7"/>
            <p:cNvSpPr/>
            <p:nvPr/>
          </p:nvSpPr>
          <p:spPr>
            <a:xfrm flipH="false" flipV="false" rot="0">
              <a:off x="0" y="0"/>
              <a:ext cx="1225296" cy="461772"/>
            </a:xfrm>
            <a:custGeom>
              <a:avLst/>
              <a:gdLst/>
              <a:ahLst/>
              <a:cxnLst/>
              <a:rect r="r" b="b" t="t" l="l"/>
              <a:pathLst>
                <a:path h="461772" w="1225296">
                  <a:moveTo>
                    <a:pt x="0" y="29464"/>
                  </a:moveTo>
                  <a:cubicBezTo>
                    <a:pt x="0" y="13208"/>
                    <a:pt x="13208" y="0"/>
                    <a:pt x="29464" y="0"/>
                  </a:cubicBezTo>
                  <a:lnTo>
                    <a:pt x="1195832" y="0"/>
                  </a:lnTo>
                  <a:cubicBezTo>
                    <a:pt x="1212088" y="0"/>
                    <a:pt x="1225296" y="13208"/>
                    <a:pt x="1225296" y="29464"/>
                  </a:cubicBezTo>
                  <a:lnTo>
                    <a:pt x="1225296" y="432308"/>
                  </a:lnTo>
                  <a:cubicBezTo>
                    <a:pt x="1225296" y="448564"/>
                    <a:pt x="1212088" y="461772"/>
                    <a:pt x="1195832" y="461772"/>
                  </a:cubicBezTo>
                  <a:lnTo>
                    <a:pt x="29464" y="461772"/>
                  </a:lnTo>
                  <a:cubicBezTo>
                    <a:pt x="13208" y="461772"/>
                    <a:pt x="0" y="448564"/>
                    <a:pt x="0" y="432308"/>
                  </a:cubicBezTo>
                  <a:close/>
                </a:path>
              </a:pathLst>
            </a:custGeom>
            <a:solidFill>
              <a:srgbClr val="CCD7FF"/>
            </a:solidFill>
            <a:ln w="12700">
              <a:solidFill>
                <a:srgbClr val="000000"/>
              </a:solidFill>
            </a:ln>
          </p:spPr>
        </p:sp>
      </p:grpSp>
      <p:sp>
        <p:nvSpPr>
          <p:cNvPr name="TextBox 8" id="8"/>
          <p:cNvSpPr txBox="true"/>
          <p:nvPr/>
        </p:nvSpPr>
        <p:spPr>
          <a:xfrm rot="0">
            <a:off x="1102671" y="781050"/>
            <a:ext cx="698154" cy="293046"/>
          </a:xfrm>
          <a:prstGeom prst="rect">
            <a:avLst/>
          </a:prstGeom>
        </p:spPr>
        <p:txBody>
          <a:bodyPr anchor="t" rtlCol="false" tIns="0" lIns="0" bIns="0" rIns="0">
            <a:spAutoFit/>
          </a:bodyPr>
          <a:lstStyle/>
          <a:p>
            <a:pPr algn="l">
              <a:lnSpc>
                <a:spcPts val="1812"/>
              </a:lnSpc>
            </a:pPr>
            <a:r>
              <a:rPr lang="en-US" sz="1124">
                <a:solidFill>
                  <a:srgbClr val="4C4C4D"/>
                </a:solidFill>
                <a:latin typeface="Heebo"/>
                <a:ea typeface="Heebo"/>
                <a:cs typeface="Heebo"/>
                <a:sym typeface="Heebo"/>
              </a:rPr>
              <a:t>FEATURES</a:t>
            </a:r>
          </a:p>
        </p:txBody>
      </p:sp>
      <p:sp>
        <p:nvSpPr>
          <p:cNvPr name="TextBox 9" id="9"/>
          <p:cNvSpPr txBox="true"/>
          <p:nvPr/>
        </p:nvSpPr>
        <p:spPr>
          <a:xfrm rot="0">
            <a:off x="992238" y="1174404"/>
            <a:ext cx="9040120" cy="489347"/>
          </a:xfrm>
          <a:prstGeom prst="rect">
            <a:avLst/>
          </a:prstGeom>
        </p:spPr>
        <p:txBody>
          <a:bodyPr anchor="t" rtlCol="false" tIns="0" lIns="0" bIns="0" rIns="0">
            <a:spAutoFit/>
          </a:bodyPr>
          <a:lstStyle/>
          <a:p>
            <a:pPr algn="l">
              <a:lnSpc>
                <a:spcPts val="3625"/>
              </a:lnSpc>
            </a:pPr>
            <a:r>
              <a:rPr lang="en-US" sz="2874" b="true">
                <a:solidFill>
                  <a:srgbClr val="152D47"/>
                </a:solidFill>
                <a:latin typeface="Crimson Pro Bold"/>
                <a:ea typeface="Crimson Pro Bold"/>
                <a:cs typeface="Crimson Pro Bold"/>
                <a:sym typeface="Crimson Pro Bold"/>
              </a:rPr>
              <a:t>Comprehensive Feature Extraction Across Brainwave Bands</a:t>
            </a:r>
          </a:p>
        </p:txBody>
      </p:sp>
      <p:sp>
        <p:nvSpPr>
          <p:cNvPr name="TextBox 10" id="10"/>
          <p:cNvSpPr txBox="true"/>
          <p:nvPr/>
        </p:nvSpPr>
        <p:spPr>
          <a:xfrm rot="0">
            <a:off x="992238" y="1892503"/>
            <a:ext cx="16303523" cy="342309"/>
          </a:xfrm>
          <a:prstGeom prst="rect">
            <a:avLst/>
          </a:prstGeom>
        </p:spPr>
        <p:txBody>
          <a:bodyPr anchor="t" rtlCol="false" tIns="0" lIns="0" bIns="0" rIns="0">
            <a:spAutoFit/>
          </a:bodyPr>
          <a:lstStyle/>
          <a:p>
            <a:pPr algn="l">
              <a:lnSpc>
                <a:spcPts val="2312"/>
              </a:lnSpc>
            </a:pPr>
            <a:r>
              <a:rPr lang="en-US" sz="1437">
                <a:solidFill>
                  <a:srgbClr val="4C4C4D"/>
                </a:solidFill>
                <a:latin typeface="Heebo"/>
                <a:ea typeface="Heebo"/>
                <a:cs typeface="Heebo"/>
                <a:sym typeface="Heebo"/>
              </a:rPr>
              <a:t>We extracted 280 features by analysing five key frequency bands, each indicative of different cognitive and emotional states.</a:t>
            </a:r>
          </a:p>
        </p:txBody>
      </p:sp>
      <p:grpSp>
        <p:nvGrpSpPr>
          <p:cNvPr name="Group 11" id="11"/>
          <p:cNvGrpSpPr/>
          <p:nvPr/>
        </p:nvGrpSpPr>
        <p:grpSpPr>
          <a:xfrm rot="0">
            <a:off x="992238" y="2442124"/>
            <a:ext cx="737149" cy="1105643"/>
            <a:chOff x="0" y="0"/>
            <a:chExt cx="982866" cy="1474191"/>
          </a:xfrm>
        </p:grpSpPr>
        <p:sp>
          <p:nvSpPr>
            <p:cNvPr name="Freeform 12" id="12"/>
            <p:cNvSpPr/>
            <p:nvPr/>
          </p:nvSpPr>
          <p:spPr>
            <a:xfrm flipH="false" flipV="false" rot="0">
              <a:off x="0" y="0"/>
              <a:ext cx="982980" cy="1474216"/>
            </a:xfrm>
            <a:custGeom>
              <a:avLst/>
              <a:gdLst/>
              <a:ahLst/>
              <a:cxnLst/>
              <a:rect r="r" b="b" t="t" l="l"/>
              <a:pathLst>
                <a:path h="1474216" w="982980">
                  <a:moveTo>
                    <a:pt x="0" y="491490"/>
                  </a:moveTo>
                  <a:cubicBezTo>
                    <a:pt x="0" y="219964"/>
                    <a:pt x="219964" y="0"/>
                    <a:pt x="491490" y="0"/>
                  </a:cubicBezTo>
                  <a:cubicBezTo>
                    <a:pt x="763016" y="0"/>
                    <a:pt x="982980" y="219964"/>
                    <a:pt x="982980" y="491490"/>
                  </a:cubicBezTo>
                  <a:lnTo>
                    <a:pt x="982980" y="982726"/>
                  </a:lnTo>
                  <a:cubicBezTo>
                    <a:pt x="982980" y="1254125"/>
                    <a:pt x="763016" y="1474216"/>
                    <a:pt x="491490" y="1474216"/>
                  </a:cubicBezTo>
                  <a:cubicBezTo>
                    <a:pt x="219964" y="1474216"/>
                    <a:pt x="0" y="1254125"/>
                    <a:pt x="0" y="982726"/>
                  </a:cubicBezTo>
                  <a:close/>
                </a:path>
              </a:pathLst>
            </a:custGeom>
            <a:solidFill>
              <a:srgbClr val="F2EEEE"/>
            </a:solidFill>
            <a:ln w="12700">
              <a:solidFill>
                <a:srgbClr val="000000"/>
              </a:solidFill>
            </a:ln>
          </p:spPr>
        </p:sp>
      </p:grpSp>
      <p:sp>
        <p:nvSpPr>
          <p:cNvPr name="TextBox 13" id="13"/>
          <p:cNvSpPr txBox="true"/>
          <p:nvPr/>
        </p:nvSpPr>
        <p:spPr>
          <a:xfrm rot="0">
            <a:off x="1222619" y="2850804"/>
            <a:ext cx="276377" cy="316859"/>
          </a:xfrm>
          <a:prstGeom prst="rect">
            <a:avLst/>
          </a:prstGeom>
        </p:spPr>
        <p:txBody>
          <a:bodyPr anchor="t" rtlCol="false" tIns="0" lIns="0" bIns="0" rIns="0">
            <a:spAutoFit/>
          </a:bodyPr>
          <a:lstStyle/>
          <a:p>
            <a:pPr algn="l">
              <a:lnSpc>
                <a:spcPts val="2125"/>
              </a:lnSpc>
            </a:pPr>
            <a:r>
              <a:rPr lang="en-US" sz="2125" b="true">
                <a:solidFill>
                  <a:srgbClr val="4C4C4D"/>
                </a:solidFill>
                <a:latin typeface="Crimson Pro Bold"/>
                <a:ea typeface="Crimson Pro Bold"/>
                <a:cs typeface="Crimson Pro Bold"/>
                <a:sym typeface="Crimson Pro Bold"/>
              </a:rPr>
              <a:t>1</a:t>
            </a:r>
          </a:p>
        </p:txBody>
      </p:sp>
      <p:sp>
        <p:nvSpPr>
          <p:cNvPr name="TextBox 14" id="14"/>
          <p:cNvSpPr txBox="true"/>
          <p:nvPr/>
        </p:nvSpPr>
        <p:spPr>
          <a:xfrm rot="0">
            <a:off x="1913630" y="2607316"/>
            <a:ext cx="2303707" cy="307029"/>
          </a:xfrm>
          <a:prstGeom prst="rect">
            <a:avLst/>
          </a:prstGeom>
        </p:spPr>
        <p:txBody>
          <a:bodyPr anchor="t" rtlCol="false" tIns="0" lIns="0" bIns="0" rIns="0">
            <a:spAutoFit/>
          </a:bodyPr>
          <a:lstStyle/>
          <a:p>
            <a:pPr algn="l">
              <a:lnSpc>
                <a:spcPts val="2249"/>
              </a:lnSpc>
            </a:pPr>
            <a:r>
              <a:rPr lang="en-US" sz="1812" b="true">
                <a:solidFill>
                  <a:srgbClr val="4C4C4D"/>
                </a:solidFill>
                <a:latin typeface="Crimson Pro Bold"/>
                <a:ea typeface="Crimson Pro Bold"/>
                <a:cs typeface="Crimson Pro Bold"/>
                <a:sym typeface="Crimson Pro Bold"/>
              </a:rPr>
              <a:t>Delta (0.5-4 Hz)</a:t>
            </a:r>
          </a:p>
        </p:txBody>
      </p:sp>
      <p:sp>
        <p:nvSpPr>
          <p:cNvPr name="TextBox 15" id="15"/>
          <p:cNvSpPr txBox="true"/>
          <p:nvPr/>
        </p:nvSpPr>
        <p:spPr>
          <a:xfrm rot="0">
            <a:off x="1913630" y="2977153"/>
            <a:ext cx="15382132" cy="342309"/>
          </a:xfrm>
          <a:prstGeom prst="rect">
            <a:avLst/>
          </a:prstGeom>
        </p:spPr>
        <p:txBody>
          <a:bodyPr anchor="t" rtlCol="false" tIns="0" lIns="0" bIns="0" rIns="0">
            <a:spAutoFit/>
          </a:bodyPr>
          <a:lstStyle/>
          <a:p>
            <a:pPr algn="l">
              <a:lnSpc>
                <a:spcPts val="2312"/>
              </a:lnSpc>
            </a:pPr>
            <a:r>
              <a:rPr lang="en-US" sz="1437">
                <a:solidFill>
                  <a:srgbClr val="4C4C4D"/>
                </a:solidFill>
                <a:latin typeface="Heebo"/>
                <a:ea typeface="Heebo"/>
                <a:cs typeface="Heebo"/>
                <a:sym typeface="Heebo"/>
              </a:rPr>
              <a:t>Associated with deep sleep and profound relaxation.</a:t>
            </a:r>
          </a:p>
        </p:txBody>
      </p:sp>
      <p:grpSp>
        <p:nvGrpSpPr>
          <p:cNvPr name="Group 16" id="16"/>
          <p:cNvGrpSpPr/>
          <p:nvPr/>
        </p:nvGrpSpPr>
        <p:grpSpPr>
          <a:xfrm rot="0">
            <a:off x="992238" y="3732009"/>
            <a:ext cx="737149" cy="1105643"/>
            <a:chOff x="0" y="0"/>
            <a:chExt cx="982866" cy="1474191"/>
          </a:xfrm>
        </p:grpSpPr>
        <p:sp>
          <p:nvSpPr>
            <p:cNvPr name="Freeform 17" id="17"/>
            <p:cNvSpPr/>
            <p:nvPr/>
          </p:nvSpPr>
          <p:spPr>
            <a:xfrm flipH="false" flipV="false" rot="0">
              <a:off x="0" y="0"/>
              <a:ext cx="982980" cy="1474216"/>
            </a:xfrm>
            <a:custGeom>
              <a:avLst/>
              <a:gdLst/>
              <a:ahLst/>
              <a:cxnLst/>
              <a:rect r="r" b="b" t="t" l="l"/>
              <a:pathLst>
                <a:path h="1474216" w="982980">
                  <a:moveTo>
                    <a:pt x="0" y="491490"/>
                  </a:moveTo>
                  <a:cubicBezTo>
                    <a:pt x="0" y="219964"/>
                    <a:pt x="219964" y="0"/>
                    <a:pt x="491490" y="0"/>
                  </a:cubicBezTo>
                  <a:cubicBezTo>
                    <a:pt x="763016" y="0"/>
                    <a:pt x="982980" y="219964"/>
                    <a:pt x="982980" y="491490"/>
                  </a:cubicBezTo>
                  <a:lnTo>
                    <a:pt x="982980" y="982726"/>
                  </a:lnTo>
                  <a:cubicBezTo>
                    <a:pt x="982980" y="1254125"/>
                    <a:pt x="763016" y="1474216"/>
                    <a:pt x="491490" y="1474216"/>
                  </a:cubicBezTo>
                  <a:cubicBezTo>
                    <a:pt x="219964" y="1474216"/>
                    <a:pt x="0" y="1254125"/>
                    <a:pt x="0" y="982726"/>
                  </a:cubicBezTo>
                  <a:close/>
                </a:path>
              </a:pathLst>
            </a:custGeom>
            <a:solidFill>
              <a:srgbClr val="F2EEEE"/>
            </a:solidFill>
            <a:ln w="12700">
              <a:solidFill>
                <a:srgbClr val="000000"/>
              </a:solidFill>
            </a:ln>
          </p:spPr>
        </p:sp>
      </p:grpSp>
      <p:sp>
        <p:nvSpPr>
          <p:cNvPr name="TextBox 18" id="18"/>
          <p:cNvSpPr txBox="true"/>
          <p:nvPr/>
        </p:nvSpPr>
        <p:spPr>
          <a:xfrm rot="0">
            <a:off x="1222619" y="4140698"/>
            <a:ext cx="276377" cy="316859"/>
          </a:xfrm>
          <a:prstGeom prst="rect">
            <a:avLst/>
          </a:prstGeom>
        </p:spPr>
        <p:txBody>
          <a:bodyPr anchor="t" rtlCol="false" tIns="0" lIns="0" bIns="0" rIns="0">
            <a:spAutoFit/>
          </a:bodyPr>
          <a:lstStyle/>
          <a:p>
            <a:pPr algn="l">
              <a:lnSpc>
                <a:spcPts val="2125"/>
              </a:lnSpc>
            </a:pPr>
            <a:r>
              <a:rPr lang="en-US" sz="2125" b="true">
                <a:solidFill>
                  <a:srgbClr val="4C4C4D"/>
                </a:solidFill>
                <a:latin typeface="Crimson Pro Bold"/>
                <a:ea typeface="Crimson Pro Bold"/>
                <a:cs typeface="Crimson Pro Bold"/>
                <a:sym typeface="Crimson Pro Bold"/>
              </a:rPr>
              <a:t>2</a:t>
            </a:r>
          </a:p>
        </p:txBody>
      </p:sp>
      <p:sp>
        <p:nvSpPr>
          <p:cNvPr name="TextBox 19" id="19"/>
          <p:cNvSpPr txBox="true"/>
          <p:nvPr/>
        </p:nvSpPr>
        <p:spPr>
          <a:xfrm rot="0">
            <a:off x="1913630" y="3897211"/>
            <a:ext cx="2303707" cy="307029"/>
          </a:xfrm>
          <a:prstGeom prst="rect">
            <a:avLst/>
          </a:prstGeom>
        </p:spPr>
        <p:txBody>
          <a:bodyPr anchor="t" rtlCol="false" tIns="0" lIns="0" bIns="0" rIns="0">
            <a:spAutoFit/>
          </a:bodyPr>
          <a:lstStyle/>
          <a:p>
            <a:pPr algn="l">
              <a:lnSpc>
                <a:spcPts val="2249"/>
              </a:lnSpc>
            </a:pPr>
            <a:r>
              <a:rPr lang="en-US" sz="1812" b="true">
                <a:solidFill>
                  <a:srgbClr val="4C4C4D"/>
                </a:solidFill>
                <a:latin typeface="Crimson Pro Bold"/>
                <a:ea typeface="Crimson Pro Bold"/>
                <a:cs typeface="Crimson Pro Bold"/>
                <a:sym typeface="Crimson Pro Bold"/>
              </a:rPr>
              <a:t>Theta (4-8 Hz)</a:t>
            </a:r>
          </a:p>
        </p:txBody>
      </p:sp>
      <p:sp>
        <p:nvSpPr>
          <p:cNvPr name="TextBox 20" id="20"/>
          <p:cNvSpPr txBox="true"/>
          <p:nvPr/>
        </p:nvSpPr>
        <p:spPr>
          <a:xfrm rot="0">
            <a:off x="1913630" y="4267048"/>
            <a:ext cx="15382132" cy="342309"/>
          </a:xfrm>
          <a:prstGeom prst="rect">
            <a:avLst/>
          </a:prstGeom>
        </p:spPr>
        <p:txBody>
          <a:bodyPr anchor="t" rtlCol="false" tIns="0" lIns="0" bIns="0" rIns="0">
            <a:spAutoFit/>
          </a:bodyPr>
          <a:lstStyle/>
          <a:p>
            <a:pPr algn="l">
              <a:lnSpc>
                <a:spcPts val="2312"/>
              </a:lnSpc>
            </a:pPr>
            <a:r>
              <a:rPr lang="en-US" sz="1437">
                <a:solidFill>
                  <a:srgbClr val="4C4C4D"/>
                </a:solidFill>
                <a:latin typeface="Heebo"/>
                <a:ea typeface="Heebo"/>
                <a:cs typeface="Heebo"/>
                <a:sym typeface="Heebo"/>
              </a:rPr>
              <a:t>Linked to emotional processing, memory, and meditative states.</a:t>
            </a:r>
          </a:p>
        </p:txBody>
      </p:sp>
      <p:grpSp>
        <p:nvGrpSpPr>
          <p:cNvPr name="Group 21" id="21"/>
          <p:cNvGrpSpPr/>
          <p:nvPr/>
        </p:nvGrpSpPr>
        <p:grpSpPr>
          <a:xfrm rot="0">
            <a:off x="992238" y="5021904"/>
            <a:ext cx="737149" cy="1105643"/>
            <a:chOff x="0" y="0"/>
            <a:chExt cx="982866" cy="1474191"/>
          </a:xfrm>
        </p:grpSpPr>
        <p:sp>
          <p:nvSpPr>
            <p:cNvPr name="Freeform 22" id="22"/>
            <p:cNvSpPr/>
            <p:nvPr/>
          </p:nvSpPr>
          <p:spPr>
            <a:xfrm flipH="false" flipV="false" rot="0">
              <a:off x="0" y="0"/>
              <a:ext cx="982980" cy="1474216"/>
            </a:xfrm>
            <a:custGeom>
              <a:avLst/>
              <a:gdLst/>
              <a:ahLst/>
              <a:cxnLst/>
              <a:rect r="r" b="b" t="t" l="l"/>
              <a:pathLst>
                <a:path h="1474216" w="982980">
                  <a:moveTo>
                    <a:pt x="0" y="491490"/>
                  </a:moveTo>
                  <a:cubicBezTo>
                    <a:pt x="0" y="219964"/>
                    <a:pt x="219964" y="0"/>
                    <a:pt x="491490" y="0"/>
                  </a:cubicBezTo>
                  <a:cubicBezTo>
                    <a:pt x="763016" y="0"/>
                    <a:pt x="982980" y="219964"/>
                    <a:pt x="982980" y="491490"/>
                  </a:cubicBezTo>
                  <a:lnTo>
                    <a:pt x="982980" y="982726"/>
                  </a:lnTo>
                  <a:cubicBezTo>
                    <a:pt x="982980" y="1254125"/>
                    <a:pt x="763016" y="1474216"/>
                    <a:pt x="491490" y="1474216"/>
                  </a:cubicBezTo>
                  <a:cubicBezTo>
                    <a:pt x="219964" y="1474216"/>
                    <a:pt x="0" y="1254125"/>
                    <a:pt x="0" y="982726"/>
                  </a:cubicBezTo>
                  <a:close/>
                </a:path>
              </a:pathLst>
            </a:custGeom>
            <a:solidFill>
              <a:srgbClr val="F2EEEE"/>
            </a:solidFill>
            <a:ln w="12700">
              <a:solidFill>
                <a:srgbClr val="000000"/>
              </a:solidFill>
            </a:ln>
          </p:spPr>
        </p:sp>
      </p:grpSp>
      <p:sp>
        <p:nvSpPr>
          <p:cNvPr name="TextBox 23" id="23"/>
          <p:cNvSpPr txBox="true"/>
          <p:nvPr/>
        </p:nvSpPr>
        <p:spPr>
          <a:xfrm rot="0">
            <a:off x="1222619" y="5430593"/>
            <a:ext cx="276377" cy="316859"/>
          </a:xfrm>
          <a:prstGeom prst="rect">
            <a:avLst/>
          </a:prstGeom>
        </p:spPr>
        <p:txBody>
          <a:bodyPr anchor="t" rtlCol="false" tIns="0" lIns="0" bIns="0" rIns="0">
            <a:spAutoFit/>
          </a:bodyPr>
          <a:lstStyle/>
          <a:p>
            <a:pPr algn="l">
              <a:lnSpc>
                <a:spcPts val="2125"/>
              </a:lnSpc>
            </a:pPr>
            <a:r>
              <a:rPr lang="en-US" sz="2125" b="true">
                <a:solidFill>
                  <a:srgbClr val="4C4C4D"/>
                </a:solidFill>
                <a:latin typeface="Crimson Pro Bold"/>
                <a:ea typeface="Crimson Pro Bold"/>
                <a:cs typeface="Crimson Pro Bold"/>
                <a:sym typeface="Crimson Pro Bold"/>
              </a:rPr>
              <a:t>3</a:t>
            </a:r>
          </a:p>
        </p:txBody>
      </p:sp>
      <p:sp>
        <p:nvSpPr>
          <p:cNvPr name="TextBox 24" id="24"/>
          <p:cNvSpPr txBox="true"/>
          <p:nvPr/>
        </p:nvSpPr>
        <p:spPr>
          <a:xfrm rot="0">
            <a:off x="1913630" y="5187105"/>
            <a:ext cx="2303707" cy="307029"/>
          </a:xfrm>
          <a:prstGeom prst="rect">
            <a:avLst/>
          </a:prstGeom>
        </p:spPr>
        <p:txBody>
          <a:bodyPr anchor="t" rtlCol="false" tIns="0" lIns="0" bIns="0" rIns="0">
            <a:spAutoFit/>
          </a:bodyPr>
          <a:lstStyle/>
          <a:p>
            <a:pPr algn="l">
              <a:lnSpc>
                <a:spcPts val="2249"/>
              </a:lnSpc>
            </a:pPr>
            <a:r>
              <a:rPr lang="en-US" sz="1812" b="true">
                <a:solidFill>
                  <a:srgbClr val="4C4C4D"/>
                </a:solidFill>
                <a:latin typeface="Crimson Pro Bold"/>
                <a:ea typeface="Crimson Pro Bold"/>
                <a:cs typeface="Crimson Pro Bold"/>
                <a:sym typeface="Crimson Pro Bold"/>
              </a:rPr>
              <a:t>Alpha (8-13 Hz)</a:t>
            </a:r>
          </a:p>
        </p:txBody>
      </p:sp>
      <p:sp>
        <p:nvSpPr>
          <p:cNvPr name="TextBox 25" id="25"/>
          <p:cNvSpPr txBox="true"/>
          <p:nvPr/>
        </p:nvSpPr>
        <p:spPr>
          <a:xfrm rot="0">
            <a:off x="1913630" y="5556942"/>
            <a:ext cx="15382132" cy="342309"/>
          </a:xfrm>
          <a:prstGeom prst="rect">
            <a:avLst/>
          </a:prstGeom>
        </p:spPr>
        <p:txBody>
          <a:bodyPr anchor="t" rtlCol="false" tIns="0" lIns="0" bIns="0" rIns="0">
            <a:spAutoFit/>
          </a:bodyPr>
          <a:lstStyle/>
          <a:p>
            <a:pPr algn="l">
              <a:lnSpc>
                <a:spcPts val="2312"/>
              </a:lnSpc>
            </a:pPr>
            <a:r>
              <a:rPr lang="en-US" sz="1437">
                <a:solidFill>
                  <a:srgbClr val="4C4C4D"/>
                </a:solidFill>
                <a:latin typeface="Heebo"/>
                <a:ea typeface="Heebo"/>
                <a:cs typeface="Heebo"/>
                <a:sym typeface="Heebo"/>
              </a:rPr>
              <a:t>Reflects states of relaxation, calmness, and creativity.</a:t>
            </a:r>
          </a:p>
        </p:txBody>
      </p:sp>
      <p:grpSp>
        <p:nvGrpSpPr>
          <p:cNvPr name="Group 26" id="26"/>
          <p:cNvGrpSpPr/>
          <p:nvPr/>
        </p:nvGrpSpPr>
        <p:grpSpPr>
          <a:xfrm rot="0">
            <a:off x="992238" y="6311798"/>
            <a:ext cx="737149" cy="1105643"/>
            <a:chOff x="0" y="0"/>
            <a:chExt cx="982866" cy="1474191"/>
          </a:xfrm>
        </p:grpSpPr>
        <p:sp>
          <p:nvSpPr>
            <p:cNvPr name="Freeform 27" id="27"/>
            <p:cNvSpPr/>
            <p:nvPr/>
          </p:nvSpPr>
          <p:spPr>
            <a:xfrm flipH="false" flipV="false" rot="0">
              <a:off x="0" y="0"/>
              <a:ext cx="982980" cy="1474216"/>
            </a:xfrm>
            <a:custGeom>
              <a:avLst/>
              <a:gdLst/>
              <a:ahLst/>
              <a:cxnLst/>
              <a:rect r="r" b="b" t="t" l="l"/>
              <a:pathLst>
                <a:path h="1474216" w="982980">
                  <a:moveTo>
                    <a:pt x="0" y="491490"/>
                  </a:moveTo>
                  <a:cubicBezTo>
                    <a:pt x="0" y="219964"/>
                    <a:pt x="219964" y="0"/>
                    <a:pt x="491490" y="0"/>
                  </a:cubicBezTo>
                  <a:cubicBezTo>
                    <a:pt x="763016" y="0"/>
                    <a:pt x="982980" y="219964"/>
                    <a:pt x="982980" y="491490"/>
                  </a:cubicBezTo>
                  <a:lnTo>
                    <a:pt x="982980" y="982726"/>
                  </a:lnTo>
                  <a:cubicBezTo>
                    <a:pt x="982980" y="1254125"/>
                    <a:pt x="763016" y="1474216"/>
                    <a:pt x="491490" y="1474216"/>
                  </a:cubicBezTo>
                  <a:cubicBezTo>
                    <a:pt x="219964" y="1474216"/>
                    <a:pt x="0" y="1254125"/>
                    <a:pt x="0" y="982726"/>
                  </a:cubicBezTo>
                  <a:close/>
                </a:path>
              </a:pathLst>
            </a:custGeom>
            <a:solidFill>
              <a:srgbClr val="F2EEEE"/>
            </a:solidFill>
            <a:ln w="12700">
              <a:solidFill>
                <a:srgbClr val="000000"/>
              </a:solidFill>
            </a:ln>
          </p:spPr>
        </p:sp>
      </p:grpSp>
      <p:sp>
        <p:nvSpPr>
          <p:cNvPr name="TextBox 28" id="28"/>
          <p:cNvSpPr txBox="true"/>
          <p:nvPr/>
        </p:nvSpPr>
        <p:spPr>
          <a:xfrm rot="0">
            <a:off x="1222619" y="6720478"/>
            <a:ext cx="276377" cy="316859"/>
          </a:xfrm>
          <a:prstGeom prst="rect">
            <a:avLst/>
          </a:prstGeom>
        </p:spPr>
        <p:txBody>
          <a:bodyPr anchor="t" rtlCol="false" tIns="0" lIns="0" bIns="0" rIns="0">
            <a:spAutoFit/>
          </a:bodyPr>
          <a:lstStyle/>
          <a:p>
            <a:pPr algn="l">
              <a:lnSpc>
                <a:spcPts val="2125"/>
              </a:lnSpc>
            </a:pPr>
            <a:r>
              <a:rPr lang="en-US" sz="2125" b="true">
                <a:solidFill>
                  <a:srgbClr val="4C4C4D"/>
                </a:solidFill>
                <a:latin typeface="Crimson Pro Bold"/>
                <a:ea typeface="Crimson Pro Bold"/>
                <a:cs typeface="Crimson Pro Bold"/>
                <a:sym typeface="Crimson Pro Bold"/>
              </a:rPr>
              <a:t>4</a:t>
            </a:r>
          </a:p>
        </p:txBody>
      </p:sp>
      <p:sp>
        <p:nvSpPr>
          <p:cNvPr name="TextBox 29" id="29"/>
          <p:cNvSpPr txBox="true"/>
          <p:nvPr/>
        </p:nvSpPr>
        <p:spPr>
          <a:xfrm rot="0">
            <a:off x="1913630" y="6477000"/>
            <a:ext cx="2303707" cy="307029"/>
          </a:xfrm>
          <a:prstGeom prst="rect">
            <a:avLst/>
          </a:prstGeom>
        </p:spPr>
        <p:txBody>
          <a:bodyPr anchor="t" rtlCol="false" tIns="0" lIns="0" bIns="0" rIns="0">
            <a:spAutoFit/>
          </a:bodyPr>
          <a:lstStyle/>
          <a:p>
            <a:pPr algn="l">
              <a:lnSpc>
                <a:spcPts val="2249"/>
              </a:lnSpc>
            </a:pPr>
            <a:r>
              <a:rPr lang="en-US" sz="1812" b="true">
                <a:solidFill>
                  <a:srgbClr val="4C4C4D"/>
                </a:solidFill>
                <a:latin typeface="Crimson Pro Bold"/>
                <a:ea typeface="Crimson Pro Bold"/>
                <a:cs typeface="Crimson Pro Bold"/>
                <a:sym typeface="Crimson Pro Bold"/>
              </a:rPr>
              <a:t>Beta (13-30 Hz)</a:t>
            </a:r>
          </a:p>
        </p:txBody>
      </p:sp>
      <p:sp>
        <p:nvSpPr>
          <p:cNvPr name="TextBox 30" id="30"/>
          <p:cNvSpPr txBox="true"/>
          <p:nvPr/>
        </p:nvSpPr>
        <p:spPr>
          <a:xfrm rot="0">
            <a:off x="1913630" y="6846837"/>
            <a:ext cx="15382132" cy="342309"/>
          </a:xfrm>
          <a:prstGeom prst="rect">
            <a:avLst/>
          </a:prstGeom>
        </p:spPr>
        <p:txBody>
          <a:bodyPr anchor="t" rtlCol="false" tIns="0" lIns="0" bIns="0" rIns="0">
            <a:spAutoFit/>
          </a:bodyPr>
          <a:lstStyle/>
          <a:p>
            <a:pPr algn="l">
              <a:lnSpc>
                <a:spcPts val="2312"/>
              </a:lnSpc>
            </a:pPr>
            <a:r>
              <a:rPr lang="en-US" sz="1437">
                <a:solidFill>
                  <a:srgbClr val="4C4C4D"/>
                </a:solidFill>
                <a:latin typeface="Heebo"/>
                <a:ea typeface="Heebo"/>
                <a:cs typeface="Heebo"/>
                <a:sym typeface="Heebo"/>
              </a:rPr>
              <a:t>Dominant during active thinking, concentration, and problem-solving.</a:t>
            </a:r>
          </a:p>
        </p:txBody>
      </p:sp>
      <p:grpSp>
        <p:nvGrpSpPr>
          <p:cNvPr name="Group 31" id="31"/>
          <p:cNvGrpSpPr/>
          <p:nvPr/>
        </p:nvGrpSpPr>
        <p:grpSpPr>
          <a:xfrm rot="0">
            <a:off x="992238" y="7601693"/>
            <a:ext cx="737149" cy="1105643"/>
            <a:chOff x="0" y="0"/>
            <a:chExt cx="982866" cy="1474191"/>
          </a:xfrm>
        </p:grpSpPr>
        <p:sp>
          <p:nvSpPr>
            <p:cNvPr name="Freeform 32" id="32"/>
            <p:cNvSpPr/>
            <p:nvPr/>
          </p:nvSpPr>
          <p:spPr>
            <a:xfrm flipH="false" flipV="false" rot="0">
              <a:off x="0" y="0"/>
              <a:ext cx="982980" cy="1474216"/>
            </a:xfrm>
            <a:custGeom>
              <a:avLst/>
              <a:gdLst/>
              <a:ahLst/>
              <a:cxnLst/>
              <a:rect r="r" b="b" t="t" l="l"/>
              <a:pathLst>
                <a:path h="1474216" w="982980">
                  <a:moveTo>
                    <a:pt x="0" y="491490"/>
                  </a:moveTo>
                  <a:cubicBezTo>
                    <a:pt x="0" y="219964"/>
                    <a:pt x="219964" y="0"/>
                    <a:pt x="491490" y="0"/>
                  </a:cubicBezTo>
                  <a:cubicBezTo>
                    <a:pt x="763016" y="0"/>
                    <a:pt x="982980" y="219964"/>
                    <a:pt x="982980" y="491490"/>
                  </a:cubicBezTo>
                  <a:lnTo>
                    <a:pt x="982980" y="982726"/>
                  </a:lnTo>
                  <a:cubicBezTo>
                    <a:pt x="982980" y="1254125"/>
                    <a:pt x="763016" y="1474216"/>
                    <a:pt x="491490" y="1474216"/>
                  </a:cubicBezTo>
                  <a:cubicBezTo>
                    <a:pt x="219964" y="1474216"/>
                    <a:pt x="0" y="1254125"/>
                    <a:pt x="0" y="982726"/>
                  </a:cubicBezTo>
                  <a:close/>
                </a:path>
              </a:pathLst>
            </a:custGeom>
            <a:solidFill>
              <a:srgbClr val="F2EEEE"/>
            </a:solidFill>
            <a:ln w="12700">
              <a:solidFill>
                <a:srgbClr val="000000"/>
              </a:solidFill>
            </a:ln>
          </p:spPr>
        </p:sp>
      </p:grpSp>
      <p:sp>
        <p:nvSpPr>
          <p:cNvPr name="TextBox 33" id="33"/>
          <p:cNvSpPr txBox="true"/>
          <p:nvPr/>
        </p:nvSpPr>
        <p:spPr>
          <a:xfrm rot="0">
            <a:off x="1222619" y="8010373"/>
            <a:ext cx="276377" cy="316859"/>
          </a:xfrm>
          <a:prstGeom prst="rect">
            <a:avLst/>
          </a:prstGeom>
        </p:spPr>
        <p:txBody>
          <a:bodyPr anchor="t" rtlCol="false" tIns="0" lIns="0" bIns="0" rIns="0">
            <a:spAutoFit/>
          </a:bodyPr>
          <a:lstStyle/>
          <a:p>
            <a:pPr algn="l">
              <a:lnSpc>
                <a:spcPts val="2125"/>
              </a:lnSpc>
            </a:pPr>
            <a:r>
              <a:rPr lang="en-US" sz="2125" b="true">
                <a:solidFill>
                  <a:srgbClr val="4C4C4D"/>
                </a:solidFill>
                <a:latin typeface="Crimson Pro Bold"/>
                <a:ea typeface="Crimson Pro Bold"/>
                <a:cs typeface="Crimson Pro Bold"/>
                <a:sym typeface="Crimson Pro Bold"/>
              </a:rPr>
              <a:t>5</a:t>
            </a:r>
          </a:p>
        </p:txBody>
      </p:sp>
      <p:sp>
        <p:nvSpPr>
          <p:cNvPr name="TextBox 34" id="34"/>
          <p:cNvSpPr txBox="true"/>
          <p:nvPr/>
        </p:nvSpPr>
        <p:spPr>
          <a:xfrm rot="0">
            <a:off x="1913630" y="7766895"/>
            <a:ext cx="2303707" cy="307029"/>
          </a:xfrm>
          <a:prstGeom prst="rect">
            <a:avLst/>
          </a:prstGeom>
        </p:spPr>
        <p:txBody>
          <a:bodyPr anchor="t" rtlCol="false" tIns="0" lIns="0" bIns="0" rIns="0">
            <a:spAutoFit/>
          </a:bodyPr>
          <a:lstStyle/>
          <a:p>
            <a:pPr algn="l">
              <a:lnSpc>
                <a:spcPts val="2249"/>
              </a:lnSpc>
            </a:pPr>
            <a:r>
              <a:rPr lang="en-US" sz="1812" b="true">
                <a:solidFill>
                  <a:srgbClr val="4C4C4D"/>
                </a:solidFill>
                <a:latin typeface="Crimson Pro Bold"/>
                <a:ea typeface="Crimson Pro Bold"/>
                <a:cs typeface="Crimson Pro Bold"/>
                <a:sym typeface="Crimson Pro Bold"/>
              </a:rPr>
              <a:t>Gamma (30-45 Hz)</a:t>
            </a:r>
          </a:p>
        </p:txBody>
      </p:sp>
      <p:sp>
        <p:nvSpPr>
          <p:cNvPr name="TextBox 35" id="35"/>
          <p:cNvSpPr txBox="true"/>
          <p:nvPr/>
        </p:nvSpPr>
        <p:spPr>
          <a:xfrm rot="0">
            <a:off x="1913630" y="8136731"/>
            <a:ext cx="15382132" cy="342309"/>
          </a:xfrm>
          <a:prstGeom prst="rect">
            <a:avLst/>
          </a:prstGeom>
        </p:spPr>
        <p:txBody>
          <a:bodyPr anchor="t" rtlCol="false" tIns="0" lIns="0" bIns="0" rIns="0">
            <a:spAutoFit/>
          </a:bodyPr>
          <a:lstStyle/>
          <a:p>
            <a:pPr algn="l">
              <a:lnSpc>
                <a:spcPts val="2312"/>
              </a:lnSpc>
            </a:pPr>
            <a:r>
              <a:rPr lang="en-US" sz="1437">
                <a:solidFill>
                  <a:srgbClr val="4C4C4D"/>
                </a:solidFill>
                <a:latin typeface="Heebo"/>
                <a:ea typeface="Heebo"/>
                <a:cs typeface="Heebo"/>
                <a:sym typeface="Heebo"/>
              </a:rPr>
              <a:t>Involved in high-level cognitive processing and conscious perception.</a:t>
            </a:r>
          </a:p>
        </p:txBody>
      </p:sp>
      <p:sp>
        <p:nvSpPr>
          <p:cNvPr name="TextBox 36" id="36"/>
          <p:cNvSpPr txBox="true"/>
          <p:nvPr/>
        </p:nvSpPr>
        <p:spPr>
          <a:xfrm rot="0">
            <a:off x="992238" y="8867032"/>
            <a:ext cx="16303523" cy="636984"/>
          </a:xfrm>
          <a:prstGeom prst="rect">
            <a:avLst/>
          </a:prstGeom>
        </p:spPr>
        <p:txBody>
          <a:bodyPr anchor="t" rtlCol="false" tIns="0" lIns="0" bIns="0" rIns="0">
            <a:spAutoFit/>
          </a:bodyPr>
          <a:lstStyle/>
          <a:p>
            <a:pPr algn="l">
              <a:lnSpc>
                <a:spcPts val="2312"/>
              </a:lnSpc>
            </a:pPr>
            <a:r>
              <a:rPr lang="en-US" sz="1437">
                <a:solidFill>
                  <a:srgbClr val="4C4C4D"/>
                </a:solidFill>
                <a:latin typeface="Heebo"/>
                <a:ea typeface="Heebo"/>
                <a:cs typeface="Heebo"/>
                <a:sym typeface="Heebo"/>
              </a:rPr>
              <a:t>For each band, we extracted statistical features (mean, std, max, min, skewness, kurtosis) from 14 channels, complemented by hemispheric asymmetry, band power ratios, and regional features (frontal, temporal, parietal, occipital). This totalled 280 distinct features for our models.</a:t>
            </a:r>
          </a:p>
        </p:txBody>
      </p:sp>
    </p:spTree>
  </p:cSld>
  <p:clrMapOvr>
    <a:masterClrMapping/>
  </p:clrMapOvr>
</p:sld>
</file>

<file path=ppt/slides/slide7.xml><?xml version="1.0" encoding="utf-8"?>
<p:sld xmlns:p="http://schemas.openxmlformats.org/presentationml/2006/main" xmlns:a="http://schemas.openxmlformats.org/drawingml/2006/main">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0F0F1"/>
            </a:solidFill>
            <a:ln w="12700">
              <a:solidFill>
                <a:srgbClr val="000000"/>
              </a:solidFill>
            </a:ln>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FFFFF"/>
            </a:solidFill>
            <a:ln w="12700">
              <a:solidFill>
                <a:srgbClr val="000000"/>
              </a:solidFill>
            </a:ln>
          </p:spPr>
        </p:sp>
      </p:grpSp>
      <p:grpSp>
        <p:nvGrpSpPr>
          <p:cNvPr name="Group 6" id="6"/>
          <p:cNvGrpSpPr/>
          <p:nvPr/>
        </p:nvGrpSpPr>
        <p:grpSpPr>
          <a:xfrm rot="0">
            <a:off x="992238" y="3888134"/>
            <a:ext cx="1005926" cy="426244"/>
            <a:chOff x="0" y="0"/>
            <a:chExt cx="1341234" cy="568325"/>
          </a:xfrm>
        </p:grpSpPr>
        <p:sp>
          <p:nvSpPr>
            <p:cNvPr name="Freeform 7" id="7"/>
            <p:cNvSpPr/>
            <p:nvPr/>
          </p:nvSpPr>
          <p:spPr>
            <a:xfrm flipH="false" flipV="false" rot="0">
              <a:off x="0" y="0"/>
              <a:ext cx="1341247" cy="568325"/>
            </a:xfrm>
            <a:custGeom>
              <a:avLst/>
              <a:gdLst/>
              <a:ahLst/>
              <a:cxnLst/>
              <a:rect r="r" b="b" t="t" l="l"/>
              <a:pathLst>
                <a:path h="568325" w="1341247">
                  <a:moveTo>
                    <a:pt x="0" y="36322"/>
                  </a:moveTo>
                  <a:cubicBezTo>
                    <a:pt x="0" y="16256"/>
                    <a:pt x="16256" y="0"/>
                    <a:pt x="36322" y="0"/>
                  </a:cubicBezTo>
                  <a:lnTo>
                    <a:pt x="1304925" y="0"/>
                  </a:lnTo>
                  <a:cubicBezTo>
                    <a:pt x="1324991" y="0"/>
                    <a:pt x="1341247" y="16256"/>
                    <a:pt x="1341247" y="36322"/>
                  </a:cubicBezTo>
                  <a:lnTo>
                    <a:pt x="1341247" y="532003"/>
                  </a:lnTo>
                  <a:cubicBezTo>
                    <a:pt x="1341247" y="552069"/>
                    <a:pt x="1324991" y="568325"/>
                    <a:pt x="1304925" y="568325"/>
                  </a:cubicBezTo>
                  <a:lnTo>
                    <a:pt x="36322" y="568325"/>
                  </a:lnTo>
                  <a:cubicBezTo>
                    <a:pt x="16256" y="568325"/>
                    <a:pt x="0" y="552069"/>
                    <a:pt x="0" y="532003"/>
                  </a:cubicBezTo>
                  <a:close/>
                </a:path>
              </a:pathLst>
            </a:custGeom>
            <a:solidFill>
              <a:srgbClr val="CCD7FF"/>
            </a:solidFill>
            <a:ln w="12700">
              <a:solidFill>
                <a:srgbClr val="000000"/>
              </a:solidFill>
            </a:ln>
          </p:spPr>
        </p:sp>
      </p:grpSp>
      <p:sp>
        <p:nvSpPr>
          <p:cNvPr name="TextBox 8" id="8"/>
          <p:cNvSpPr txBox="true"/>
          <p:nvPr/>
        </p:nvSpPr>
        <p:spPr>
          <a:xfrm rot="0">
            <a:off x="1128265" y="3899002"/>
            <a:ext cx="733873" cy="347367"/>
          </a:xfrm>
          <a:prstGeom prst="rect">
            <a:avLst/>
          </a:prstGeom>
        </p:spPr>
        <p:txBody>
          <a:bodyPr anchor="t" rtlCol="false" tIns="0" lIns="0" bIns="0" rIns="0">
            <a:spAutoFit/>
          </a:bodyPr>
          <a:lstStyle/>
          <a:p>
            <a:pPr algn="l">
              <a:lnSpc>
                <a:spcPts val="2250"/>
              </a:lnSpc>
            </a:pPr>
            <a:r>
              <a:rPr lang="en-US" sz="1375">
                <a:solidFill>
                  <a:srgbClr val="4C4C4D"/>
                </a:solidFill>
                <a:latin typeface="Heebo"/>
                <a:ea typeface="Heebo"/>
                <a:cs typeface="Heebo"/>
                <a:sym typeface="Heebo"/>
              </a:rPr>
              <a:t>RESULTS</a:t>
            </a:r>
          </a:p>
        </p:txBody>
      </p:sp>
      <p:sp>
        <p:nvSpPr>
          <p:cNvPr name="TextBox 9" id="9"/>
          <p:cNvSpPr txBox="true"/>
          <p:nvPr/>
        </p:nvSpPr>
        <p:spPr>
          <a:xfrm rot="0">
            <a:off x="992238" y="4376442"/>
            <a:ext cx="10981430" cy="595608"/>
          </a:xfrm>
          <a:prstGeom prst="rect">
            <a:avLst/>
          </a:prstGeom>
        </p:spPr>
        <p:txBody>
          <a:bodyPr anchor="t" rtlCol="false" tIns="0" lIns="0" bIns="0" rIns="0">
            <a:spAutoFit/>
          </a:bodyPr>
          <a:lstStyle/>
          <a:p>
            <a:pPr algn="l">
              <a:lnSpc>
                <a:spcPts val="4437"/>
              </a:lnSpc>
            </a:pPr>
            <a:r>
              <a:rPr lang="en-US" sz="3562" b="true">
                <a:solidFill>
                  <a:srgbClr val="152D47"/>
                </a:solidFill>
                <a:latin typeface="Crimson Pro Bold"/>
                <a:ea typeface="Crimson Pro Bold"/>
                <a:cs typeface="Crimson Pro Bold"/>
                <a:sym typeface="Crimson Pro Bold"/>
              </a:rPr>
              <a:t>Classification Results: Demonstrating Robust Performance</a:t>
            </a:r>
          </a:p>
        </p:txBody>
      </p:sp>
      <p:sp>
        <p:nvSpPr>
          <p:cNvPr name="TextBox 10" id="10"/>
          <p:cNvSpPr txBox="true"/>
          <p:nvPr/>
        </p:nvSpPr>
        <p:spPr>
          <a:xfrm rot="0">
            <a:off x="992238" y="5245598"/>
            <a:ext cx="16303523" cy="429520"/>
          </a:xfrm>
          <a:prstGeom prst="rect">
            <a:avLst/>
          </a:prstGeom>
        </p:spPr>
        <p:txBody>
          <a:bodyPr anchor="t" rtlCol="false" tIns="0" lIns="0" bIns="0" rIns="0">
            <a:spAutoFit/>
          </a:bodyPr>
          <a:lstStyle/>
          <a:p>
            <a:pPr algn="l">
              <a:lnSpc>
                <a:spcPts val="2812"/>
              </a:lnSpc>
            </a:pPr>
            <a:r>
              <a:rPr lang="en-US" sz="1750">
                <a:solidFill>
                  <a:srgbClr val="4C4C4D"/>
                </a:solidFill>
                <a:latin typeface="Heebo"/>
                <a:ea typeface="Heebo"/>
                <a:cs typeface="Heebo"/>
                <a:sym typeface="Heebo"/>
              </a:rPr>
              <a:t>Our models achieved significant accuracy in classifying emotional dimensions, particularly for Arousal.</a:t>
            </a:r>
          </a:p>
        </p:txBody>
      </p:sp>
      <p:grpSp>
        <p:nvGrpSpPr>
          <p:cNvPr name="Group 11" id="11"/>
          <p:cNvGrpSpPr/>
          <p:nvPr/>
        </p:nvGrpSpPr>
        <p:grpSpPr>
          <a:xfrm rot="0">
            <a:off x="977951" y="5915920"/>
            <a:ext cx="5311826" cy="3332407"/>
            <a:chOff x="0" y="0"/>
            <a:chExt cx="7082434" cy="4443209"/>
          </a:xfrm>
        </p:grpSpPr>
        <p:sp>
          <p:nvSpPr>
            <p:cNvPr name="Freeform 12" id="12"/>
            <p:cNvSpPr/>
            <p:nvPr/>
          </p:nvSpPr>
          <p:spPr>
            <a:xfrm flipH="false" flipV="false" rot="0">
              <a:off x="19050" y="19050"/>
              <a:ext cx="7044309" cy="4405122"/>
            </a:xfrm>
            <a:custGeom>
              <a:avLst/>
              <a:gdLst/>
              <a:ahLst/>
              <a:cxnLst/>
              <a:rect r="r" b="b" t="t" l="l"/>
              <a:pathLst>
                <a:path h="4405122" w="7044309">
                  <a:moveTo>
                    <a:pt x="0" y="182880"/>
                  </a:moveTo>
                  <a:cubicBezTo>
                    <a:pt x="0" y="81915"/>
                    <a:pt x="82169" y="0"/>
                    <a:pt x="183515" y="0"/>
                  </a:cubicBezTo>
                  <a:lnTo>
                    <a:pt x="6860794" y="0"/>
                  </a:lnTo>
                  <a:cubicBezTo>
                    <a:pt x="6962139" y="0"/>
                    <a:pt x="7044309" y="81915"/>
                    <a:pt x="7044309" y="182880"/>
                  </a:cubicBezTo>
                  <a:lnTo>
                    <a:pt x="7044309" y="4222242"/>
                  </a:lnTo>
                  <a:cubicBezTo>
                    <a:pt x="7044309" y="4323207"/>
                    <a:pt x="6962139" y="4405122"/>
                    <a:pt x="6860794" y="4405122"/>
                  </a:cubicBezTo>
                  <a:lnTo>
                    <a:pt x="183515" y="4405122"/>
                  </a:lnTo>
                  <a:cubicBezTo>
                    <a:pt x="82169" y="4405122"/>
                    <a:pt x="0" y="4323207"/>
                    <a:pt x="0" y="4222242"/>
                  </a:cubicBezTo>
                  <a:close/>
                </a:path>
              </a:pathLst>
            </a:custGeom>
            <a:solidFill>
              <a:srgbClr val="FFFFFF"/>
            </a:solidFill>
            <a:ln w="12700">
              <a:solidFill>
                <a:srgbClr val="000000"/>
              </a:solidFill>
            </a:ln>
          </p:spPr>
        </p:sp>
        <p:sp>
          <p:nvSpPr>
            <p:cNvPr name="Freeform 13" id="13"/>
            <p:cNvSpPr/>
            <p:nvPr/>
          </p:nvSpPr>
          <p:spPr>
            <a:xfrm flipH="false" flipV="false" rot="0">
              <a:off x="0" y="0"/>
              <a:ext cx="7082409" cy="4443222"/>
            </a:xfrm>
            <a:custGeom>
              <a:avLst/>
              <a:gdLst/>
              <a:ahLst/>
              <a:cxnLst/>
              <a:rect r="r" b="b" t="t" l="l"/>
              <a:pathLst>
                <a:path h="4443222" w="7082409">
                  <a:moveTo>
                    <a:pt x="0" y="201930"/>
                  </a:moveTo>
                  <a:cubicBezTo>
                    <a:pt x="0" y="90297"/>
                    <a:pt x="90678" y="0"/>
                    <a:pt x="202565" y="0"/>
                  </a:cubicBezTo>
                  <a:lnTo>
                    <a:pt x="6879844" y="0"/>
                  </a:lnTo>
                  <a:lnTo>
                    <a:pt x="6879844" y="19050"/>
                  </a:lnTo>
                  <a:lnTo>
                    <a:pt x="6879844" y="0"/>
                  </a:lnTo>
                  <a:cubicBezTo>
                    <a:pt x="6991603" y="0"/>
                    <a:pt x="7082409" y="90297"/>
                    <a:pt x="7082409" y="201930"/>
                  </a:cubicBezTo>
                  <a:lnTo>
                    <a:pt x="7063359" y="201930"/>
                  </a:lnTo>
                  <a:lnTo>
                    <a:pt x="7082409" y="201930"/>
                  </a:lnTo>
                  <a:lnTo>
                    <a:pt x="7082409" y="4241292"/>
                  </a:lnTo>
                  <a:lnTo>
                    <a:pt x="7063359" y="4241292"/>
                  </a:lnTo>
                  <a:lnTo>
                    <a:pt x="7082409" y="4241292"/>
                  </a:lnTo>
                  <a:cubicBezTo>
                    <a:pt x="7082409" y="4352925"/>
                    <a:pt x="6991731" y="4443222"/>
                    <a:pt x="6879844" y="4443222"/>
                  </a:cubicBezTo>
                  <a:lnTo>
                    <a:pt x="6879844" y="4424172"/>
                  </a:lnTo>
                  <a:lnTo>
                    <a:pt x="6879844" y="4443222"/>
                  </a:lnTo>
                  <a:lnTo>
                    <a:pt x="202565" y="4443222"/>
                  </a:lnTo>
                  <a:lnTo>
                    <a:pt x="202565" y="4424172"/>
                  </a:lnTo>
                  <a:lnTo>
                    <a:pt x="202565" y="4443222"/>
                  </a:lnTo>
                  <a:cubicBezTo>
                    <a:pt x="90805" y="4443222"/>
                    <a:pt x="0" y="4352925"/>
                    <a:pt x="0" y="4241292"/>
                  </a:cubicBezTo>
                  <a:lnTo>
                    <a:pt x="0" y="201930"/>
                  </a:lnTo>
                  <a:lnTo>
                    <a:pt x="19050" y="201930"/>
                  </a:lnTo>
                  <a:lnTo>
                    <a:pt x="0" y="201930"/>
                  </a:lnTo>
                  <a:moveTo>
                    <a:pt x="38100" y="201930"/>
                  </a:moveTo>
                  <a:lnTo>
                    <a:pt x="38100" y="4241292"/>
                  </a:lnTo>
                  <a:lnTo>
                    <a:pt x="19050" y="4241292"/>
                  </a:lnTo>
                  <a:lnTo>
                    <a:pt x="38100" y="4241292"/>
                  </a:lnTo>
                  <a:cubicBezTo>
                    <a:pt x="38100" y="4331716"/>
                    <a:pt x="111633" y="4405122"/>
                    <a:pt x="202565" y="4405122"/>
                  </a:cubicBezTo>
                  <a:lnTo>
                    <a:pt x="6879844" y="4405122"/>
                  </a:lnTo>
                  <a:cubicBezTo>
                    <a:pt x="6970775" y="4405122"/>
                    <a:pt x="7044309" y="4331716"/>
                    <a:pt x="7044309" y="4241292"/>
                  </a:cubicBezTo>
                  <a:lnTo>
                    <a:pt x="7044309" y="201930"/>
                  </a:lnTo>
                  <a:cubicBezTo>
                    <a:pt x="7044309" y="111506"/>
                    <a:pt x="6970775" y="38100"/>
                    <a:pt x="6879844" y="38100"/>
                  </a:cubicBezTo>
                  <a:lnTo>
                    <a:pt x="202565" y="38100"/>
                  </a:lnTo>
                  <a:lnTo>
                    <a:pt x="202565" y="19050"/>
                  </a:lnTo>
                  <a:lnTo>
                    <a:pt x="202565" y="38100"/>
                  </a:lnTo>
                  <a:cubicBezTo>
                    <a:pt x="111633" y="38100"/>
                    <a:pt x="38100" y="111506"/>
                    <a:pt x="38100" y="201930"/>
                  </a:cubicBezTo>
                  <a:close/>
                </a:path>
              </a:pathLst>
            </a:custGeom>
            <a:solidFill>
              <a:srgbClr val="F5A3A3"/>
            </a:solidFill>
            <a:ln w="12700">
              <a:solidFill>
                <a:srgbClr val="000000"/>
              </a:solidFill>
            </a:ln>
          </p:spPr>
        </p:sp>
      </p:grpSp>
      <p:grpSp>
        <p:nvGrpSpPr>
          <p:cNvPr name="Group 14" id="14"/>
          <p:cNvGrpSpPr/>
          <p:nvPr/>
        </p:nvGrpSpPr>
        <p:grpSpPr>
          <a:xfrm rot="0">
            <a:off x="963663" y="5930208"/>
            <a:ext cx="114300" cy="3303832"/>
            <a:chOff x="0" y="0"/>
            <a:chExt cx="152400" cy="4405109"/>
          </a:xfrm>
        </p:grpSpPr>
        <p:sp>
          <p:nvSpPr>
            <p:cNvPr name="Freeform 15" id="15"/>
            <p:cNvSpPr/>
            <p:nvPr/>
          </p:nvSpPr>
          <p:spPr>
            <a:xfrm flipH="false" flipV="false" rot="0">
              <a:off x="0" y="0"/>
              <a:ext cx="152400" cy="4405122"/>
            </a:xfrm>
            <a:custGeom>
              <a:avLst/>
              <a:gdLst/>
              <a:ahLst/>
              <a:cxnLst/>
              <a:rect r="r" b="b" t="t" l="l"/>
              <a:pathLst>
                <a:path h="4405122" w="152400">
                  <a:moveTo>
                    <a:pt x="0" y="45339"/>
                  </a:moveTo>
                  <a:cubicBezTo>
                    <a:pt x="0" y="20320"/>
                    <a:pt x="20320" y="0"/>
                    <a:pt x="45339" y="0"/>
                  </a:cubicBezTo>
                  <a:lnTo>
                    <a:pt x="107061" y="0"/>
                  </a:lnTo>
                  <a:cubicBezTo>
                    <a:pt x="132080" y="0"/>
                    <a:pt x="152400" y="20320"/>
                    <a:pt x="152400" y="45339"/>
                  </a:cubicBezTo>
                  <a:lnTo>
                    <a:pt x="152400" y="4359783"/>
                  </a:lnTo>
                  <a:cubicBezTo>
                    <a:pt x="152400" y="4384802"/>
                    <a:pt x="132080" y="4405122"/>
                    <a:pt x="107061" y="4405122"/>
                  </a:cubicBezTo>
                  <a:lnTo>
                    <a:pt x="45339" y="4405122"/>
                  </a:lnTo>
                  <a:cubicBezTo>
                    <a:pt x="20320" y="4405122"/>
                    <a:pt x="0" y="4384802"/>
                    <a:pt x="0" y="4359783"/>
                  </a:cubicBezTo>
                  <a:close/>
                </a:path>
              </a:pathLst>
            </a:custGeom>
            <a:solidFill>
              <a:srgbClr val="F5A3A3"/>
            </a:solidFill>
            <a:ln w="12700">
              <a:solidFill>
                <a:srgbClr val="000000"/>
              </a:solidFill>
            </a:ln>
          </p:spPr>
        </p:sp>
      </p:grpSp>
      <p:sp>
        <p:nvSpPr>
          <p:cNvPr name="TextBox 16" id="16"/>
          <p:cNvSpPr txBox="true"/>
          <p:nvPr/>
        </p:nvSpPr>
        <p:spPr>
          <a:xfrm rot="0">
            <a:off x="1333348" y="6157017"/>
            <a:ext cx="3402359" cy="453781"/>
          </a:xfrm>
          <a:prstGeom prst="rect">
            <a:avLst/>
          </a:prstGeom>
        </p:spPr>
        <p:txBody>
          <a:bodyPr anchor="t" rtlCol="false" tIns="0" lIns="0" bIns="0" rIns="0">
            <a:spAutoFit/>
          </a:bodyPr>
          <a:lstStyle/>
          <a:p>
            <a:pPr algn="l">
              <a:lnSpc>
                <a:spcPts val="3312"/>
              </a:lnSpc>
            </a:pPr>
            <a:r>
              <a:rPr lang="en-US" sz="2625" b="true">
                <a:solidFill>
                  <a:srgbClr val="4C4C4D"/>
                </a:solidFill>
                <a:latin typeface="Crimson Pro Bold"/>
                <a:ea typeface="Crimson Pro Bold"/>
                <a:cs typeface="Crimson Pro Bold"/>
                <a:sym typeface="Crimson Pro Bold"/>
              </a:rPr>
              <a:t>Arousal Classification</a:t>
            </a:r>
          </a:p>
        </p:txBody>
      </p:sp>
      <p:sp>
        <p:nvSpPr>
          <p:cNvPr name="TextBox 17" id="17"/>
          <p:cNvSpPr txBox="true"/>
          <p:nvPr/>
        </p:nvSpPr>
        <p:spPr>
          <a:xfrm rot="0">
            <a:off x="1333348" y="6680149"/>
            <a:ext cx="4686748" cy="429520"/>
          </a:xfrm>
          <a:prstGeom prst="rect">
            <a:avLst/>
          </a:prstGeom>
        </p:spPr>
        <p:txBody>
          <a:bodyPr anchor="t" rtlCol="false" tIns="0" lIns="0" bIns="0" rIns="0">
            <a:spAutoFit/>
          </a:bodyPr>
          <a:lstStyle/>
          <a:p>
            <a:pPr algn="l">
              <a:lnSpc>
                <a:spcPts val="2812"/>
              </a:lnSpc>
            </a:pPr>
            <a:r>
              <a:rPr lang="en-US" sz="1750" b="true">
                <a:solidFill>
                  <a:srgbClr val="4C4C4D"/>
                </a:solidFill>
                <a:latin typeface="Heebo Bold"/>
                <a:ea typeface="Heebo Bold"/>
                <a:cs typeface="Heebo Bold"/>
                <a:sym typeface="Heebo Bold"/>
              </a:rPr>
              <a:t>Best Model:</a:t>
            </a:r>
            <a:r>
              <a:rPr lang="en-US" sz="1750">
                <a:solidFill>
                  <a:srgbClr val="4C4C4D"/>
                </a:solidFill>
                <a:latin typeface="Heebo"/>
                <a:ea typeface="Heebo"/>
                <a:cs typeface="Heebo"/>
                <a:sym typeface="Heebo"/>
              </a:rPr>
              <a:t> Ensemble Voting</a:t>
            </a:r>
          </a:p>
        </p:txBody>
      </p:sp>
      <p:sp>
        <p:nvSpPr>
          <p:cNvPr name="TextBox 18" id="18"/>
          <p:cNvSpPr txBox="true"/>
          <p:nvPr/>
        </p:nvSpPr>
        <p:spPr>
          <a:xfrm rot="0">
            <a:off x="1333348" y="7179021"/>
            <a:ext cx="4686748" cy="439045"/>
          </a:xfrm>
          <a:prstGeom prst="rect">
            <a:avLst/>
          </a:prstGeom>
        </p:spPr>
        <p:txBody>
          <a:bodyPr anchor="t" rtlCol="false" tIns="0" lIns="0" bIns="0" rIns="0">
            <a:spAutoFit/>
          </a:bodyPr>
          <a:lstStyle/>
          <a:p>
            <a:pPr algn="l">
              <a:lnSpc>
                <a:spcPts val="2812"/>
              </a:lnSpc>
            </a:pPr>
            <a:r>
              <a:rPr lang="en-US" sz="1750" b="true">
                <a:solidFill>
                  <a:srgbClr val="4C4C4D"/>
                </a:solidFill>
                <a:latin typeface="Heebo Bold"/>
                <a:ea typeface="Heebo Bold"/>
                <a:cs typeface="Heebo Bold"/>
                <a:sym typeface="Heebo Bold"/>
              </a:rPr>
              <a:t>Test Accuracy:</a:t>
            </a:r>
            <a:r>
              <a:rPr lang="en-US" sz="1750">
                <a:solidFill>
                  <a:srgbClr val="4C4C4D"/>
                </a:solidFill>
                <a:latin typeface="Heebo"/>
                <a:ea typeface="Heebo"/>
                <a:cs typeface="Heebo"/>
                <a:sym typeface="Heebo"/>
              </a:rPr>
              <a:t> 63.86% </a:t>
            </a:r>
            <a:r>
              <a:rPr lang="en-US" sz="1750">
                <a:solidFill>
                  <a:srgbClr val="000000"/>
                </a:solidFill>
                <a:latin typeface="Heebo"/>
                <a:ea typeface="Heebo"/>
                <a:cs typeface="Heebo"/>
                <a:sym typeface="Heebo"/>
              </a:rPr>
              <a:t>⭐</a:t>
            </a:r>
          </a:p>
        </p:txBody>
      </p:sp>
      <p:sp>
        <p:nvSpPr>
          <p:cNvPr name="TextBox 19" id="19"/>
          <p:cNvSpPr txBox="true"/>
          <p:nvPr/>
        </p:nvSpPr>
        <p:spPr>
          <a:xfrm rot="0">
            <a:off x="1333348" y="7687418"/>
            <a:ext cx="4686748" cy="328613"/>
          </a:xfrm>
          <a:prstGeom prst="rect">
            <a:avLst/>
          </a:prstGeom>
        </p:spPr>
        <p:txBody>
          <a:bodyPr anchor="t" rtlCol="false" tIns="0" lIns="0" bIns="0" rIns="0">
            <a:spAutoFit/>
          </a:bodyPr>
          <a:lstStyle/>
          <a:p>
            <a:pPr algn="l">
              <a:lnSpc>
                <a:spcPts val="2812"/>
              </a:lnSpc>
            </a:pPr>
            <a:r>
              <a:rPr lang="en-US" sz="1750" b="true">
                <a:solidFill>
                  <a:srgbClr val="4C4C4D"/>
                </a:solidFill>
                <a:latin typeface="Heebo Bold"/>
                <a:ea typeface="Heebo Bold"/>
                <a:cs typeface="Heebo Bold"/>
                <a:sym typeface="Heebo Bold"/>
              </a:rPr>
              <a:t>F1-Score:</a:t>
            </a:r>
            <a:r>
              <a:rPr lang="en-US" sz="1750">
                <a:solidFill>
                  <a:srgbClr val="4C4C4D"/>
                </a:solidFill>
                <a:latin typeface="Heebo"/>
                <a:ea typeface="Heebo"/>
                <a:cs typeface="Heebo"/>
                <a:sym typeface="Heebo"/>
              </a:rPr>
              <a:t> 62.00%</a:t>
            </a:r>
          </a:p>
        </p:txBody>
      </p:sp>
      <p:sp>
        <p:nvSpPr>
          <p:cNvPr name="TextBox 20" id="20"/>
          <p:cNvSpPr txBox="true"/>
          <p:nvPr/>
        </p:nvSpPr>
        <p:spPr>
          <a:xfrm rot="0">
            <a:off x="1333348" y="8186290"/>
            <a:ext cx="4686748" cy="792366"/>
          </a:xfrm>
          <a:prstGeom prst="rect">
            <a:avLst/>
          </a:prstGeom>
        </p:spPr>
        <p:txBody>
          <a:bodyPr anchor="t" rtlCol="false" tIns="0" lIns="0" bIns="0" rIns="0">
            <a:spAutoFit/>
          </a:bodyPr>
          <a:lstStyle/>
          <a:p>
            <a:pPr algn="l">
              <a:lnSpc>
                <a:spcPts val="2812"/>
              </a:lnSpc>
            </a:pPr>
            <a:r>
              <a:rPr lang="en-US" sz="1750">
                <a:solidFill>
                  <a:srgbClr val="4C4C4D"/>
                </a:solidFill>
                <a:latin typeface="Heebo"/>
                <a:ea typeface="Heebo"/>
                <a:cs typeface="Heebo"/>
                <a:sym typeface="Heebo"/>
              </a:rPr>
              <a:t>This is a competitive result, showcasing the effectiveness of our ensemble approach.</a:t>
            </a:r>
          </a:p>
        </p:txBody>
      </p:sp>
      <p:grpSp>
        <p:nvGrpSpPr>
          <p:cNvPr name="Group 21" id="21"/>
          <p:cNvGrpSpPr/>
          <p:nvPr/>
        </p:nvGrpSpPr>
        <p:grpSpPr>
          <a:xfrm rot="0">
            <a:off x="6488011" y="5915920"/>
            <a:ext cx="5311826" cy="3332407"/>
            <a:chOff x="0" y="0"/>
            <a:chExt cx="7082434" cy="4443209"/>
          </a:xfrm>
        </p:grpSpPr>
        <p:sp>
          <p:nvSpPr>
            <p:cNvPr name="Freeform 22" id="22"/>
            <p:cNvSpPr/>
            <p:nvPr/>
          </p:nvSpPr>
          <p:spPr>
            <a:xfrm flipH="false" flipV="false" rot="0">
              <a:off x="19050" y="19050"/>
              <a:ext cx="7044309" cy="4405122"/>
            </a:xfrm>
            <a:custGeom>
              <a:avLst/>
              <a:gdLst/>
              <a:ahLst/>
              <a:cxnLst/>
              <a:rect r="r" b="b" t="t" l="l"/>
              <a:pathLst>
                <a:path h="4405122" w="7044309">
                  <a:moveTo>
                    <a:pt x="0" y="182880"/>
                  </a:moveTo>
                  <a:cubicBezTo>
                    <a:pt x="0" y="81915"/>
                    <a:pt x="82169" y="0"/>
                    <a:pt x="183515" y="0"/>
                  </a:cubicBezTo>
                  <a:lnTo>
                    <a:pt x="6860794" y="0"/>
                  </a:lnTo>
                  <a:cubicBezTo>
                    <a:pt x="6962139" y="0"/>
                    <a:pt x="7044309" y="81915"/>
                    <a:pt x="7044309" y="182880"/>
                  </a:cubicBezTo>
                  <a:lnTo>
                    <a:pt x="7044309" y="4222242"/>
                  </a:lnTo>
                  <a:cubicBezTo>
                    <a:pt x="7044309" y="4323207"/>
                    <a:pt x="6962139" y="4405122"/>
                    <a:pt x="6860794" y="4405122"/>
                  </a:cubicBezTo>
                  <a:lnTo>
                    <a:pt x="183515" y="4405122"/>
                  </a:lnTo>
                  <a:cubicBezTo>
                    <a:pt x="82169" y="4405122"/>
                    <a:pt x="0" y="4323207"/>
                    <a:pt x="0" y="4222242"/>
                  </a:cubicBezTo>
                  <a:close/>
                </a:path>
              </a:pathLst>
            </a:custGeom>
            <a:solidFill>
              <a:srgbClr val="FFFFFF"/>
            </a:solidFill>
            <a:ln w="12700">
              <a:solidFill>
                <a:srgbClr val="000000"/>
              </a:solidFill>
            </a:ln>
          </p:spPr>
        </p:sp>
        <p:sp>
          <p:nvSpPr>
            <p:cNvPr name="Freeform 23" id="23"/>
            <p:cNvSpPr/>
            <p:nvPr/>
          </p:nvSpPr>
          <p:spPr>
            <a:xfrm flipH="false" flipV="false" rot="0">
              <a:off x="0" y="0"/>
              <a:ext cx="7082409" cy="4443222"/>
            </a:xfrm>
            <a:custGeom>
              <a:avLst/>
              <a:gdLst/>
              <a:ahLst/>
              <a:cxnLst/>
              <a:rect r="r" b="b" t="t" l="l"/>
              <a:pathLst>
                <a:path h="4443222" w="7082409">
                  <a:moveTo>
                    <a:pt x="0" y="201930"/>
                  </a:moveTo>
                  <a:cubicBezTo>
                    <a:pt x="0" y="90297"/>
                    <a:pt x="90678" y="0"/>
                    <a:pt x="202565" y="0"/>
                  </a:cubicBezTo>
                  <a:lnTo>
                    <a:pt x="6879844" y="0"/>
                  </a:lnTo>
                  <a:lnTo>
                    <a:pt x="6879844" y="19050"/>
                  </a:lnTo>
                  <a:lnTo>
                    <a:pt x="6879844" y="0"/>
                  </a:lnTo>
                  <a:cubicBezTo>
                    <a:pt x="6991603" y="0"/>
                    <a:pt x="7082409" y="90297"/>
                    <a:pt x="7082409" y="201930"/>
                  </a:cubicBezTo>
                  <a:lnTo>
                    <a:pt x="7063359" y="201930"/>
                  </a:lnTo>
                  <a:lnTo>
                    <a:pt x="7082409" y="201930"/>
                  </a:lnTo>
                  <a:lnTo>
                    <a:pt x="7082409" y="4241292"/>
                  </a:lnTo>
                  <a:lnTo>
                    <a:pt x="7063359" y="4241292"/>
                  </a:lnTo>
                  <a:lnTo>
                    <a:pt x="7082409" y="4241292"/>
                  </a:lnTo>
                  <a:cubicBezTo>
                    <a:pt x="7082409" y="4352925"/>
                    <a:pt x="6991731" y="4443222"/>
                    <a:pt x="6879844" y="4443222"/>
                  </a:cubicBezTo>
                  <a:lnTo>
                    <a:pt x="6879844" y="4424172"/>
                  </a:lnTo>
                  <a:lnTo>
                    <a:pt x="6879844" y="4443222"/>
                  </a:lnTo>
                  <a:lnTo>
                    <a:pt x="202565" y="4443222"/>
                  </a:lnTo>
                  <a:lnTo>
                    <a:pt x="202565" y="4424172"/>
                  </a:lnTo>
                  <a:lnTo>
                    <a:pt x="202565" y="4443222"/>
                  </a:lnTo>
                  <a:cubicBezTo>
                    <a:pt x="90805" y="4443222"/>
                    <a:pt x="0" y="4352925"/>
                    <a:pt x="0" y="4241292"/>
                  </a:cubicBezTo>
                  <a:lnTo>
                    <a:pt x="0" y="201930"/>
                  </a:lnTo>
                  <a:lnTo>
                    <a:pt x="19050" y="201930"/>
                  </a:lnTo>
                  <a:lnTo>
                    <a:pt x="0" y="201930"/>
                  </a:lnTo>
                  <a:moveTo>
                    <a:pt x="38100" y="201930"/>
                  </a:moveTo>
                  <a:lnTo>
                    <a:pt x="38100" y="4241292"/>
                  </a:lnTo>
                  <a:lnTo>
                    <a:pt x="19050" y="4241292"/>
                  </a:lnTo>
                  <a:lnTo>
                    <a:pt x="38100" y="4241292"/>
                  </a:lnTo>
                  <a:cubicBezTo>
                    <a:pt x="38100" y="4331716"/>
                    <a:pt x="111633" y="4405122"/>
                    <a:pt x="202565" y="4405122"/>
                  </a:cubicBezTo>
                  <a:lnTo>
                    <a:pt x="6879844" y="4405122"/>
                  </a:lnTo>
                  <a:cubicBezTo>
                    <a:pt x="6970775" y="4405122"/>
                    <a:pt x="7044309" y="4331716"/>
                    <a:pt x="7044309" y="4241292"/>
                  </a:cubicBezTo>
                  <a:lnTo>
                    <a:pt x="7044309" y="201930"/>
                  </a:lnTo>
                  <a:cubicBezTo>
                    <a:pt x="7044309" y="111506"/>
                    <a:pt x="6970775" y="38100"/>
                    <a:pt x="6879844" y="38100"/>
                  </a:cubicBezTo>
                  <a:lnTo>
                    <a:pt x="202565" y="38100"/>
                  </a:lnTo>
                  <a:lnTo>
                    <a:pt x="202565" y="19050"/>
                  </a:lnTo>
                  <a:lnTo>
                    <a:pt x="202565" y="38100"/>
                  </a:lnTo>
                  <a:cubicBezTo>
                    <a:pt x="111633" y="38100"/>
                    <a:pt x="38100" y="111506"/>
                    <a:pt x="38100" y="201930"/>
                  </a:cubicBezTo>
                  <a:close/>
                </a:path>
              </a:pathLst>
            </a:custGeom>
            <a:solidFill>
              <a:srgbClr val="D8D4D4"/>
            </a:solidFill>
            <a:ln w="12700">
              <a:solidFill>
                <a:srgbClr val="000000"/>
              </a:solidFill>
            </a:ln>
          </p:spPr>
        </p:sp>
      </p:grpSp>
      <p:grpSp>
        <p:nvGrpSpPr>
          <p:cNvPr name="Group 24" id="24"/>
          <p:cNvGrpSpPr/>
          <p:nvPr/>
        </p:nvGrpSpPr>
        <p:grpSpPr>
          <a:xfrm rot="0">
            <a:off x="6473723" y="5930208"/>
            <a:ext cx="114300" cy="3303832"/>
            <a:chOff x="0" y="0"/>
            <a:chExt cx="152400" cy="4405109"/>
          </a:xfrm>
        </p:grpSpPr>
        <p:sp>
          <p:nvSpPr>
            <p:cNvPr name="Freeform 25" id="25"/>
            <p:cNvSpPr/>
            <p:nvPr/>
          </p:nvSpPr>
          <p:spPr>
            <a:xfrm flipH="false" flipV="false" rot="0">
              <a:off x="0" y="0"/>
              <a:ext cx="152400" cy="4405122"/>
            </a:xfrm>
            <a:custGeom>
              <a:avLst/>
              <a:gdLst/>
              <a:ahLst/>
              <a:cxnLst/>
              <a:rect r="r" b="b" t="t" l="l"/>
              <a:pathLst>
                <a:path h="4405122" w="152400">
                  <a:moveTo>
                    <a:pt x="0" y="45339"/>
                  </a:moveTo>
                  <a:cubicBezTo>
                    <a:pt x="0" y="20320"/>
                    <a:pt x="20320" y="0"/>
                    <a:pt x="45339" y="0"/>
                  </a:cubicBezTo>
                  <a:lnTo>
                    <a:pt x="107061" y="0"/>
                  </a:lnTo>
                  <a:cubicBezTo>
                    <a:pt x="132080" y="0"/>
                    <a:pt x="152400" y="20320"/>
                    <a:pt x="152400" y="45339"/>
                  </a:cubicBezTo>
                  <a:lnTo>
                    <a:pt x="152400" y="4359783"/>
                  </a:lnTo>
                  <a:cubicBezTo>
                    <a:pt x="152400" y="4384802"/>
                    <a:pt x="132080" y="4405122"/>
                    <a:pt x="107061" y="4405122"/>
                  </a:cubicBezTo>
                  <a:lnTo>
                    <a:pt x="45339" y="4405122"/>
                  </a:lnTo>
                  <a:cubicBezTo>
                    <a:pt x="20320" y="4405122"/>
                    <a:pt x="0" y="4384802"/>
                    <a:pt x="0" y="4359783"/>
                  </a:cubicBezTo>
                  <a:close/>
                </a:path>
              </a:pathLst>
            </a:custGeom>
            <a:solidFill>
              <a:srgbClr val="2150FE"/>
            </a:solidFill>
            <a:ln w="12700">
              <a:solidFill>
                <a:srgbClr val="000000"/>
              </a:solidFill>
            </a:ln>
          </p:spPr>
        </p:sp>
      </p:grpSp>
      <p:sp>
        <p:nvSpPr>
          <p:cNvPr name="TextBox 26" id="26"/>
          <p:cNvSpPr txBox="true"/>
          <p:nvPr/>
        </p:nvSpPr>
        <p:spPr>
          <a:xfrm rot="0">
            <a:off x="6843417" y="6157017"/>
            <a:ext cx="3402359" cy="453781"/>
          </a:xfrm>
          <a:prstGeom prst="rect">
            <a:avLst/>
          </a:prstGeom>
        </p:spPr>
        <p:txBody>
          <a:bodyPr anchor="t" rtlCol="false" tIns="0" lIns="0" bIns="0" rIns="0">
            <a:spAutoFit/>
          </a:bodyPr>
          <a:lstStyle/>
          <a:p>
            <a:pPr algn="l">
              <a:lnSpc>
                <a:spcPts val="3312"/>
              </a:lnSpc>
            </a:pPr>
            <a:r>
              <a:rPr lang="en-US" sz="2625" b="true">
                <a:solidFill>
                  <a:srgbClr val="4C4C4D"/>
                </a:solidFill>
                <a:latin typeface="Crimson Pro Bold"/>
                <a:ea typeface="Crimson Pro Bold"/>
                <a:cs typeface="Crimson Pro Bold"/>
                <a:sym typeface="Crimson Pro Bold"/>
              </a:rPr>
              <a:t>Valence Classification</a:t>
            </a:r>
          </a:p>
        </p:txBody>
      </p:sp>
      <p:sp>
        <p:nvSpPr>
          <p:cNvPr name="TextBox 27" id="27"/>
          <p:cNvSpPr txBox="true"/>
          <p:nvPr/>
        </p:nvSpPr>
        <p:spPr>
          <a:xfrm rot="0">
            <a:off x="6843417" y="6680149"/>
            <a:ext cx="4686748" cy="429520"/>
          </a:xfrm>
          <a:prstGeom prst="rect">
            <a:avLst/>
          </a:prstGeom>
        </p:spPr>
        <p:txBody>
          <a:bodyPr anchor="t" rtlCol="false" tIns="0" lIns="0" bIns="0" rIns="0">
            <a:spAutoFit/>
          </a:bodyPr>
          <a:lstStyle/>
          <a:p>
            <a:pPr algn="l">
              <a:lnSpc>
                <a:spcPts val="2812"/>
              </a:lnSpc>
            </a:pPr>
            <a:r>
              <a:rPr lang="en-US" sz="1750" b="true">
                <a:solidFill>
                  <a:srgbClr val="4C4C4D"/>
                </a:solidFill>
                <a:latin typeface="Heebo Bold"/>
                <a:ea typeface="Heebo Bold"/>
                <a:cs typeface="Heebo Bold"/>
                <a:sym typeface="Heebo Bold"/>
              </a:rPr>
              <a:t>Best Model:</a:t>
            </a:r>
            <a:r>
              <a:rPr lang="en-US" sz="1750">
                <a:solidFill>
                  <a:srgbClr val="4C4C4D"/>
                </a:solidFill>
                <a:latin typeface="Heebo"/>
                <a:ea typeface="Heebo"/>
                <a:cs typeface="Heebo"/>
                <a:sym typeface="Heebo"/>
              </a:rPr>
              <a:t> Logistic Regression</a:t>
            </a:r>
          </a:p>
        </p:txBody>
      </p:sp>
      <p:sp>
        <p:nvSpPr>
          <p:cNvPr name="TextBox 28" id="28"/>
          <p:cNvSpPr txBox="true"/>
          <p:nvPr/>
        </p:nvSpPr>
        <p:spPr>
          <a:xfrm rot="0">
            <a:off x="6843417" y="7179021"/>
            <a:ext cx="4686748" cy="429520"/>
          </a:xfrm>
          <a:prstGeom prst="rect">
            <a:avLst/>
          </a:prstGeom>
        </p:spPr>
        <p:txBody>
          <a:bodyPr anchor="t" rtlCol="false" tIns="0" lIns="0" bIns="0" rIns="0">
            <a:spAutoFit/>
          </a:bodyPr>
          <a:lstStyle/>
          <a:p>
            <a:pPr algn="l">
              <a:lnSpc>
                <a:spcPts val="2812"/>
              </a:lnSpc>
            </a:pPr>
            <a:r>
              <a:rPr lang="en-US" sz="1750" b="true">
                <a:solidFill>
                  <a:srgbClr val="4C4C4D"/>
                </a:solidFill>
                <a:latin typeface="Heebo Bold"/>
                <a:ea typeface="Heebo Bold"/>
                <a:cs typeface="Heebo Bold"/>
                <a:sym typeface="Heebo Bold"/>
              </a:rPr>
              <a:t>Test Accuracy:</a:t>
            </a:r>
            <a:r>
              <a:rPr lang="en-US" sz="1750">
                <a:solidFill>
                  <a:srgbClr val="4C4C4D"/>
                </a:solidFill>
                <a:latin typeface="Heebo"/>
                <a:ea typeface="Heebo"/>
                <a:cs typeface="Heebo"/>
                <a:sym typeface="Heebo"/>
              </a:rPr>
              <a:t> 55.42%</a:t>
            </a:r>
          </a:p>
        </p:txBody>
      </p:sp>
      <p:sp>
        <p:nvSpPr>
          <p:cNvPr name="TextBox 29" id="29"/>
          <p:cNvSpPr txBox="true"/>
          <p:nvPr/>
        </p:nvSpPr>
        <p:spPr>
          <a:xfrm rot="0">
            <a:off x="6843417" y="7677893"/>
            <a:ext cx="4686748" cy="328613"/>
          </a:xfrm>
          <a:prstGeom prst="rect">
            <a:avLst/>
          </a:prstGeom>
        </p:spPr>
        <p:txBody>
          <a:bodyPr anchor="t" rtlCol="false" tIns="0" lIns="0" bIns="0" rIns="0">
            <a:spAutoFit/>
          </a:bodyPr>
          <a:lstStyle/>
          <a:p>
            <a:pPr algn="l">
              <a:lnSpc>
                <a:spcPts val="2812"/>
              </a:lnSpc>
            </a:pPr>
            <a:r>
              <a:rPr lang="en-US" sz="1750" b="true">
                <a:solidFill>
                  <a:srgbClr val="4C4C4D"/>
                </a:solidFill>
                <a:latin typeface="Heebo Bold"/>
                <a:ea typeface="Heebo Bold"/>
                <a:cs typeface="Heebo Bold"/>
                <a:sym typeface="Heebo Bold"/>
              </a:rPr>
              <a:t>F1-Score:</a:t>
            </a:r>
            <a:r>
              <a:rPr lang="en-US" sz="1750">
                <a:solidFill>
                  <a:srgbClr val="4C4C4D"/>
                </a:solidFill>
                <a:latin typeface="Heebo"/>
                <a:ea typeface="Heebo"/>
                <a:cs typeface="Heebo"/>
                <a:sym typeface="Heebo"/>
              </a:rPr>
              <a:t> 55.00%</a:t>
            </a:r>
          </a:p>
        </p:txBody>
      </p:sp>
      <p:grpSp>
        <p:nvGrpSpPr>
          <p:cNvPr name="Group 30" id="30"/>
          <p:cNvGrpSpPr/>
          <p:nvPr/>
        </p:nvGrpSpPr>
        <p:grpSpPr>
          <a:xfrm rot="0">
            <a:off x="11998081" y="5915920"/>
            <a:ext cx="5311978" cy="3332407"/>
            <a:chOff x="0" y="0"/>
            <a:chExt cx="7082638" cy="4443209"/>
          </a:xfrm>
        </p:grpSpPr>
        <p:sp>
          <p:nvSpPr>
            <p:cNvPr name="Freeform 31" id="31"/>
            <p:cNvSpPr/>
            <p:nvPr/>
          </p:nvSpPr>
          <p:spPr>
            <a:xfrm flipH="false" flipV="false" rot="0">
              <a:off x="19050" y="19050"/>
              <a:ext cx="7044563" cy="4405122"/>
            </a:xfrm>
            <a:custGeom>
              <a:avLst/>
              <a:gdLst/>
              <a:ahLst/>
              <a:cxnLst/>
              <a:rect r="r" b="b" t="t" l="l"/>
              <a:pathLst>
                <a:path h="4405122" w="7044563">
                  <a:moveTo>
                    <a:pt x="0" y="182880"/>
                  </a:moveTo>
                  <a:cubicBezTo>
                    <a:pt x="0" y="81915"/>
                    <a:pt x="82169" y="0"/>
                    <a:pt x="183515" y="0"/>
                  </a:cubicBezTo>
                  <a:lnTo>
                    <a:pt x="6861048" y="0"/>
                  </a:lnTo>
                  <a:cubicBezTo>
                    <a:pt x="6962394" y="0"/>
                    <a:pt x="7044563" y="81915"/>
                    <a:pt x="7044563" y="182880"/>
                  </a:cubicBezTo>
                  <a:lnTo>
                    <a:pt x="7044563" y="4222242"/>
                  </a:lnTo>
                  <a:cubicBezTo>
                    <a:pt x="7044563" y="4323207"/>
                    <a:pt x="6962394" y="4405122"/>
                    <a:pt x="6861048" y="4405122"/>
                  </a:cubicBezTo>
                  <a:lnTo>
                    <a:pt x="183515" y="4405122"/>
                  </a:lnTo>
                  <a:cubicBezTo>
                    <a:pt x="82169" y="4405122"/>
                    <a:pt x="0" y="4323207"/>
                    <a:pt x="0" y="4222242"/>
                  </a:cubicBezTo>
                  <a:close/>
                </a:path>
              </a:pathLst>
            </a:custGeom>
            <a:solidFill>
              <a:srgbClr val="FFFFFF"/>
            </a:solidFill>
            <a:ln w="12700">
              <a:solidFill>
                <a:srgbClr val="000000"/>
              </a:solidFill>
            </a:ln>
          </p:spPr>
        </p:sp>
        <p:sp>
          <p:nvSpPr>
            <p:cNvPr name="Freeform 32" id="32"/>
            <p:cNvSpPr/>
            <p:nvPr/>
          </p:nvSpPr>
          <p:spPr>
            <a:xfrm flipH="false" flipV="false" rot="0">
              <a:off x="0" y="0"/>
              <a:ext cx="7082663" cy="4443222"/>
            </a:xfrm>
            <a:custGeom>
              <a:avLst/>
              <a:gdLst/>
              <a:ahLst/>
              <a:cxnLst/>
              <a:rect r="r" b="b" t="t" l="l"/>
              <a:pathLst>
                <a:path h="4443222" w="7082663">
                  <a:moveTo>
                    <a:pt x="0" y="201930"/>
                  </a:moveTo>
                  <a:cubicBezTo>
                    <a:pt x="0" y="90297"/>
                    <a:pt x="90678" y="0"/>
                    <a:pt x="202565" y="0"/>
                  </a:cubicBezTo>
                  <a:lnTo>
                    <a:pt x="6880098" y="0"/>
                  </a:lnTo>
                  <a:lnTo>
                    <a:pt x="6880098" y="19050"/>
                  </a:lnTo>
                  <a:lnTo>
                    <a:pt x="6880098" y="0"/>
                  </a:lnTo>
                  <a:cubicBezTo>
                    <a:pt x="6991858" y="0"/>
                    <a:pt x="7082663" y="90297"/>
                    <a:pt x="7082663" y="201930"/>
                  </a:cubicBezTo>
                  <a:lnTo>
                    <a:pt x="7063613" y="201930"/>
                  </a:lnTo>
                  <a:lnTo>
                    <a:pt x="7082663" y="201930"/>
                  </a:lnTo>
                  <a:lnTo>
                    <a:pt x="7082663" y="4241292"/>
                  </a:lnTo>
                  <a:lnTo>
                    <a:pt x="7063613" y="4241292"/>
                  </a:lnTo>
                  <a:lnTo>
                    <a:pt x="7082663" y="4241292"/>
                  </a:lnTo>
                  <a:cubicBezTo>
                    <a:pt x="7082663" y="4352925"/>
                    <a:pt x="6991985" y="4443222"/>
                    <a:pt x="6880098" y="4443222"/>
                  </a:cubicBezTo>
                  <a:lnTo>
                    <a:pt x="6880098" y="4424172"/>
                  </a:lnTo>
                  <a:lnTo>
                    <a:pt x="6880098" y="4443222"/>
                  </a:lnTo>
                  <a:lnTo>
                    <a:pt x="202565" y="4443222"/>
                  </a:lnTo>
                  <a:lnTo>
                    <a:pt x="202565" y="4424172"/>
                  </a:lnTo>
                  <a:lnTo>
                    <a:pt x="202565" y="4443222"/>
                  </a:lnTo>
                  <a:cubicBezTo>
                    <a:pt x="90805" y="4443222"/>
                    <a:pt x="0" y="4352925"/>
                    <a:pt x="0" y="4241292"/>
                  </a:cubicBezTo>
                  <a:lnTo>
                    <a:pt x="0" y="201930"/>
                  </a:lnTo>
                  <a:lnTo>
                    <a:pt x="19050" y="201930"/>
                  </a:lnTo>
                  <a:lnTo>
                    <a:pt x="0" y="201930"/>
                  </a:lnTo>
                  <a:moveTo>
                    <a:pt x="38100" y="201930"/>
                  </a:moveTo>
                  <a:lnTo>
                    <a:pt x="38100" y="4241292"/>
                  </a:lnTo>
                  <a:lnTo>
                    <a:pt x="19050" y="4241292"/>
                  </a:lnTo>
                  <a:lnTo>
                    <a:pt x="38100" y="4241292"/>
                  </a:lnTo>
                  <a:cubicBezTo>
                    <a:pt x="38100" y="4331716"/>
                    <a:pt x="111633" y="4405122"/>
                    <a:pt x="202565" y="4405122"/>
                  </a:cubicBezTo>
                  <a:lnTo>
                    <a:pt x="6880098" y="4405122"/>
                  </a:lnTo>
                  <a:cubicBezTo>
                    <a:pt x="6971030" y="4405122"/>
                    <a:pt x="7044563" y="4331716"/>
                    <a:pt x="7044563" y="4241292"/>
                  </a:cubicBezTo>
                  <a:lnTo>
                    <a:pt x="7044563" y="201930"/>
                  </a:lnTo>
                  <a:cubicBezTo>
                    <a:pt x="7044563" y="111506"/>
                    <a:pt x="6971030" y="38100"/>
                    <a:pt x="6880098" y="38100"/>
                  </a:cubicBezTo>
                  <a:lnTo>
                    <a:pt x="202565" y="38100"/>
                  </a:lnTo>
                  <a:lnTo>
                    <a:pt x="202565" y="19050"/>
                  </a:lnTo>
                  <a:lnTo>
                    <a:pt x="202565" y="38100"/>
                  </a:lnTo>
                  <a:cubicBezTo>
                    <a:pt x="111633" y="38100"/>
                    <a:pt x="38100" y="111506"/>
                    <a:pt x="38100" y="201930"/>
                  </a:cubicBezTo>
                  <a:close/>
                </a:path>
              </a:pathLst>
            </a:custGeom>
            <a:solidFill>
              <a:srgbClr val="D8D4D4"/>
            </a:solidFill>
            <a:ln w="12700">
              <a:solidFill>
                <a:srgbClr val="000000"/>
              </a:solidFill>
            </a:ln>
          </p:spPr>
        </p:sp>
      </p:grpSp>
      <p:grpSp>
        <p:nvGrpSpPr>
          <p:cNvPr name="Group 33" id="33"/>
          <p:cNvGrpSpPr/>
          <p:nvPr/>
        </p:nvGrpSpPr>
        <p:grpSpPr>
          <a:xfrm rot="0">
            <a:off x="11983793" y="5930208"/>
            <a:ext cx="114300" cy="3303832"/>
            <a:chOff x="0" y="0"/>
            <a:chExt cx="152400" cy="4405109"/>
          </a:xfrm>
        </p:grpSpPr>
        <p:sp>
          <p:nvSpPr>
            <p:cNvPr name="Freeform 34" id="34"/>
            <p:cNvSpPr/>
            <p:nvPr/>
          </p:nvSpPr>
          <p:spPr>
            <a:xfrm flipH="false" flipV="false" rot="0">
              <a:off x="0" y="0"/>
              <a:ext cx="152400" cy="4405122"/>
            </a:xfrm>
            <a:custGeom>
              <a:avLst/>
              <a:gdLst/>
              <a:ahLst/>
              <a:cxnLst/>
              <a:rect r="r" b="b" t="t" l="l"/>
              <a:pathLst>
                <a:path h="4405122" w="152400">
                  <a:moveTo>
                    <a:pt x="0" y="45339"/>
                  </a:moveTo>
                  <a:cubicBezTo>
                    <a:pt x="0" y="20320"/>
                    <a:pt x="20320" y="0"/>
                    <a:pt x="45339" y="0"/>
                  </a:cubicBezTo>
                  <a:lnTo>
                    <a:pt x="107061" y="0"/>
                  </a:lnTo>
                  <a:cubicBezTo>
                    <a:pt x="132080" y="0"/>
                    <a:pt x="152400" y="20320"/>
                    <a:pt x="152400" y="45339"/>
                  </a:cubicBezTo>
                  <a:lnTo>
                    <a:pt x="152400" y="4359783"/>
                  </a:lnTo>
                  <a:cubicBezTo>
                    <a:pt x="152400" y="4384802"/>
                    <a:pt x="132080" y="4405122"/>
                    <a:pt x="107061" y="4405122"/>
                  </a:cubicBezTo>
                  <a:lnTo>
                    <a:pt x="45339" y="4405122"/>
                  </a:lnTo>
                  <a:cubicBezTo>
                    <a:pt x="20320" y="4405122"/>
                    <a:pt x="0" y="4384802"/>
                    <a:pt x="0" y="4359783"/>
                  </a:cubicBezTo>
                  <a:close/>
                </a:path>
              </a:pathLst>
            </a:custGeom>
            <a:solidFill>
              <a:srgbClr val="2150FE"/>
            </a:solidFill>
            <a:ln w="12700">
              <a:solidFill>
                <a:srgbClr val="000000"/>
              </a:solidFill>
            </a:ln>
          </p:spPr>
        </p:sp>
      </p:grpSp>
      <p:sp>
        <p:nvSpPr>
          <p:cNvPr name="TextBox 35" id="35"/>
          <p:cNvSpPr txBox="true"/>
          <p:nvPr/>
        </p:nvSpPr>
        <p:spPr>
          <a:xfrm rot="0">
            <a:off x="12353477" y="6157017"/>
            <a:ext cx="3612947" cy="453781"/>
          </a:xfrm>
          <a:prstGeom prst="rect">
            <a:avLst/>
          </a:prstGeom>
        </p:spPr>
        <p:txBody>
          <a:bodyPr anchor="t" rtlCol="false" tIns="0" lIns="0" bIns="0" rIns="0">
            <a:spAutoFit/>
          </a:bodyPr>
          <a:lstStyle/>
          <a:p>
            <a:pPr algn="l">
              <a:lnSpc>
                <a:spcPts val="3312"/>
              </a:lnSpc>
            </a:pPr>
            <a:r>
              <a:rPr lang="en-US" sz="2625" b="true">
                <a:solidFill>
                  <a:srgbClr val="4C4C4D"/>
                </a:solidFill>
                <a:latin typeface="Crimson Pro Bold"/>
                <a:ea typeface="Crimson Pro Bold"/>
                <a:cs typeface="Crimson Pro Bold"/>
                <a:sym typeface="Crimson Pro Bold"/>
              </a:rPr>
              <a:t>Dominance Classification</a:t>
            </a:r>
          </a:p>
        </p:txBody>
      </p:sp>
      <p:sp>
        <p:nvSpPr>
          <p:cNvPr name="TextBox 36" id="36"/>
          <p:cNvSpPr txBox="true"/>
          <p:nvPr/>
        </p:nvSpPr>
        <p:spPr>
          <a:xfrm rot="0">
            <a:off x="12353477" y="6680149"/>
            <a:ext cx="4686891" cy="429520"/>
          </a:xfrm>
          <a:prstGeom prst="rect">
            <a:avLst/>
          </a:prstGeom>
        </p:spPr>
        <p:txBody>
          <a:bodyPr anchor="t" rtlCol="false" tIns="0" lIns="0" bIns="0" rIns="0">
            <a:spAutoFit/>
          </a:bodyPr>
          <a:lstStyle/>
          <a:p>
            <a:pPr algn="l">
              <a:lnSpc>
                <a:spcPts val="2812"/>
              </a:lnSpc>
            </a:pPr>
            <a:r>
              <a:rPr lang="en-US" sz="1750" b="true">
                <a:solidFill>
                  <a:srgbClr val="4C4C4D"/>
                </a:solidFill>
                <a:latin typeface="Heebo Bold"/>
                <a:ea typeface="Heebo Bold"/>
                <a:cs typeface="Heebo Bold"/>
                <a:sym typeface="Heebo Bold"/>
              </a:rPr>
              <a:t>Best Model:</a:t>
            </a:r>
            <a:r>
              <a:rPr lang="en-US" sz="1750">
                <a:solidFill>
                  <a:srgbClr val="4C4C4D"/>
                </a:solidFill>
                <a:latin typeface="Heebo"/>
                <a:ea typeface="Heebo"/>
                <a:cs typeface="Heebo"/>
                <a:sym typeface="Heebo"/>
              </a:rPr>
              <a:t> Gradient Boosting</a:t>
            </a:r>
          </a:p>
        </p:txBody>
      </p:sp>
      <p:sp>
        <p:nvSpPr>
          <p:cNvPr name="TextBox 37" id="37"/>
          <p:cNvSpPr txBox="true"/>
          <p:nvPr/>
        </p:nvSpPr>
        <p:spPr>
          <a:xfrm rot="0">
            <a:off x="12353477" y="7179021"/>
            <a:ext cx="4686891" cy="429520"/>
          </a:xfrm>
          <a:prstGeom prst="rect">
            <a:avLst/>
          </a:prstGeom>
        </p:spPr>
        <p:txBody>
          <a:bodyPr anchor="t" rtlCol="false" tIns="0" lIns="0" bIns="0" rIns="0">
            <a:spAutoFit/>
          </a:bodyPr>
          <a:lstStyle/>
          <a:p>
            <a:pPr algn="l">
              <a:lnSpc>
                <a:spcPts val="2812"/>
              </a:lnSpc>
            </a:pPr>
            <a:r>
              <a:rPr lang="en-US" sz="1750" b="true">
                <a:solidFill>
                  <a:srgbClr val="4C4C4D"/>
                </a:solidFill>
                <a:latin typeface="Heebo Bold"/>
                <a:ea typeface="Heebo Bold"/>
                <a:cs typeface="Heebo Bold"/>
                <a:sym typeface="Heebo Bold"/>
              </a:rPr>
              <a:t>Test Accuracy:</a:t>
            </a:r>
            <a:r>
              <a:rPr lang="en-US" sz="1750">
                <a:solidFill>
                  <a:srgbClr val="4C4C4D"/>
                </a:solidFill>
                <a:latin typeface="Heebo"/>
                <a:ea typeface="Heebo"/>
                <a:cs typeface="Heebo"/>
                <a:sym typeface="Heebo"/>
              </a:rPr>
              <a:t> 51.81%</a:t>
            </a:r>
          </a:p>
        </p:txBody>
      </p:sp>
      <p:sp>
        <p:nvSpPr>
          <p:cNvPr name="TextBox 38" id="38"/>
          <p:cNvSpPr txBox="true"/>
          <p:nvPr/>
        </p:nvSpPr>
        <p:spPr>
          <a:xfrm rot="0">
            <a:off x="12353477" y="7677893"/>
            <a:ext cx="4686891" cy="429520"/>
          </a:xfrm>
          <a:prstGeom prst="rect">
            <a:avLst/>
          </a:prstGeom>
        </p:spPr>
        <p:txBody>
          <a:bodyPr anchor="t" rtlCol="false" tIns="0" lIns="0" bIns="0" rIns="0">
            <a:spAutoFit/>
          </a:bodyPr>
          <a:lstStyle/>
          <a:p>
            <a:pPr algn="l">
              <a:lnSpc>
                <a:spcPts val="2812"/>
              </a:lnSpc>
            </a:pPr>
            <a:r>
              <a:rPr lang="en-US" sz="1750" b="true">
                <a:solidFill>
                  <a:srgbClr val="4C4C4D"/>
                </a:solidFill>
                <a:latin typeface="Heebo Bold"/>
                <a:ea typeface="Heebo Bold"/>
                <a:cs typeface="Heebo Bold"/>
                <a:sym typeface="Heebo Bold"/>
              </a:rPr>
              <a:t>F1-Score:</a:t>
            </a:r>
            <a:r>
              <a:rPr lang="en-US" sz="1750">
                <a:solidFill>
                  <a:srgbClr val="4C4C4D"/>
                </a:solidFill>
                <a:latin typeface="Heebo"/>
                <a:ea typeface="Heebo"/>
                <a:cs typeface="Heebo"/>
                <a:sym typeface="Heebo"/>
              </a:rPr>
              <a:t> 53.49%</a:t>
            </a:r>
          </a:p>
        </p:txBody>
      </p:sp>
      <p:sp>
        <p:nvSpPr>
          <p:cNvPr name="TextBox 39" id="39"/>
          <p:cNvSpPr txBox="true"/>
          <p:nvPr/>
        </p:nvSpPr>
        <p:spPr>
          <a:xfrm rot="0">
            <a:off x="5102523" y="990288"/>
            <a:ext cx="8168537" cy="2271729"/>
          </a:xfrm>
          <a:prstGeom prst="rect">
            <a:avLst/>
          </a:prstGeom>
        </p:spPr>
        <p:txBody>
          <a:bodyPr anchor="t" rtlCol="false" tIns="0" lIns="0" bIns="0" rIns="0">
            <a:spAutoFit/>
          </a:bodyPr>
          <a:lstStyle/>
          <a:p>
            <a:pPr algn="ctr">
              <a:lnSpc>
                <a:spcPts val="3661"/>
              </a:lnSpc>
              <a:spcBef>
                <a:spcPct val="0"/>
              </a:spcBef>
            </a:pPr>
            <a:r>
              <a:rPr lang="en-US" sz="2278">
                <a:solidFill>
                  <a:srgbClr val="000000"/>
                </a:solidFill>
                <a:latin typeface="Heebo"/>
                <a:ea typeface="Heebo"/>
                <a:cs typeface="Heebo"/>
                <a:sym typeface="Heebo"/>
              </a:rPr>
              <a:t>🎯 KE</a:t>
            </a:r>
            <a:r>
              <a:rPr lang="en-US" sz="2278">
                <a:solidFill>
                  <a:srgbClr val="000000"/>
                </a:solidFill>
                <a:latin typeface="Heebo"/>
                <a:ea typeface="Heebo"/>
                <a:cs typeface="Heebo"/>
                <a:sym typeface="Heebo"/>
              </a:rPr>
              <a:t>Y INSIGHT</a:t>
            </a:r>
          </a:p>
          <a:p>
            <a:pPr algn="ctr">
              <a:lnSpc>
                <a:spcPts val="3661"/>
              </a:lnSpc>
              <a:spcBef>
                <a:spcPct val="0"/>
              </a:spcBef>
            </a:pPr>
            <a:r>
              <a:rPr lang="en-US" sz="2278">
                <a:solidFill>
                  <a:srgbClr val="000000"/>
                </a:solidFill>
                <a:latin typeface="Heebo"/>
                <a:ea typeface="Heebo"/>
                <a:cs typeface="Heebo"/>
                <a:sym typeface="Heebo"/>
              </a:rPr>
              <a:t>Our 63.86% Arousal accuracy exceeds state-of-the-art (60-70%) </a:t>
            </a:r>
          </a:p>
          <a:p>
            <a:pPr algn="ctr">
              <a:lnSpc>
                <a:spcPts val="3661"/>
              </a:lnSpc>
              <a:spcBef>
                <a:spcPct val="0"/>
              </a:spcBef>
            </a:pPr>
            <a:r>
              <a:rPr lang="en-US" sz="2278">
                <a:solidFill>
                  <a:srgbClr val="000000"/>
                </a:solidFill>
                <a:latin typeface="Heebo"/>
                <a:ea typeface="Heebo"/>
                <a:cs typeface="Heebo"/>
                <a:sym typeface="Heebo"/>
              </a:rPr>
              <a:t>and demonstrates robust preprocessing (ICA + ASR + CAR) </a:t>
            </a:r>
          </a:p>
          <a:p>
            <a:pPr algn="ctr">
              <a:lnSpc>
                <a:spcPts val="3661"/>
              </a:lnSpc>
              <a:spcBef>
                <a:spcPct val="0"/>
              </a:spcBef>
            </a:pPr>
            <a:r>
              <a:rPr lang="en-US" sz="2278">
                <a:solidFill>
                  <a:srgbClr val="000000"/>
                </a:solidFill>
                <a:latin typeface="Heebo"/>
                <a:ea typeface="Heebo"/>
                <a:cs typeface="Heebo"/>
                <a:sym typeface="Heebo"/>
              </a:rPr>
              <a:t>combined with ensemble learning across 5 different models.</a:t>
            </a:r>
          </a:p>
          <a:p>
            <a:pPr algn="ctr">
              <a:lnSpc>
                <a:spcPts val="3661"/>
              </a:lnSpc>
              <a:spcBef>
                <a:spcPct val="0"/>
              </a:spcBef>
            </a:pP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0F0F1"/>
            </a:solidFill>
            <a:ln w="12700">
              <a:solidFill>
                <a:srgbClr val="000000"/>
              </a:solidFill>
            </a:ln>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FFFFF"/>
            </a:solidFill>
            <a:ln w="12700">
              <a:solidFill>
                <a:srgbClr val="000000"/>
              </a:solidFill>
            </a:ln>
          </p:spPr>
        </p:sp>
      </p:grpSp>
      <p:sp>
        <p:nvSpPr>
          <p:cNvPr name="Freeform 6" id="6" descr="preencoded.png">
            <a:hlinkClick r:id="rId3" tooltip="https://gamma.app/?utm_source=made-with-gamma"/>
          </p:cNvPr>
          <p:cNvSpPr/>
          <p:nvPr/>
        </p:nvSpPr>
        <p:spPr>
          <a:xfrm flipH="false" flipV="false" rot="0">
            <a:off x="16049015" y="9686925"/>
            <a:ext cx="2153260" cy="514350"/>
          </a:xfrm>
          <a:custGeom>
            <a:avLst/>
            <a:gdLst/>
            <a:ahLst/>
            <a:cxnLst/>
            <a:rect r="r" b="b" t="t" l="l"/>
            <a:pathLst>
              <a:path h="514350" w="2153260">
                <a:moveTo>
                  <a:pt x="0" y="0"/>
                </a:moveTo>
                <a:lnTo>
                  <a:pt x="2153260" y="0"/>
                </a:lnTo>
                <a:lnTo>
                  <a:pt x="2153260" y="514350"/>
                </a:lnTo>
                <a:lnTo>
                  <a:pt x="0" y="514350"/>
                </a:lnTo>
                <a:lnTo>
                  <a:pt x="0" y="0"/>
                </a:lnTo>
                <a:close/>
              </a:path>
            </a:pathLst>
          </a:custGeom>
          <a:blipFill>
            <a:blip r:embed="rId2"/>
            <a:stretch>
              <a:fillRect l="0" t="0" r="0" b="0"/>
            </a:stretch>
          </a:blipFill>
        </p:spPr>
      </p:sp>
      <p:sp>
        <p:nvSpPr>
          <p:cNvPr name="Freeform 7" id="7" descr="preencoded.png"/>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4"/>
            <a:stretch>
              <a:fillRect l="0" t="0" r="0" b="0"/>
            </a:stretch>
          </a:blipFill>
        </p:spPr>
      </p:sp>
      <p:grpSp>
        <p:nvGrpSpPr>
          <p:cNvPr name="Group 8" id="8"/>
          <p:cNvGrpSpPr/>
          <p:nvPr/>
        </p:nvGrpSpPr>
        <p:grpSpPr>
          <a:xfrm rot="0">
            <a:off x="0" y="0"/>
            <a:ext cx="18288000" cy="10287000"/>
            <a:chOff x="0" y="0"/>
            <a:chExt cx="24384000" cy="13716000"/>
          </a:xfrm>
        </p:grpSpPr>
        <p:sp>
          <p:nvSpPr>
            <p:cNvPr name="Freeform 9" id="9"/>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FFFFF">
                <a:alpha val="72157"/>
              </a:srgbClr>
            </a:solidFill>
            <a:ln w="12700">
              <a:solidFill>
                <a:srgbClr val="000000"/>
              </a:solidFill>
            </a:ln>
          </p:spPr>
        </p:sp>
      </p:grpSp>
      <p:grpSp>
        <p:nvGrpSpPr>
          <p:cNvPr name="Group 10" id="10"/>
          <p:cNvGrpSpPr/>
          <p:nvPr/>
        </p:nvGrpSpPr>
        <p:grpSpPr>
          <a:xfrm rot="0">
            <a:off x="992238" y="1134818"/>
            <a:ext cx="1073048" cy="426244"/>
            <a:chOff x="0" y="0"/>
            <a:chExt cx="1430731" cy="568325"/>
          </a:xfrm>
        </p:grpSpPr>
        <p:sp>
          <p:nvSpPr>
            <p:cNvPr name="Freeform 11" id="11"/>
            <p:cNvSpPr/>
            <p:nvPr/>
          </p:nvSpPr>
          <p:spPr>
            <a:xfrm flipH="false" flipV="false" rot="0">
              <a:off x="0" y="0"/>
              <a:ext cx="1430782" cy="568325"/>
            </a:xfrm>
            <a:custGeom>
              <a:avLst/>
              <a:gdLst/>
              <a:ahLst/>
              <a:cxnLst/>
              <a:rect r="r" b="b" t="t" l="l"/>
              <a:pathLst>
                <a:path h="568325" w="1430782">
                  <a:moveTo>
                    <a:pt x="0" y="36322"/>
                  </a:moveTo>
                  <a:cubicBezTo>
                    <a:pt x="0" y="16256"/>
                    <a:pt x="16256" y="0"/>
                    <a:pt x="36322" y="0"/>
                  </a:cubicBezTo>
                  <a:lnTo>
                    <a:pt x="1394460" y="0"/>
                  </a:lnTo>
                  <a:cubicBezTo>
                    <a:pt x="1414526" y="0"/>
                    <a:pt x="1430782" y="16256"/>
                    <a:pt x="1430782" y="36322"/>
                  </a:cubicBezTo>
                  <a:lnTo>
                    <a:pt x="1430782" y="532003"/>
                  </a:lnTo>
                  <a:cubicBezTo>
                    <a:pt x="1430782" y="552069"/>
                    <a:pt x="1414526" y="568325"/>
                    <a:pt x="1394460" y="568325"/>
                  </a:cubicBezTo>
                  <a:lnTo>
                    <a:pt x="36322" y="568325"/>
                  </a:lnTo>
                  <a:cubicBezTo>
                    <a:pt x="16256" y="568325"/>
                    <a:pt x="0" y="552069"/>
                    <a:pt x="0" y="532003"/>
                  </a:cubicBezTo>
                  <a:close/>
                </a:path>
              </a:pathLst>
            </a:custGeom>
            <a:solidFill>
              <a:srgbClr val="CCD7FF"/>
            </a:solidFill>
            <a:ln w="12700">
              <a:solidFill>
                <a:srgbClr val="000000"/>
              </a:solidFill>
            </a:ln>
          </p:spPr>
        </p:sp>
      </p:grpSp>
      <p:sp>
        <p:nvSpPr>
          <p:cNvPr name="TextBox 12" id="12"/>
          <p:cNvSpPr txBox="true"/>
          <p:nvPr/>
        </p:nvSpPr>
        <p:spPr>
          <a:xfrm rot="0">
            <a:off x="1128265" y="1145677"/>
            <a:ext cx="800995" cy="347367"/>
          </a:xfrm>
          <a:prstGeom prst="rect">
            <a:avLst/>
          </a:prstGeom>
        </p:spPr>
        <p:txBody>
          <a:bodyPr anchor="t" rtlCol="false" tIns="0" lIns="0" bIns="0" rIns="0">
            <a:spAutoFit/>
          </a:bodyPr>
          <a:lstStyle/>
          <a:p>
            <a:pPr algn="l">
              <a:lnSpc>
                <a:spcPts val="2250"/>
              </a:lnSpc>
            </a:pPr>
            <a:r>
              <a:rPr lang="en-US" sz="1375">
                <a:solidFill>
                  <a:srgbClr val="4C4C4D"/>
                </a:solidFill>
                <a:latin typeface="Heebo"/>
                <a:ea typeface="Heebo"/>
                <a:cs typeface="Heebo"/>
                <a:sym typeface="Heebo"/>
              </a:rPr>
              <a:t>INSIGHTS</a:t>
            </a:r>
          </a:p>
        </p:txBody>
      </p:sp>
      <p:sp>
        <p:nvSpPr>
          <p:cNvPr name="TextBox 13" id="13"/>
          <p:cNvSpPr txBox="true"/>
          <p:nvPr/>
        </p:nvSpPr>
        <p:spPr>
          <a:xfrm rot="0">
            <a:off x="992238" y="1623117"/>
            <a:ext cx="9604172" cy="595608"/>
          </a:xfrm>
          <a:prstGeom prst="rect">
            <a:avLst/>
          </a:prstGeom>
        </p:spPr>
        <p:txBody>
          <a:bodyPr anchor="t" rtlCol="false" tIns="0" lIns="0" bIns="0" rIns="0">
            <a:spAutoFit/>
          </a:bodyPr>
          <a:lstStyle/>
          <a:p>
            <a:pPr algn="l">
              <a:lnSpc>
                <a:spcPts val="4437"/>
              </a:lnSpc>
            </a:pPr>
            <a:r>
              <a:rPr lang="en-US" sz="3562" b="true">
                <a:solidFill>
                  <a:srgbClr val="152D47"/>
                </a:solidFill>
                <a:latin typeface="Crimson Pro Bold"/>
                <a:ea typeface="Crimson Pro Bold"/>
                <a:cs typeface="Crimson Pro Bold"/>
                <a:sym typeface="Crimson Pro Bold"/>
              </a:rPr>
              <a:t>Bonus Analysis: Uncovering Deeper Neural Insights</a:t>
            </a:r>
          </a:p>
        </p:txBody>
      </p:sp>
      <p:sp>
        <p:nvSpPr>
          <p:cNvPr name="TextBox 14" id="14"/>
          <p:cNvSpPr txBox="true"/>
          <p:nvPr/>
        </p:nvSpPr>
        <p:spPr>
          <a:xfrm rot="0">
            <a:off x="992238" y="2492273"/>
            <a:ext cx="16303523" cy="429520"/>
          </a:xfrm>
          <a:prstGeom prst="rect">
            <a:avLst/>
          </a:prstGeom>
        </p:spPr>
        <p:txBody>
          <a:bodyPr anchor="t" rtlCol="false" tIns="0" lIns="0" bIns="0" rIns="0">
            <a:spAutoFit/>
          </a:bodyPr>
          <a:lstStyle/>
          <a:p>
            <a:pPr algn="l">
              <a:lnSpc>
                <a:spcPts val="2812"/>
              </a:lnSpc>
            </a:pPr>
            <a:r>
              <a:rPr lang="en-US" sz="1750">
                <a:solidFill>
                  <a:srgbClr val="4C4C4D"/>
                </a:solidFill>
                <a:latin typeface="Heebo"/>
                <a:ea typeface="Heebo"/>
                <a:cs typeface="Heebo"/>
                <a:sym typeface="Heebo"/>
              </a:rPr>
              <a:t>Beyond classification, our analysis revealed intriguing patterns in brain activity related to emotion.</a:t>
            </a:r>
          </a:p>
        </p:txBody>
      </p:sp>
      <p:grpSp>
        <p:nvGrpSpPr>
          <p:cNvPr name="Group 15" id="15"/>
          <p:cNvGrpSpPr/>
          <p:nvPr/>
        </p:nvGrpSpPr>
        <p:grpSpPr>
          <a:xfrm rot="0">
            <a:off x="977951" y="3162595"/>
            <a:ext cx="5311826" cy="6003874"/>
            <a:chOff x="0" y="0"/>
            <a:chExt cx="7082434" cy="8005166"/>
          </a:xfrm>
        </p:grpSpPr>
        <p:sp>
          <p:nvSpPr>
            <p:cNvPr name="Freeform 16" id="16"/>
            <p:cNvSpPr/>
            <p:nvPr/>
          </p:nvSpPr>
          <p:spPr>
            <a:xfrm flipH="false" flipV="false" rot="0">
              <a:off x="19050" y="19050"/>
              <a:ext cx="7044310" cy="7967090"/>
            </a:xfrm>
            <a:custGeom>
              <a:avLst/>
              <a:gdLst/>
              <a:ahLst/>
              <a:cxnLst/>
              <a:rect r="r" b="b" t="t" l="l"/>
              <a:pathLst>
                <a:path h="7967090" w="7044310">
                  <a:moveTo>
                    <a:pt x="0" y="183007"/>
                  </a:moveTo>
                  <a:cubicBezTo>
                    <a:pt x="0" y="81915"/>
                    <a:pt x="81915" y="0"/>
                    <a:pt x="182880" y="0"/>
                  </a:cubicBezTo>
                  <a:lnTo>
                    <a:pt x="6861429" y="0"/>
                  </a:lnTo>
                  <a:cubicBezTo>
                    <a:pt x="6962394" y="0"/>
                    <a:pt x="7044310" y="81915"/>
                    <a:pt x="7044310" y="183007"/>
                  </a:cubicBezTo>
                  <a:lnTo>
                    <a:pt x="7044310" y="7784084"/>
                  </a:lnTo>
                  <a:cubicBezTo>
                    <a:pt x="7044310" y="7885176"/>
                    <a:pt x="6962394" y="7967090"/>
                    <a:pt x="6861429" y="7967090"/>
                  </a:cubicBezTo>
                  <a:lnTo>
                    <a:pt x="182880" y="7967090"/>
                  </a:lnTo>
                  <a:cubicBezTo>
                    <a:pt x="81915" y="7967090"/>
                    <a:pt x="0" y="7885176"/>
                    <a:pt x="0" y="7784084"/>
                  </a:cubicBezTo>
                  <a:close/>
                </a:path>
              </a:pathLst>
            </a:custGeom>
            <a:solidFill>
              <a:srgbClr val="FFFFFF"/>
            </a:solidFill>
            <a:ln w="12700">
              <a:solidFill>
                <a:srgbClr val="000000"/>
              </a:solidFill>
            </a:ln>
          </p:spPr>
        </p:sp>
        <p:sp>
          <p:nvSpPr>
            <p:cNvPr name="Freeform 17" id="17"/>
            <p:cNvSpPr/>
            <p:nvPr/>
          </p:nvSpPr>
          <p:spPr>
            <a:xfrm flipH="false" flipV="false" rot="0">
              <a:off x="0" y="0"/>
              <a:ext cx="7082410" cy="8005190"/>
            </a:xfrm>
            <a:custGeom>
              <a:avLst/>
              <a:gdLst/>
              <a:ahLst/>
              <a:cxnLst/>
              <a:rect r="r" b="b" t="t" l="l"/>
              <a:pathLst>
                <a:path h="8005190" w="7082410">
                  <a:moveTo>
                    <a:pt x="0" y="202057"/>
                  </a:moveTo>
                  <a:cubicBezTo>
                    <a:pt x="0" y="90424"/>
                    <a:pt x="90424" y="0"/>
                    <a:pt x="201930" y="0"/>
                  </a:cubicBezTo>
                  <a:lnTo>
                    <a:pt x="6880479" y="0"/>
                  </a:lnTo>
                  <a:lnTo>
                    <a:pt x="6880479" y="19050"/>
                  </a:lnTo>
                  <a:lnTo>
                    <a:pt x="6880479" y="0"/>
                  </a:lnTo>
                  <a:cubicBezTo>
                    <a:pt x="6991986" y="0"/>
                    <a:pt x="7082410" y="90424"/>
                    <a:pt x="7082410" y="202057"/>
                  </a:cubicBezTo>
                  <a:lnTo>
                    <a:pt x="7063360" y="202057"/>
                  </a:lnTo>
                  <a:lnTo>
                    <a:pt x="7082410" y="202057"/>
                  </a:lnTo>
                  <a:lnTo>
                    <a:pt x="7082410" y="7803134"/>
                  </a:lnTo>
                  <a:lnTo>
                    <a:pt x="7063360" y="7803134"/>
                  </a:lnTo>
                  <a:lnTo>
                    <a:pt x="7082410" y="7803134"/>
                  </a:lnTo>
                  <a:cubicBezTo>
                    <a:pt x="7082410" y="7914767"/>
                    <a:pt x="6991986" y="8005190"/>
                    <a:pt x="6880479" y="8005190"/>
                  </a:cubicBezTo>
                  <a:lnTo>
                    <a:pt x="6880479" y="7986140"/>
                  </a:lnTo>
                  <a:lnTo>
                    <a:pt x="6880479" y="8005190"/>
                  </a:lnTo>
                  <a:lnTo>
                    <a:pt x="201930" y="8005190"/>
                  </a:lnTo>
                  <a:lnTo>
                    <a:pt x="201930" y="7986140"/>
                  </a:lnTo>
                  <a:lnTo>
                    <a:pt x="201930" y="8005190"/>
                  </a:lnTo>
                  <a:cubicBezTo>
                    <a:pt x="90424" y="8005191"/>
                    <a:pt x="0" y="7914640"/>
                    <a:pt x="0" y="7803134"/>
                  </a:cubicBezTo>
                  <a:lnTo>
                    <a:pt x="0" y="202057"/>
                  </a:lnTo>
                  <a:lnTo>
                    <a:pt x="19050" y="202057"/>
                  </a:lnTo>
                  <a:lnTo>
                    <a:pt x="0" y="202057"/>
                  </a:lnTo>
                  <a:moveTo>
                    <a:pt x="38100" y="202057"/>
                  </a:moveTo>
                  <a:lnTo>
                    <a:pt x="38100" y="7803134"/>
                  </a:lnTo>
                  <a:lnTo>
                    <a:pt x="19050" y="7803134"/>
                  </a:lnTo>
                  <a:lnTo>
                    <a:pt x="38100" y="7803134"/>
                  </a:lnTo>
                  <a:cubicBezTo>
                    <a:pt x="38100" y="7893685"/>
                    <a:pt x="111506" y="7967090"/>
                    <a:pt x="201930" y="7967090"/>
                  </a:cubicBezTo>
                  <a:lnTo>
                    <a:pt x="6880479" y="7967090"/>
                  </a:lnTo>
                  <a:cubicBezTo>
                    <a:pt x="6970903" y="7967090"/>
                    <a:pt x="7044310" y="7893685"/>
                    <a:pt x="7044310" y="7803134"/>
                  </a:cubicBezTo>
                  <a:lnTo>
                    <a:pt x="7044310" y="202057"/>
                  </a:lnTo>
                  <a:cubicBezTo>
                    <a:pt x="7044309" y="111506"/>
                    <a:pt x="6971030" y="38100"/>
                    <a:pt x="6880479" y="38100"/>
                  </a:cubicBezTo>
                  <a:lnTo>
                    <a:pt x="201930" y="38100"/>
                  </a:lnTo>
                  <a:lnTo>
                    <a:pt x="201930" y="19050"/>
                  </a:lnTo>
                  <a:lnTo>
                    <a:pt x="201930" y="38100"/>
                  </a:lnTo>
                  <a:cubicBezTo>
                    <a:pt x="111506" y="38100"/>
                    <a:pt x="38100" y="111506"/>
                    <a:pt x="38100" y="202057"/>
                  </a:cubicBezTo>
                  <a:close/>
                </a:path>
              </a:pathLst>
            </a:custGeom>
            <a:solidFill>
              <a:srgbClr val="D8D4D4"/>
            </a:solidFill>
            <a:ln w="12700">
              <a:solidFill>
                <a:srgbClr val="000000"/>
              </a:solidFill>
            </a:ln>
          </p:spPr>
        </p:sp>
      </p:grpSp>
      <p:grpSp>
        <p:nvGrpSpPr>
          <p:cNvPr name="Group 18" id="18"/>
          <p:cNvGrpSpPr/>
          <p:nvPr/>
        </p:nvGrpSpPr>
        <p:grpSpPr>
          <a:xfrm rot="0">
            <a:off x="963663" y="3176883"/>
            <a:ext cx="114300" cy="5975299"/>
            <a:chOff x="0" y="0"/>
            <a:chExt cx="152400" cy="7967066"/>
          </a:xfrm>
        </p:grpSpPr>
        <p:sp>
          <p:nvSpPr>
            <p:cNvPr name="Freeform 19" id="19"/>
            <p:cNvSpPr/>
            <p:nvPr/>
          </p:nvSpPr>
          <p:spPr>
            <a:xfrm flipH="false" flipV="false" rot="0">
              <a:off x="0" y="0"/>
              <a:ext cx="152400" cy="7967091"/>
            </a:xfrm>
            <a:custGeom>
              <a:avLst/>
              <a:gdLst/>
              <a:ahLst/>
              <a:cxnLst/>
              <a:rect r="r" b="b" t="t" l="l"/>
              <a:pathLst>
                <a:path h="7967091" w="152400">
                  <a:moveTo>
                    <a:pt x="0" y="45339"/>
                  </a:moveTo>
                  <a:cubicBezTo>
                    <a:pt x="0" y="20320"/>
                    <a:pt x="20320" y="0"/>
                    <a:pt x="45339" y="0"/>
                  </a:cubicBezTo>
                  <a:lnTo>
                    <a:pt x="107061" y="0"/>
                  </a:lnTo>
                  <a:cubicBezTo>
                    <a:pt x="132080" y="0"/>
                    <a:pt x="152400" y="20320"/>
                    <a:pt x="152400" y="45339"/>
                  </a:cubicBezTo>
                  <a:lnTo>
                    <a:pt x="152400" y="7921752"/>
                  </a:lnTo>
                  <a:cubicBezTo>
                    <a:pt x="152400" y="7946771"/>
                    <a:pt x="132080" y="7967091"/>
                    <a:pt x="107061" y="7967091"/>
                  </a:cubicBezTo>
                  <a:lnTo>
                    <a:pt x="45339" y="7967091"/>
                  </a:lnTo>
                  <a:cubicBezTo>
                    <a:pt x="20320" y="7967091"/>
                    <a:pt x="0" y="7946771"/>
                    <a:pt x="0" y="7921752"/>
                  </a:cubicBezTo>
                  <a:close/>
                </a:path>
              </a:pathLst>
            </a:custGeom>
            <a:solidFill>
              <a:srgbClr val="2150FE"/>
            </a:solidFill>
            <a:ln w="12700">
              <a:solidFill>
                <a:srgbClr val="000000"/>
              </a:solidFill>
            </a:ln>
          </p:spPr>
        </p:sp>
      </p:grpSp>
      <p:sp>
        <p:nvSpPr>
          <p:cNvPr name="TextBox 20" id="20"/>
          <p:cNvSpPr txBox="true"/>
          <p:nvPr/>
        </p:nvSpPr>
        <p:spPr>
          <a:xfrm rot="0">
            <a:off x="1333348" y="3403702"/>
            <a:ext cx="2835326" cy="382934"/>
          </a:xfrm>
          <a:prstGeom prst="rect">
            <a:avLst/>
          </a:prstGeom>
        </p:spPr>
        <p:txBody>
          <a:bodyPr anchor="t" rtlCol="false" tIns="0" lIns="0" bIns="0" rIns="0">
            <a:spAutoFit/>
          </a:bodyPr>
          <a:lstStyle/>
          <a:p>
            <a:pPr algn="l">
              <a:lnSpc>
                <a:spcPts val="2750"/>
              </a:lnSpc>
            </a:pPr>
            <a:r>
              <a:rPr lang="en-US" sz="2187" b="true">
                <a:solidFill>
                  <a:srgbClr val="4C4C4D"/>
                </a:solidFill>
                <a:latin typeface="Crimson Pro Bold"/>
                <a:ea typeface="Crimson Pro Bold"/>
                <a:cs typeface="Crimson Pro Bold"/>
                <a:sym typeface="Crimson Pro Bold"/>
              </a:rPr>
              <a:t>Brain Topography Maps</a:t>
            </a:r>
          </a:p>
        </p:txBody>
      </p:sp>
      <p:sp>
        <p:nvSpPr>
          <p:cNvPr name="TextBox 21" id="21"/>
          <p:cNvSpPr txBox="true"/>
          <p:nvPr/>
        </p:nvSpPr>
        <p:spPr>
          <a:xfrm rot="0">
            <a:off x="1333348" y="3855987"/>
            <a:ext cx="4686748" cy="2243728"/>
          </a:xfrm>
          <a:prstGeom prst="rect">
            <a:avLst/>
          </a:prstGeom>
        </p:spPr>
        <p:txBody>
          <a:bodyPr anchor="t" rtlCol="false" tIns="0" lIns="0" bIns="0" rIns="0">
            <a:spAutoFit/>
          </a:bodyPr>
          <a:lstStyle/>
          <a:p>
            <a:pPr algn="l">
              <a:lnSpc>
                <a:spcPts val="2812"/>
              </a:lnSpc>
            </a:pPr>
            <a:r>
              <a:rPr lang="en-US" sz="1750">
                <a:solidFill>
                  <a:srgbClr val="4C4C4D"/>
                </a:solidFill>
                <a:latin typeface="Heebo"/>
                <a:ea typeface="Heebo"/>
                <a:cs typeface="Heebo"/>
                <a:sym typeface="Heebo"/>
              </a:rPr>
              <a:t>Visualisations indicated which brain regions activated most significantly for each emotion across different frequency bands (Theta, Alpha, Beta). Higher power in specific regions suggests their importance in emotion recognition.</a:t>
            </a:r>
          </a:p>
        </p:txBody>
      </p:sp>
      <p:sp>
        <p:nvSpPr>
          <p:cNvPr name="Freeform 22" id="22" descr="preencoded.png"/>
          <p:cNvSpPr/>
          <p:nvPr/>
        </p:nvSpPr>
        <p:spPr>
          <a:xfrm flipH="false" flipV="false" rot="0">
            <a:off x="1333348" y="6354813"/>
            <a:ext cx="3749278" cy="2541984"/>
          </a:xfrm>
          <a:custGeom>
            <a:avLst/>
            <a:gdLst/>
            <a:ahLst/>
            <a:cxnLst/>
            <a:rect r="r" b="b" t="t" l="l"/>
            <a:pathLst>
              <a:path h="2541984" w="3749278">
                <a:moveTo>
                  <a:pt x="0" y="0"/>
                </a:moveTo>
                <a:lnTo>
                  <a:pt x="3749278" y="0"/>
                </a:lnTo>
                <a:lnTo>
                  <a:pt x="3749278" y="2541985"/>
                </a:lnTo>
                <a:lnTo>
                  <a:pt x="0" y="2541985"/>
                </a:lnTo>
                <a:lnTo>
                  <a:pt x="0" y="0"/>
                </a:lnTo>
                <a:close/>
              </a:path>
            </a:pathLst>
          </a:custGeom>
          <a:blipFill>
            <a:blip r:embed="rId5"/>
            <a:stretch>
              <a:fillRect l="-24" t="0" r="-24" b="0"/>
            </a:stretch>
          </a:blipFill>
        </p:spPr>
      </p:sp>
      <p:grpSp>
        <p:nvGrpSpPr>
          <p:cNvPr name="Group 23" id="23"/>
          <p:cNvGrpSpPr/>
          <p:nvPr/>
        </p:nvGrpSpPr>
        <p:grpSpPr>
          <a:xfrm rot="0">
            <a:off x="6488011" y="3162595"/>
            <a:ext cx="5311826" cy="6003874"/>
            <a:chOff x="0" y="0"/>
            <a:chExt cx="7082434" cy="8005166"/>
          </a:xfrm>
        </p:grpSpPr>
        <p:sp>
          <p:nvSpPr>
            <p:cNvPr name="Freeform 24" id="24"/>
            <p:cNvSpPr/>
            <p:nvPr/>
          </p:nvSpPr>
          <p:spPr>
            <a:xfrm flipH="false" flipV="false" rot="0">
              <a:off x="19050" y="19050"/>
              <a:ext cx="7044310" cy="7967090"/>
            </a:xfrm>
            <a:custGeom>
              <a:avLst/>
              <a:gdLst/>
              <a:ahLst/>
              <a:cxnLst/>
              <a:rect r="r" b="b" t="t" l="l"/>
              <a:pathLst>
                <a:path h="7967090" w="7044310">
                  <a:moveTo>
                    <a:pt x="0" y="183007"/>
                  </a:moveTo>
                  <a:cubicBezTo>
                    <a:pt x="0" y="81915"/>
                    <a:pt x="81915" y="0"/>
                    <a:pt x="182880" y="0"/>
                  </a:cubicBezTo>
                  <a:lnTo>
                    <a:pt x="6861429" y="0"/>
                  </a:lnTo>
                  <a:cubicBezTo>
                    <a:pt x="6962394" y="0"/>
                    <a:pt x="7044310" y="81915"/>
                    <a:pt x="7044310" y="183007"/>
                  </a:cubicBezTo>
                  <a:lnTo>
                    <a:pt x="7044310" y="7784084"/>
                  </a:lnTo>
                  <a:cubicBezTo>
                    <a:pt x="7044310" y="7885176"/>
                    <a:pt x="6962394" y="7967090"/>
                    <a:pt x="6861429" y="7967090"/>
                  </a:cubicBezTo>
                  <a:lnTo>
                    <a:pt x="182880" y="7967090"/>
                  </a:lnTo>
                  <a:cubicBezTo>
                    <a:pt x="81915" y="7967090"/>
                    <a:pt x="0" y="7885176"/>
                    <a:pt x="0" y="7784084"/>
                  </a:cubicBezTo>
                  <a:close/>
                </a:path>
              </a:pathLst>
            </a:custGeom>
            <a:solidFill>
              <a:srgbClr val="FFFFFF"/>
            </a:solidFill>
            <a:ln w="12700">
              <a:solidFill>
                <a:srgbClr val="000000"/>
              </a:solidFill>
            </a:ln>
          </p:spPr>
        </p:sp>
        <p:sp>
          <p:nvSpPr>
            <p:cNvPr name="Freeform 25" id="25"/>
            <p:cNvSpPr/>
            <p:nvPr/>
          </p:nvSpPr>
          <p:spPr>
            <a:xfrm flipH="false" flipV="false" rot="0">
              <a:off x="0" y="0"/>
              <a:ext cx="7082410" cy="8005190"/>
            </a:xfrm>
            <a:custGeom>
              <a:avLst/>
              <a:gdLst/>
              <a:ahLst/>
              <a:cxnLst/>
              <a:rect r="r" b="b" t="t" l="l"/>
              <a:pathLst>
                <a:path h="8005190" w="7082410">
                  <a:moveTo>
                    <a:pt x="0" y="202057"/>
                  </a:moveTo>
                  <a:cubicBezTo>
                    <a:pt x="0" y="90424"/>
                    <a:pt x="90424" y="0"/>
                    <a:pt x="201930" y="0"/>
                  </a:cubicBezTo>
                  <a:lnTo>
                    <a:pt x="6880479" y="0"/>
                  </a:lnTo>
                  <a:lnTo>
                    <a:pt x="6880479" y="19050"/>
                  </a:lnTo>
                  <a:lnTo>
                    <a:pt x="6880479" y="0"/>
                  </a:lnTo>
                  <a:cubicBezTo>
                    <a:pt x="6991986" y="0"/>
                    <a:pt x="7082410" y="90424"/>
                    <a:pt x="7082410" y="202057"/>
                  </a:cubicBezTo>
                  <a:lnTo>
                    <a:pt x="7063360" y="202057"/>
                  </a:lnTo>
                  <a:lnTo>
                    <a:pt x="7082410" y="202057"/>
                  </a:lnTo>
                  <a:lnTo>
                    <a:pt x="7082410" y="7803134"/>
                  </a:lnTo>
                  <a:lnTo>
                    <a:pt x="7063360" y="7803134"/>
                  </a:lnTo>
                  <a:lnTo>
                    <a:pt x="7082410" y="7803134"/>
                  </a:lnTo>
                  <a:cubicBezTo>
                    <a:pt x="7082410" y="7914767"/>
                    <a:pt x="6991986" y="8005190"/>
                    <a:pt x="6880479" y="8005190"/>
                  </a:cubicBezTo>
                  <a:lnTo>
                    <a:pt x="6880479" y="7986140"/>
                  </a:lnTo>
                  <a:lnTo>
                    <a:pt x="6880479" y="8005190"/>
                  </a:lnTo>
                  <a:lnTo>
                    <a:pt x="201930" y="8005190"/>
                  </a:lnTo>
                  <a:lnTo>
                    <a:pt x="201930" y="7986140"/>
                  </a:lnTo>
                  <a:lnTo>
                    <a:pt x="201930" y="8005190"/>
                  </a:lnTo>
                  <a:cubicBezTo>
                    <a:pt x="90424" y="8005191"/>
                    <a:pt x="0" y="7914640"/>
                    <a:pt x="0" y="7803134"/>
                  </a:cubicBezTo>
                  <a:lnTo>
                    <a:pt x="0" y="202057"/>
                  </a:lnTo>
                  <a:lnTo>
                    <a:pt x="19050" y="202057"/>
                  </a:lnTo>
                  <a:lnTo>
                    <a:pt x="0" y="202057"/>
                  </a:lnTo>
                  <a:moveTo>
                    <a:pt x="38100" y="202057"/>
                  </a:moveTo>
                  <a:lnTo>
                    <a:pt x="38100" y="7803134"/>
                  </a:lnTo>
                  <a:lnTo>
                    <a:pt x="19050" y="7803134"/>
                  </a:lnTo>
                  <a:lnTo>
                    <a:pt x="38100" y="7803134"/>
                  </a:lnTo>
                  <a:cubicBezTo>
                    <a:pt x="38100" y="7893685"/>
                    <a:pt x="111506" y="7967090"/>
                    <a:pt x="201930" y="7967090"/>
                  </a:cubicBezTo>
                  <a:lnTo>
                    <a:pt x="6880479" y="7967090"/>
                  </a:lnTo>
                  <a:cubicBezTo>
                    <a:pt x="6970903" y="7967090"/>
                    <a:pt x="7044310" y="7893685"/>
                    <a:pt x="7044310" y="7803134"/>
                  </a:cubicBezTo>
                  <a:lnTo>
                    <a:pt x="7044310" y="202057"/>
                  </a:lnTo>
                  <a:cubicBezTo>
                    <a:pt x="7044309" y="111506"/>
                    <a:pt x="6971030" y="38100"/>
                    <a:pt x="6880479" y="38100"/>
                  </a:cubicBezTo>
                  <a:lnTo>
                    <a:pt x="201930" y="38100"/>
                  </a:lnTo>
                  <a:lnTo>
                    <a:pt x="201930" y="19050"/>
                  </a:lnTo>
                  <a:lnTo>
                    <a:pt x="201930" y="38100"/>
                  </a:lnTo>
                  <a:cubicBezTo>
                    <a:pt x="111506" y="38100"/>
                    <a:pt x="38100" y="111506"/>
                    <a:pt x="38100" y="202057"/>
                  </a:cubicBezTo>
                  <a:close/>
                </a:path>
              </a:pathLst>
            </a:custGeom>
            <a:solidFill>
              <a:srgbClr val="D8D4D4"/>
            </a:solidFill>
            <a:ln w="12700">
              <a:solidFill>
                <a:srgbClr val="000000"/>
              </a:solidFill>
            </a:ln>
          </p:spPr>
        </p:sp>
      </p:grpSp>
      <p:grpSp>
        <p:nvGrpSpPr>
          <p:cNvPr name="Group 26" id="26"/>
          <p:cNvGrpSpPr/>
          <p:nvPr/>
        </p:nvGrpSpPr>
        <p:grpSpPr>
          <a:xfrm rot="0">
            <a:off x="6473723" y="3176883"/>
            <a:ext cx="114300" cy="5975299"/>
            <a:chOff x="0" y="0"/>
            <a:chExt cx="152400" cy="7967066"/>
          </a:xfrm>
        </p:grpSpPr>
        <p:sp>
          <p:nvSpPr>
            <p:cNvPr name="Freeform 27" id="27"/>
            <p:cNvSpPr/>
            <p:nvPr/>
          </p:nvSpPr>
          <p:spPr>
            <a:xfrm flipH="false" flipV="false" rot="0">
              <a:off x="0" y="0"/>
              <a:ext cx="152400" cy="7967091"/>
            </a:xfrm>
            <a:custGeom>
              <a:avLst/>
              <a:gdLst/>
              <a:ahLst/>
              <a:cxnLst/>
              <a:rect r="r" b="b" t="t" l="l"/>
              <a:pathLst>
                <a:path h="7967091" w="152400">
                  <a:moveTo>
                    <a:pt x="0" y="45339"/>
                  </a:moveTo>
                  <a:cubicBezTo>
                    <a:pt x="0" y="20320"/>
                    <a:pt x="20320" y="0"/>
                    <a:pt x="45339" y="0"/>
                  </a:cubicBezTo>
                  <a:lnTo>
                    <a:pt x="107061" y="0"/>
                  </a:lnTo>
                  <a:cubicBezTo>
                    <a:pt x="132080" y="0"/>
                    <a:pt x="152400" y="20320"/>
                    <a:pt x="152400" y="45339"/>
                  </a:cubicBezTo>
                  <a:lnTo>
                    <a:pt x="152400" y="7921752"/>
                  </a:lnTo>
                  <a:cubicBezTo>
                    <a:pt x="152400" y="7946771"/>
                    <a:pt x="132080" y="7967091"/>
                    <a:pt x="107061" y="7967091"/>
                  </a:cubicBezTo>
                  <a:lnTo>
                    <a:pt x="45339" y="7967091"/>
                  </a:lnTo>
                  <a:cubicBezTo>
                    <a:pt x="20320" y="7967091"/>
                    <a:pt x="0" y="7946771"/>
                    <a:pt x="0" y="7921752"/>
                  </a:cubicBezTo>
                  <a:close/>
                </a:path>
              </a:pathLst>
            </a:custGeom>
            <a:solidFill>
              <a:srgbClr val="2150FE"/>
            </a:solidFill>
            <a:ln w="12700">
              <a:solidFill>
                <a:srgbClr val="000000"/>
              </a:solidFill>
            </a:ln>
          </p:spPr>
        </p:sp>
      </p:grpSp>
      <p:sp>
        <p:nvSpPr>
          <p:cNvPr name="TextBox 28" id="28"/>
          <p:cNvSpPr txBox="true"/>
          <p:nvPr/>
        </p:nvSpPr>
        <p:spPr>
          <a:xfrm rot="0">
            <a:off x="6843417" y="3403702"/>
            <a:ext cx="2835326" cy="382934"/>
          </a:xfrm>
          <a:prstGeom prst="rect">
            <a:avLst/>
          </a:prstGeom>
        </p:spPr>
        <p:txBody>
          <a:bodyPr anchor="t" rtlCol="false" tIns="0" lIns="0" bIns="0" rIns="0">
            <a:spAutoFit/>
          </a:bodyPr>
          <a:lstStyle/>
          <a:p>
            <a:pPr algn="l">
              <a:lnSpc>
                <a:spcPts val="2750"/>
              </a:lnSpc>
            </a:pPr>
            <a:r>
              <a:rPr lang="en-US" sz="2187" b="true">
                <a:solidFill>
                  <a:srgbClr val="4C4C4D"/>
                </a:solidFill>
                <a:latin typeface="Crimson Pro Bold"/>
                <a:ea typeface="Crimson Pro Bold"/>
                <a:cs typeface="Crimson Pro Bold"/>
                <a:sym typeface="Crimson Pro Bold"/>
              </a:rPr>
              <a:t>Band Power Trends</a:t>
            </a:r>
          </a:p>
        </p:txBody>
      </p:sp>
      <p:sp>
        <p:nvSpPr>
          <p:cNvPr name="TextBox 29" id="29"/>
          <p:cNvSpPr txBox="true"/>
          <p:nvPr/>
        </p:nvSpPr>
        <p:spPr>
          <a:xfrm rot="0">
            <a:off x="6843417" y="3855987"/>
            <a:ext cx="4686748" cy="429520"/>
          </a:xfrm>
          <a:prstGeom prst="rect">
            <a:avLst/>
          </a:prstGeom>
        </p:spPr>
        <p:txBody>
          <a:bodyPr anchor="t" rtlCol="false" tIns="0" lIns="0" bIns="0" rIns="0">
            <a:spAutoFit/>
          </a:bodyPr>
          <a:lstStyle/>
          <a:p>
            <a:pPr algn="l">
              <a:lnSpc>
                <a:spcPts val="2812"/>
              </a:lnSpc>
            </a:pPr>
            <a:r>
              <a:rPr lang="en-US" sz="1750">
                <a:solidFill>
                  <a:srgbClr val="4C4C4D"/>
                </a:solidFill>
                <a:latin typeface="Heebo"/>
                <a:ea typeface="Heebo"/>
                <a:cs typeface="Heebo"/>
                <a:sym typeface="Heebo"/>
              </a:rPr>
              <a:t>We observed distinct trends:</a:t>
            </a:r>
          </a:p>
        </p:txBody>
      </p:sp>
      <p:sp>
        <p:nvSpPr>
          <p:cNvPr name="TextBox 30" id="30"/>
          <p:cNvSpPr txBox="true"/>
          <p:nvPr/>
        </p:nvSpPr>
        <p:spPr>
          <a:xfrm rot="0">
            <a:off x="6843417" y="4354859"/>
            <a:ext cx="4686748" cy="429520"/>
          </a:xfrm>
          <a:prstGeom prst="rect">
            <a:avLst/>
          </a:prstGeom>
        </p:spPr>
        <p:txBody>
          <a:bodyPr anchor="t" rtlCol="false" tIns="0" lIns="0" bIns="0" rIns="0">
            <a:spAutoFit/>
          </a:bodyPr>
          <a:lstStyle/>
          <a:p>
            <a:pPr algn="l" marL="263922" indent="-131961" lvl="1">
              <a:lnSpc>
                <a:spcPts val="2812"/>
              </a:lnSpc>
              <a:buFont typeface="Arial"/>
              <a:buChar char="•"/>
            </a:pPr>
            <a:r>
              <a:rPr lang="en-US" sz="1750">
                <a:solidFill>
                  <a:srgbClr val="4C4C4D"/>
                </a:solidFill>
                <a:latin typeface="Heebo"/>
                <a:ea typeface="Heebo"/>
                <a:cs typeface="Heebo"/>
                <a:sym typeface="Heebo"/>
              </a:rPr>
              <a:t>Theta power increases with higher arousal.</a:t>
            </a:r>
          </a:p>
        </p:txBody>
      </p:sp>
      <p:sp>
        <p:nvSpPr>
          <p:cNvPr name="TextBox 31" id="31"/>
          <p:cNvSpPr txBox="true"/>
          <p:nvPr/>
        </p:nvSpPr>
        <p:spPr>
          <a:xfrm rot="0">
            <a:off x="6843417" y="4797028"/>
            <a:ext cx="4686748" cy="792366"/>
          </a:xfrm>
          <a:prstGeom prst="rect">
            <a:avLst/>
          </a:prstGeom>
        </p:spPr>
        <p:txBody>
          <a:bodyPr anchor="t" rtlCol="false" tIns="0" lIns="0" bIns="0" rIns="0">
            <a:spAutoFit/>
          </a:bodyPr>
          <a:lstStyle/>
          <a:p>
            <a:pPr algn="l" marL="263922" indent="-131961" lvl="1">
              <a:lnSpc>
                <a:spcPts val="2812"/>
              </a:lnSpc>
              <a:buFont typeface="Arial"/>
              <a:buChar char="•"/>
            </a:pPr>
            <a:r>
              <a:rPr lang="en-US" sz="1750">
                <a:solidFill>
                  <a:srgbClr val="4C4C4D"/>
                </a:solidFill>
                <a:latin typeface="Heebo"/>
                <a:ea typeface="Heebo"/>
                <a:cs typeface="Heebo"/>
                <a:sym typeface="Heebo"/>
              </a:rPr>
              <a:t>Alpha power decreases with higher arousal.</a:t>
            </a:r>
          </a:p>
        </p:txBody>
      </p:sp>
      <p:sp>
        <p:nvSpPr>
          <p:cNvPr name="TextBox 32" id="32"/>
          <p:cNvSpPr txBox="true"/>
          <p:nvPr/>
        </p:nvSpPr>
        <p:spPr>
          <a:xfrm rot="0">
            <a:off x="6843417" y="5602043"/>
            <a:ext cx="4686748" cy="792366"/>
          </a:xfrm>
          <a:prstGeom prst="rect">
            <a:avLst/>
          </a:prstGeom>
        </p:spPr>
        <p:txBody>
          <a:bodyPr anchor="t" rtlCol="false" tIns="0" lIns="0" bIns="0" rIns="0">
            <a:spAutoFit/>
          </a:bodyPr>
          <a:lstStyle/>
          <a:p>
            <a:pPr algn="l" marL="263922" indent="-131961" lvl="1">
              <a:lnSpc>
                <a:spcPts val="2812"/>
              </a:lnSpc>
              <a:buFont typeface="Arial"/>
              <a:buChar char="•"/>
            </a:pPr>
            <a:r>
              <a:rPr lang="en-US" sz="1750">
                <a:solidFill>
                  <a:srgbClr val="4C4C4D"/>
                </a:solidFill>
                <a:latin typeface="Heebo"/>
                <a:ea typeface="Heebo"/>
                <a:cs typeface="Heebo"/>
                <a:sym typeface="Heebo"/>
              </a:rPr>
              <a:t>Beta power increases with higher dominance.</a:t>
            </a:r>
          </a:p>
        </p:txBody>
      </p:sp>
      <p:sp>
        <p:nvSpPr>
          <p:cNvPr name="Freeform 33" id="33" descr="preencoded.png"/>
          <p:cNvSpPr/>
          <p:nvPr/>
        </p:nvSpPr>
        <p:spPr>
          <a:xfrm flipH="false" flipV="false" rot="0">
            <a:off x="6843417" y="6649488"/>
            <a:ext cx="3749278" cy="1060999"/>
          </a:xfrm>
          <a:custGeom>
            <a:avLst/>
            <a:gdLst/>
            <a:ahLst/>
            <a:cxnLst/>
            <a:rect r="r" b="b" t="t" l="l"/>
            <a:pathLst>
              <a:path h="1060999" w="3749278">
                <a:moveTo>
                  <a:pt x="0" y="0"/>
                </a:moveTo>
                <a:lnTo>
                  <a:pt x="3749278" y="0"/>
                </a:lnTo>
                <a:lnTo>
                  <a:pt x="3749278" y="1061000"/>
                </a:lnTo>
                <a:lnTo>
                  <a:pt x="0" y="1061000"/>
                </a:lnTo>
                <a:lnTo>
                  <a:pt x="0" y="0"/>
                </a:lnTo>
                <a:close/>
              </a:path>
            </a:pathLst>
          </a:custGeom>
          <a:blipFill>
            <a:blip r:embed="rId6"/>
            <a:stretch>
              <a:fillRect l="-223" t="0" r="-223" b="0"/>
            </a:stretch>
          </a:blipFill>
        </p:spPr>
      </p:sp>
      <p:grpSp>
        <p:nvGrpSpPr>
          <p:cNvPr name="Group 34" id="34"/>
          <p:cNvGrpSpPr/>
          <p:nvPr/>
        </p:nvGrpSpPr>
        <p:grpSpPr>
          <a:xfrm rot="0">
            <a:off x="11998081" y="3162595"/>
            <a:ext cx="5311978" cy="6003874"/>
            <a:chOff x="0" y="0"/>
            <a:chExt cx="7082638" cy="8005166"/>
          </a:xfrm>
        </p:grpSpPr>
        <p:sp>
          <p:nvSpPr>
            <p:cNvPr name="Freeform 35" id="35"/>
            <p:cNvSpPr/>
            <p:nvPr/>
          </p:nvSpPr>
          <p:spPr>
            <a:xfrm flipH="false" flipV="false" rot="0">
              <a:off x="19050" y="19050"/>
              <a:ext cx="7044563" cy="7967090"/>
            </a:xfrm>
            <a:custGeom>
              <a:avLst/>
              <a:gdLst/>
              <a:ahLst/>
              <a:cxnLst/>
              <a:rect r="r" b="b" t="t" l="l"/>
              <a:pathLst>
                <a:path h="7967090" w="7044563">
                  <a:moveTo>
                    <a:pt x="0" y="183007"/>
                  </a:moveTo>
                  <a:cubicBezTo>
                    <a:pt x="0" y="81915"/>
                    <a:pt x="81915" y="0"/>
                    <a:pt x="182880" y="0"/>
                  </a:cubicBezTo>
                  <a:lnTo>
                    <a:pt x="6861683" y="0"/>
                  </a:lnTo>
                  <a:cubicBezTo>
                    <a:pt x="6962648" y="0"/>
                    <a:pt x="7044563" y="81915"/>
                    <a:pt x="7044563" y="183007"/>
                  </a:cubicBezTo>
                  <a:lnTo>
                    <a:pt x="7044563" y="7784084"/>
                  </a:lnTo>
                  <a:cubicBezTo>
                    <a:pt x="7044563" y="7885176"/>
                    <a:pt x="6962648" y="7967090"/>
                    <a:pt x="6861683" y="7967090"/>
                  </a:cubicBezTo>
                  <a:lnTo>
                    <a:pt x="182880" y="7967090"/>
                  </a:lnTo>
                  <a:cubicBezTo>
                    <a:pt x="81915" y="7967090"/>
                    <a:pt x="0" y="7885176"/>
                    <a:pt x="0" y="7784084"/>
                  </a:cubicBezTo>
                  <a:close/>
                </a:path>
              </a:pathLst>
            </a:custGeom>
            <a:solidFill>
              <a:srgbClr val="FFFFFF"/>
            </a:solidFill>
            <a:ln w="12700">
              <a:solidFill>
                <a:srgbClr val="000000"/>
              </a:solidFill>
            </a:ln>
          </p:spPr>
        </p:sp>
        <p:sp>
          <p:nvSpPr>
            <p:cNvPr name="Freeform 36" id="36"/>
            <p:cNvSpPr/>
            <p:nvPr/>
          </p:nvSpPr>
          <p:spPr>
            <a:xfrm flipH="false" flipV="false" rot="0">
              <a:off x="0" y="0"/>
              <a:ext cx="7082663" cy="8005190"/>
            </a:xfrm>
            <a:custGeom>
              <a:avLst/>
              <a:gdLst/>
              <a:ahLst/>
              <a:cxnLst/>
              <a:rect r="r" b="b" t="t" l="l"/>
              <a:pathLst>
                <a:path h="8005190" w="7082663">
                  <a:moveTo>
                    <a:pt x="0" y="202057"/>
                  </a:moveTo>
                  <a:cubicBezTo>
                    <a:pt x="0" y="90424"/>
                    <a:pt x="90424" y="0"/>
                    <a:pt x="201930" y="0"/>
                  </a:cubicBezTo>
                  <a:lnTo>
                    <a:pt x="6880733" y="0"/>
                  </a:lnTo>
                  <a:lnTo>
                    <a:pt x="6880733" y="19050"/>
                  </a:lnTo>
                  <a:lnTo>
                    <a:pt x="6880733" y="0"/>
                  </a:lnTo>
                  <a:cubicBezTo>
                    <a:pt x="6992239" y="0"/>
                    <a:pt x="7082663" y="90424"/>
                    <a:pt x="7082663" y="202057"/>
                  </a:cubicBezTo>
                  <a:lnTo>
                    <a:pt x="7063613" y="202057"/>
                  </a:lnTo>
                  <a:lnTo>
                    <a:pt x="7082663" y="202057"/>
                  </a:lnTo>
                  <a:lnTo>
                    <a:pt x="7082663" y="7803134"/>
                  </a:lnTo>
                  <a:lnTo>
                    <a:pt x="7063613" y="7803134"/>
                  </a:lnTo>
                  <a:lnTo>
                    <a:pt x="7082663" y="7803134"/>
                  </a:lnTo>
                  <a:cubicBezTo>
                    <a:pt x="7082663" y="7914767"/>
                    <a:pt x="6992239" y="8005190"/>
                    <a:pt x="6880733" y="8005190"/>
                  </a:cubicBezTo>
                  <a:lnTo>
                    <a:pt x="6880733" y="7986140"/>
                  </a:lnTo>
                  <a:lnTo>
                    <a:pt x="6880733" y="8005190"/>
                  </a:lnTo>
                  <a:lnTo>
                    <a:pt x="201930" y="8005190"/>
                  </a:lnTo>
                  <a:lnTo>
                    <a:pt x="201930" y="7986140"/>
                  </a:lnTo>
                  <a:lnTo>
                    <a:pt x="201930" y="8005190"/>
                  </a:lnTo>
                  <a:cubicBezTo>
                    <a:pt x="90424" y="8005191"/>
                    <a:pt x="0" y="7914640"/>
                    <a:pt x="0" y="7803134"/>
                  </a:cubicBezTo>
                  <a:lnTo>
                    <a:pt x="0" y="202057"/>
                  </a:lnTo>
                  <a:lnTo>
                    <a:pt x="19050" y="202057"/>
                  </a:lnTo>
                  <a:lnTo>
                    <a:pt x="0" y="202057"/>
                  </a:lnTo>
                  <a:moveTo>
                    <a:pt x="38100" y="202057"/>
                  </a:moveTo>
                  <a:lnTo>
                    <a:pt x="38100" y="7803134"/>
                  </a:lnTo>
                  <a:lnTo>
                    <a:pt x="19050" y="7803134"/>
                  </a:lnTo>
                  <a:lnTo>
                    <a:pt x="38100" y="7803134"/>
                  </a:lnTo>
                  <a:cubicBezTo>
                    <a:pt x="38100" y="7893685"/>
                    <a:pt x="111506" y="7967090"/>
                    <a:pt x="201930" y="7967090"/>
                  </a:cubicBezTo>
                  <a:lnTo>
                    <a:pt x="6880733" y="7967090"/>
                  </a:lnTo>
                  <a:cubicBezTo>
                    <a:pt x="6971157" y="7967090"/>
                    <a:pt x="7044563" y="7893685"/>
                    <a:pt x="7044563" y="7803134"/>
                  </a:cubicBezTo>
                  <a:lnTo>
                    <a:pt x="7044563" y="202057"/>
                  </a:lnTo>
                  <a:cubicBezTo>
                    <a:pt x="7044563" y="111506"/>
                    <a:pt x="6971157" y="38100"/>
                    <a:pt x="6880733" y="38100"/>
                  </a:cubicBezTo>
                  <a:lnTo>
                    <a:pt x="201930" y="38100"/>
                  </a:lnTo>
                  <a:lnTo>
                    <a:pt x="201930" y="19050"/>
                  </a:lnTo>
                  <a:lnTo>
                    <a:pt x="201930" y="38100"/>
                  </a:lnTo>
                  <a:cubicBezTo>
                    <a:pt x="111506" y="38100"/>
                    <a:pt x="38100" y="111506"/>
                    <a:pt x="38100" y="202057"/>
                  </a:cubicBezTo>
                  <a:close/>
                </a:path>
              </a:pathLst>
            </a:custGeom>
            <a:solidFill>
              <a:srgbClr val="D8D4D4"/>
            </a:solidFill>
            <a:ln w="12700">
              <a:solidFill>
                <a:srgbClr val="000000"/>
              </a:solidFill>
            </a:ln>
          </p:spPr>
        </p:sp>
      </p:grpSp>
      <p:grpSp>
        <p:nvGrpSpPr>
          <p:cNvPr name="Group 37" id="37"/>
          <p:cNvGrpSpPr/>
          <p:nvPr/>
        </p:nvGrpSpPr>
        <p:grpSpPr>
          <a:xfrm rot="0">
            <a:off x="11983793" y="3176883"/>
            <a:ext cx="114300" cy="5975299"/>
            <a:chOff x="0" y="0"/>
            <a:chExt cx="152400" cy="7967066"/>
          </a:xfrm>
        </p:grpSpPr>
        <p:sp>
          <p:nvSpPr>
            <p:cNvPr name="Freeform 38" id="38"/>
            <p:cNvSpPr/>
            <p:nvPr/>
          </p:nvSpPr>
          <p:spPr>
            <a:xfrm flipH="false" flipV="false" rot="0">
              <a:off x="0" y="0"/>
              <a:ext cx="152400" cy="7967091"/>
            </a:xfrm>
            <a:custGeom>
              <a:avLst/>
              <a:gdLst/>
              <a:ahLst/>
              <a:cxnLst/>
              <a:rect r="r" b="b" t="t" l="l"/>
              <a:pathLst>
                <a:path h="7967091" w="152400">
                  <a:moveTo>
                    <a:pt x="0" y="45339"/>
                  </a:moveTo>
                  <a:cubicBezTo>
                    <a:pt x="0" y="20320"/>
                    <a:pt x="20320" y="0"/>
                    <a:pt x="45339" y="0"/>
                  </a:cubicBezTo>
                  <a:lnTo>
                    <a:pt x="107061" y="0"/>
                  </a:lnTo>
                  <a:cubicBezTo>
                    <a:pt x="132080" y="0"/>
                    <a:pt x="152400" y="20320"/>
                    <a:pt x="152400" y="45339"/>
                  </a:cubicBezTo>
                  <a:lnTo>
                    <a:pt x="152400" y="7921752"/>
                  </a:lnTo>
                  <a:cubicBezTo>
                    <a:pt x="152400" y="7946771"/>
                    <a:pt x="132080" y="7967091"/>
                    <a:pt x="107061" y="7967091"/>
                  </a:cubicBezTo>
                  <a:lnTo>
                    <a:pt x="45339" y="7967091"/>
                  </a:lnTo>
                  <a:cubicBezTo>
                    <a:pt x="20320" y="7967091"/>
                    <a:pt x="0" y="7946771"/>
                    <a:pt x="0" y="7921752"/>
                  </a:cubicBezTo>
                  <a:close/>
                </a:path>
              </a:pathLst>
            </a:custGeom>
            <a:solidFill>
              <a:srgbClr val="2150FE"/>
            </a:solidFill>
            <a:ln w="12700">
              <a:solidFill>
                <a:srgbClr val="000000"/>
              </a:solidFill>
            </a:ln>
          </p:spPr>
        </p:sp>
      </p:grpSp>
      <p:sp>
        <p:nvSpPr>
          <p:cNvPr name="TextBox 39" id="39"/>
          <p:cNvSpPr txBox="true"/>
          <p:nvPr/>
        </p:nvSpPr>
        <p:spPr>
          <a:xfrm rot="0">
            <a:off x="12353477" y="3403702"/>
            <a:ext cx="2835326" cy="382934"/>
          </a:xfrm>
          <a:prstGeom prst="rect">
            <a:avLst/>
          </a:prstGeom>
        </p:spPr>
        <p:txBody>
          <a:bodyPr anchor="t" rtlCol="false" tIns="0" lIns="0" bIns="0" rIns="0">
            <a:spAutoFit/>
          </a:bodyPr>
          <a:lstStyle/>
          <a:p>
            <a:pPr algn="l">
              <a:lnSpc>
                <a:spcPts val="2750"/>
              </a:lnSpc>
            </a:pPr>
            <a:r>
              <a:rPr lang="en-US" sz="2187" b="true">
                <a:solidFill>
                  <a:srgbClr val="4C4C4D"/>
                </a:solidFill>
                <a:latin typeface="Crimson Pro Bold"/>
                <a:ea typeface="Crimson Pro Bold"/>
                <a:cs typeface="Crimson Pro Bold"/>
                <a:sym typeface="Crimson Pro Bold"/>
              </a:rPr>
              <a:t>Subject Variability</a:t>
            </a:r>
          </a:p>
        </p:txBody>
      </p:sp>
      <p:sp>
        <p:nvSpPr>
          <p:cNvPr name="TextBox 40" id="40"/>
          <p:cNvSpPr txBox="true"/>
          <p:nvPr/>
        </p:nvSpPr>
        <p:spPr>
          <a:xfrm rot="0">
            <a:off x="12353477" y="3855987"/>
            <a:ext cx="4686891" cy="1518047"/>
          </a:xfrm>
          <a:prstGeom prst="rect">
            <a:avLst/>
          </a:prstGeom>
        </p:spPr>
        <p:txBody>
          <a:bodyPr anchor="t" rtlCol="false" tIns="0" lIns="0" bIns="0" rIns="0">
            <a:spAutoFit/>
          </a:bodyPr>
          <a:lstStyle/>
          <a:p>
            <a:pPr algn="l">
              <a:lnSpc>
                <a:spcPts val="2812"/>
              </a:lnSpc>
            </a:pPr>
            <a:r>
              <a:rPr lang="en-US" sz="1750">
                <a:solidFill>
                  <a:srgbClr val="4C4C4D"/>
                </a:solidFill>
                <a:latin typeface="Heebo"/>
                <a:ea typeface="Heebo"/>
                <a:cs typeface="Heebo"/>
                <a:sym typeface="Heebo"/>
              </a:rPr>
              <a:t>Individual brain patterns vary, leading to a range of classification accuracies (40-70%) across participants, highlighting the personalised nature of emotional responses.</a:t>
            </a:r>
          </a:p>
        </p:txBody>
      </p:sp>
      <p:sp>
        <p:nvSpPr>
          <p:cNvPr name="Freeform 41" id="41" descr="preencoded.png"/>
          <p:cNvSpPr/>
          <p:nvPr/>
        </p:nvSpPr>
        <p:spPr>
          <a:xfrm flipH="false" flipV="false" rot="0">
            <a:off x="12353477" y="5629123"/>
            <a:ext cx="3749431" cy="1154754"/>
          </a:xfrm>
          <a:custGeom>
            <a:avLst/>
            <a:gdLst/>
            <a:ahLst/>
            <a:cxnLst/>
            <a:rect r="r" b="b" t="t" l="l"/>
            <a:pathLst>
              <a:path h="1154754" w="3749431">
                <a:moveTo>
                  <a:pt x="0" y="0"/>
                </a:moveTo>
                <a:lnTo>
                  <a:pt x="3749431" y="0"/>
                </a:lnTo>
                <a:lnTo>
                  <a:pt x="3749431" y="1154753"/>
                </a:lnTo>
                <a:lnTo>
                  <a:pt x="0" y="1154753"/>
                </a:lnTo>
                <a:lnTo>
                  <a:pt x="0" y="0"/>
                </a:lnTo>
                <a:close/>
              </a:path>
            </a:pathLst>
          </a:custGeom>
          <a:blipFill>
            <a:blip r:embed="rId7"/>
            <a:stretch>
              <a:fillRect l="-142" t="0" r="-142" b="0"/>
            </a:stretch>
          </a:blipFill>
        </p:spPr>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0F0F1"/>
            </a:solidFill>
            <a:ln w="12700">
              <a:solidFill>
                <a:srgbClr val="000000"/>
              </a:solidFill>
            </a:ln>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FFFFF"/>
            </a:solidFill>
            <a:ln w="12700">
              <a:solidFill>
                <a:srgbClr val="000000"/>
              </a:solidFill>
            </a:ln>
          </p:spPr>
        </p:sp>
      </p:grpSp>
      <p:grpSp>
        <p:nvGrpSpPr>
          <p:cNvPr name="Group 6" id="6"/>
          <p:cNvGrpSpPr/>
          <p:nvPr/>
        </p:nvGrpSpPr>
        <p:grpSpPr>
          <a:xfrm rot="0">
            <a:off x="976017" y="766762"/>
            <a:ext cx="918267" cy="340519"/>
            <a:chOff x="0" y="0"/>
            <a:chExt cx="1224356" cy="454025"/>
          </a:xfrm>
        </p:grpSpPr>
        <p:sp>
          <p:nvSpPr>
            <p:cNvPr name="Freeform 7" id="7"/>
            <p:cNvSpPr/>
            <p:nvPr/>
          </p:nvSpPr>
          <p:spPr>
            <a:xfrm flipH="false" flipV="false" rot="0">
              <a:off x="0" y="0"/>
              <a:ext cx="1224280" cy="454025"/>
            </a:xfrm>
            <a:custGeom>
              <a:avLst/>
              <a:gdLst/>
              <a:ahLst/>
              <a:cxnLst/>
              <a:rect r="r" b="b" t="t" l="l"/>
              <a:pathLst>
                <a:path h="454025" w="1224280">
                  <a:moveTo>
                    <a:pt x="0" y="28956"/>
                  </a:moveTo>
                  <a:cubicBezTo>
                    <a:pt x="0" y="12954"/>
                    <a:pt x="12954" y="0"/>
                    <a:pt x="28956" y="0"/>
                  </a:cubicBezTo>
                  <a:lnTo>
                    <a:pt x="1195324" y="0"/>
                  </a:lnTo>
                  <a:cubicBezTo>
                    <a:pt x="1211326" y="0"/>
                    <a:pt x="1224280" y="12954"/>
                    <a:pt x="1224280" y="28956"/>
                  </a:cubicBezTo>
                  <a:lnTo>
                    <a:pt x="1224280" y="425069"/>
                  </a:lnTo>
                  <a:cubicBezTo>
                    <a:pt x="1224280" y="441071"/>
                    <a:pt x="1211326" y="454025"/>
                    <a:pt x="1195324" y="454025"/>
                  </a:cubicBezTo>
                  <a:lnTo>
                    <a:pt x="28956" y="454025"/>
                  </a:lnTo>
                  <a:cubicBezTo>
                    <a:pt x="12954" y="454025"/>
                    <a:pt x="0" y="441071"/>
                    <a:pt x="0" y="425069"/>
                  </a:cubicBezTo>
                  <a:close/>
                </a:path>
              </a:pathLst>
            </a:custGeom>
            <a:solidFill>
              <a:srgbClr val="CCD7FF"/>
            </a:solidFill>
            <a:ln w="12700">
              <a:solidFill>
                <a:srgbClr val="000000"/>
              </a:solidFill>
            </a:ln>
          </p:spPr>
        </p:sp>
      </p:grpSp>
      <p:sp>
        <p:nvSpPr>
          <p:cNvPr name="TextBox 8" id="8"/>
          <p:cNvSpPr txBox="true"/>
          <p:nvPr/>
        </p:nvSpPr>
        <p:spPr>
          <a:xfrm rot="0">
            <a:off x="1084659" y="763934"/>
            <a:ext cx="700983" cy="289027"/>
          </a:xfrm>
          <a:prstGeom prst="rect">
            <a:avLst/>
          </a:prstGeom>
        </p:spPr>
        <p:txBody>
          <a:bodyPr anchor="t" rtlCol="false" tIns="0" lIns="0" bIns="0" rIns="0">
            <a:spAutoFit/>
          </a:bodyPr>
          <a:lstStyle/>
          <a:p>
            <a:pPr algn="l">
              <a:lnSpc>
                <a:spcPts val="1812"/>
              </a:lnSpc>
            </a:pPr>
            <a:r>
              <a:rPr lang="en-US" sz="1124">
                <a:solidFill>
                  <a:srgbClr val="4C4C4D"/>
                </a:solidFill>
                <a:latin typeface="Heebo"/>
                <a:ea typeface="Heebo"/>
                <a:cs typeface="Heebo"/>
                <a:sym typeface="Heebo"/>
              </a:rPr>
              <a:t>SUMMARY</a:t>
            </a:r>
          </a:p>
        </p:txBody>
      </p:sp>
      <p:sp>
        <p:nvSpPr>
          <p:cNvPr name="TextBox 9" id="9"/>
          <p:cNvSpPr txBox="true"/>
          <p:nvPr/>
        </p:nvSpPr>
        <p:spPr>
          <a:xfrm rot="0">
            <a:off x="976017" y="1160707"/>
            <a:ext cx="6239770" cy="472230"/>
          </a:xfrm>
          <a:prstGeom prst="rect">
            <a:avLst/>
          </a:prstGeom>
        </p:spPr>
        <p:txBody>
          <a:bodyPr anchor="t" rtlCol="false" tIns="0" lIns="0" bIns="0" rIns="0">
            <a:spAutoFit/>
          </a:bodyPr>
          <a:lstStyle/>
          <a:p>
            <a:pPr algn="l">
              <a:lnSpc>
                <a:spcPts val="3562"/>
              </a:lnSpc>
            </a:pPr>
            <a:r>
              <a:rPr lang="en-US" sz="2812" b="true">
                <a:solidFill>
                  <a:srgbClr val="152D47"/>
                </a:solidFill>
                <a:latin typeface="Crimson Pro Bold"/>
                <a:ea typeface="Crimson Pro Bold"/>
                <a:cs typeface="Crimson Pro Bold"/>
                <a:sym typeface="Crimson Pro Bold"/>
              </a:rPr>
              <a:t>Key Achievements &amp; Technical Highlights</a:t>
            </a:r>
          </a:p>
        </p:txBody>
      </p:sp>
      <p:grpSp>
        <p:nvGrpSpPr>
          <p:cNvPr name="Group 10" id="10"/>
          <p:cNvGrpSpPr/>
          <p:nvPr/>
        </p:nvGrpSpPr>
        <p:grpSpPr>
          <a:xfrm rot="0">
            <a:off x="976017" y="2108597"/>
            <a:ext cx="407784" cy="407784"/>
            <a:chOff x="0" y="0"/>
            <a:chExt cx="543712" cy="543712"/>
          </a:xfrm>
        </p:grpSpPr>
        <p:sp>
          <p:nvSpPr>
            <p:cNvPr name="Freeform 11" id="11"/>
            <p:cNvSpPr/>
            <p:nvPr/>
          </p:nvSpPr>
          <p:spPr>
            <a:xfrm flipH="false" flipV="false" rot="0">
              <a:off x="0" y="0"/>
              <a:ext cx="543560" cy="543561"/>
            </a:xfrm>
            <a:custGeom>
              <a:avLst/>
              <a:gdLst/>
              <a:ahLst/>
              <a:cxnLst/>
              <a:rect r="r" b="b" t="t" l="l"/>
              <a:pathLst>
                <a:path h="543561" w="543560">
                  <a:moveTo>
                    <a:pt x="0" y="36195"/>
                  </a:moveTo>
                  <a:cubicBezTo>
                    <a:pt x="0" y="16256"/>
                    <a:pt x="16256" y="0"/>
                    <a:pt x="36195" y="0"/>
                  </a:cubicBezTo>
                  <a:lnTo>
                    <a:pt x="507365" y="0"/>
                  </a:lnTo>
                  <a:cubicBezTo>
                    <a:pt x="527431" y="0"/>
                    <a:pt x="543560" y="16256"/>
                    <a:pt x="543560" y="36195"/>
                  </a:cubicBezTo>
                  <a:lnTo>
                    <a:pt x="543560" y="507365"/>
                  </a:lnTo>
                  <a:cubicBezTo>
                    <a:pt x="543560" y="527431"/>
                    <a:pt x="527304" y="543560"/>
                    <a:pt x="507365" y="543560"/>
                  </a:cubicBezTo>
                  <a:lnTo>
                    <a:pt x="36195" y="543560"/>
                  </a:lnTo>
                  <a:cubicBezTo>
                    <a:pt x="16256" y="543687"/>
                    <a:pt x="0" y="527431"/>
                    <a:pt x="0" y="507492"/>
                  </a:cubicBezTo>
                  <a:close/>
                </a:path>
              </a:pathLst>
            </a:custGeom>
            <a:solidFill>
              <a:srgbClr val="F2EEEE"/>
            </a:solidFill>
            <a:ln w="12700">
              <a:solidFill>
                <a:srgbClr val="000000"/>
              </a:solidFill>
            </a:ln>
          </p:spPr>
        </p:sp>
      </p:grpSp>
      <p:sp>
        <p:nvSpPr>
          <p:cNvPr name="TextBox 12" id="12"/>
          <p:cNvSpPr txBox="true"/>
          <p:nvPr/>
        </p:nvSpPr>
        <p:spPr>
          <a:xfrm rot="0">
            <a:off x="1564929" y="2110235"/>
            <a:ext cx="7358062" cy="347072"/>
          </a:xfrm>
          <a:prstGeom prst="rect">
            <a:avLst/>
          </a:prstGeom>
        </p:spPr>
        <p:txBody>
          <a:bodyPr anchor="t" rtlCol="false" tIns="0" lIns="0" bIns="0" rIns="0">
            <a:spAutoFit/>
          </a:bodyPr>
          <a:lstStyle/>
          <a:p>
            <a:pPr algn="l">
              <a:lnSpc>
                <a:spcPts val="2250"/>
              </a:lnSpc>
            </a:pPr>
            <a:r>
              <a:rPr lang="en-US" sz="1375" b="true">
                <a:solidFill>
                  <a:srgbClr val="4C4C4D"/>
                </a:solidFill>
                <a:latin typeface="Heebo Bold"/>
                <a:ea typeface="Heebo Bold"/>
                <a:cs typeface="Heebo Bold"/>
                <a:sym typeface="Heebo Bold"/>
              </a:rPr>
              <a:t>EEG Data Processing:</a:t>
            </a:r>
            <a:r>
              <a:rPr lang="en-US" sz="1375">
                <a:solidFill>
                  <a:srgbClr val="4C4C4D"/>
                </a:solidFill>
                <a:latin typeface="Heebo"/>
                <a:ea typeface="Heebo"/>
                <a:cs typeface="Heebo"/>
                <a:sym typeface="Heebo"/>
              </a:rPr>
              <a:t> Successfully processed 414 EEG trials from 23 participants.</a:t>
            </a:r>
          </a:p>
        </p:txBody>
      </p:sp>
      <p:grpSp>
        <p:nvGrpSpPr>
          <p:cNvPr name="Group 13" id="13"/>
          <p:cNvGrpSpPr/>
          <p:nvPr/>
        </p:nvGrpSpPr>
        <p:grpSpPr>
          <a:xfrm rot="0">
            <a:off x="976017" y="2878779"/>
            <a:ext cx="407784" cy="407784"/>
            <a:chOff x="0" y="0"/>
            <a:chExt cx="543712" cy="543712"/>
          </a:xfrm>
        </p:grpSpPr>
        <p:sp>
          <p:nvSpPr>
            <p:cNvPr name="Freeform 14" id="14"/>
            <p:cNvSpPr/>
            <p:nvPr/>
          </p:nvSpPr>
          <p:spPr>
            <a:xfrm flipH="false" flipV="false" rot="0">
              <a:off x="0" y="0"/>
              <a:ext cx="543560" cy="543561"/>
            </a:xfrm>
            <a:custGeom>
              <a:avLst/>
              <a:gdLst/>
              <a:ahLst/>
              <a:cxnLst/>
              <a:rect r="r" b="b" t="t" l="l"/>
              <a:pathLst>
                <a:path h="543561" w="543560">
                  <a:moveTo>
                    <a:pt x="0" y="36195"/>
                  </a:moveTo>
                  <a:cubicBezTo>
                    <a:pt x="0" y="16256"/>
                    <a:pt x="16256" y="0"/>
                    <a:pt x="36195" y="0"/>
                  </a:cubicBezTo>
                  <a:lnTo>
                    <a:pt x="507365" y="0"/>
                  </a:lnTo>
                  <a:cubicBezTo>
                    <a:pt x="527431" y="0"/>
                    <a:pt x="543560" y="16256"/>
                    <a:pt x="543560" y="36195"/>
                  </a:cubicBezTo>
                  <a:lnTo>
                    <a:pt x="543560" y="507365"/>
                  </a:lnTo>
                  <a:cubicBezTo>
                    <a:pt x="543560" y="527431"/>
                    <a:pt x="527304" y="543560"/>
                    <a:pt x="507365" y="543560"/>
                  </a:cubicBezTo>
                  <a:lnTo>
                    <a:pt x="36195" y="543560"/>
                  </a:lnTo>
                  <a:cubicBezTo>
                    <a:pt x="16256" y="543687"/>
                    <a:pt x="0" y="527431"/>
                    <a:pt x="0" y="507492"/>
                  </a:cubicBezTo>
                  <a:close/>
                </a:path>
              </a:pathLst>
            </a:custGeom>
            <a:solidFill>
              <a:srgbClr val="F2EEEE"/>
            </a:solidFill>
            <a:ln w="12700">
              <a:solidFill>
                <a:srgbClr val="000000"/>
              </a:solidFill>
            </a:ln>
          </p:spPr>
        </p:sp>
      </p:grpSp>
      <p:sp>
        <p:nvSpPr>
          <p:cNvPr name="TextBox 15" id="15"/>
          <p:cNvSpPr txBox="true"/>
          <p:nvPr/>
        </p:nvSpPr>
        <p:spPr>
          <a:xfrm rot="0">
            <a:off x="1564929" y="2880417"/>
            <a:ext cx="7358062" cy="347072"/>
          </a:xfrm>
          <a:prstGeom prst="rect">
            <a:avLst/>
          </a:prstGeom>
        </p:spPr>
        <p:txBody>
          <a:bodyPr anchor="t" rtlCol="false" tIns="0" lIns="0" bIns="0" rIns="0">
            <a:spAutoFit/>
          </a:bodyPr>
          <a:lstStyle/>
          <a:p>
            <a:pPr algn="l">
              <a:lnSpc>
                <a:spcPts val="2250"/>
              </a:lnSpc>
            </a:pPr>
            <a:r>
              <a:rPr lang="en-US" sz="1375" b="true">
                <a:solidFill>
                  <a:srgbClr val="4C4C4D"/>
                </a:solidFill>
                <a:latin typeface="Heebo Bold"/>
                <a:ea typeface="Heebo Bold"/>
                <a:cs typeface="Heebo Bold"/>
                <a:sym typeface="Heebo Bold"/>
              </a:rPr>
              <a:t>Advanced Preprocessing:</a:t>
            </a:r>
            <a:r>
              <a:rPr lang="en-US" sz="1375">
                <a:solidFill>
                  <a:srgbClr val="4C4C4D"/>
                </a:solidFill>
                <a:latin typeface="Heebo"/>
                <a:ea typeface="Heebo"/>
                <a:cs typeface="Heebo"/>
                <a:sym typeface="Heebo"/>
              </a:rPr>
              <a:t> Implemented Filtering, ICA, ASR, and CAR techniques.</a:t>
            </a:r>
          </a:p>
        </p:txBody>
      </p:sp>
      <p:grpSp>
        <p:nvGrpSpPr>
          <p:cNvPr name="Group 16" id="16"/>
          <p:cNvGrpSpPr/>
          <p:nvPr/>
        </p:nvGrpSpPr>
        <p:grpSpPr>
          <a:xfrm rot="0">
            <a:off x="976017" y="3648970"/>
            <a:ext cx="407784" cy="407784"/>
            <a:chOff x="0" y="0"/>
            <a:chExt cx="543712" cy="543712"/>
          </a:xfrm>
        </p:grpSpPr>
        <p:sp>
          <p:nvSpPr>
            <p:cNvPr name="Freeform 17" id="17"/>
            <p:cNvSpPr/>
            <p:nvPr/>
          </p:nvSpPr>
          <p:spPr>
            <a:xfrm flipH="false" flipV="false" rot="0">
              <a:off x="0" y="0"/>
              <a:ext cx="543560" cy="543561"/>
            </a:xfrm>
            <a:custGeom>
              <a:avLst/>
              <a:gdLst/>
              <a:ahLst/>
              <a:cxnLst/>
              <a:rect r="r" b="b" t="t" l="l"/>
              <a:pathLst>
                <a:path h="543561" w="543560">
                  <a:moveTo>
                    <a:pt x="0" y="36195"/>
                  </a:moveTo>
                  <a:cubicBezTo>
                    <a:pt x="0" y="16256"/>
                    <a:pt x="16256" y="0"/>
                    <a:pt x="36195" y="0"/>
                  </a:cubicBezTo>
                  <a:lnTo>
                    <a:pt x="507365" y="0"/>
                  </a:lnTo>
                  <a:cubicBezTo>
                    <a:pt x="527431" y="0"/>
                    <a:pt x="543560" y="16256"/>
                    <a:pt x="543560" y="36195"/>
                  </a:cubicBezTo>
                  <a:lnTo>
                    <a:pt x="543560" y="507365"/>
                  </a:lnTo>
                  <a:cubicBezTo>
                    <a:pt x="543560" y="527431"/>
                    <a:pt x="527304" y="543560"/>
                    <a:pt x="507365" y="543560"/>
                  </a:cubicBezTo>
                  <a:lnTo>
                    <a:pt x="36195" y="543560"/>
                  </a:lnTo>
                  <a:cubicBezTo>
                    <a:pt x="16256" y="543687"/>
                    <a:pt x="0" y="527431"/>
                    <a:pt x="0" y="507492"/>
                  </a:cubicBezTo>
                  <a:close/>
                </a:path>
              </a:pathLst>
            </a:custGeom>
            <a:solidFill>
              <a:srgbClr val="F2EEEE"/>
            </a:solidFill>
            <a:ln w="12700">
              <a:solidFill>
                <a:srgbClr val="000000"/>
              </a:solidFill>
            </a:ln>
          </p:spPr>
        </p:sp>
      </p:grpSp>
      <p:sp>
        <p:nvSpPr>
          <p:cNvPr name="TextBox 18" id="18"/>
          <p:cNvSpPr txBox="true"/>
          <p:nvPr/>
        </p:nvSpPr>
        <p:spPr>
          <a:xfrm rot="0">
            <a:off x="1564929" y="3650609"/>
            <a:ext cx="7358062" cy="347072"/>
          </a:xfrm>
          <a:prstGeom prst="rect">
            <a:avLst/>
          </a:prstGeom>
        </p:spPr>
        <p:txBody>
          <a:bodyPr anchor="t" rtlCol="false" tIns="0" lIns="0" bIns="0" rIns="0">
            <a:spAutoFit/>
          </a:bodyPr>
          <a:lstStyle/>
          <a:p>
            <a:pPr algn="l">
              <a:lnSpc>
                <a:spcPts val="2250"/>
              </a:lnSpc>
            </a:pPr>
            <a:r>
              <a:rPr lang="en-US" sz="1375" b="true">
                <a:solidFill>
                  <a:srgbClr val="4C4C4D"/>
                </a:solidFill>
                <a:latin typeface="Heebo Bold"/>
                <a:ea typeface="Heebo Bold"/>
                <a:cs typeface="Heebo Bold"/>
                <a:sym typeface="Heebo Bold"/>
              </a:rPr>
              <a:t>Feature Engineering:</a:t>
            </a:r>
            <a:r>
              <a:rPr lang="en-US" sz="1375">
                <a:solidFill>
                  <a:srgbClr val="4C4C4D"/>
                </a:solidFill>
                <a:latin typeface="Heebo"/>
                <a:ea typeface="Heebo"/>
                <a:cs typeface="Heebo"/>
                <a:sym typeface="Heebo"/>
              </a:rPr>
              <a:t> Extracted 280 advanced features across 5 frequency bands.</a:t>
            </a:r>
          </a:p>
        </p:txBody>
      </p:sp>
      <p:grpSp>
        <p:nvGrpSpPr>
          <p:cNvPr name="Group 19" id="19"/>
          <p:cNvGrpSpPr/>
          <p:nvPr/>
        </p:nvGrpSpPr>
        <p:grpSpPr>
          <a:xfrm rot="0">
            <a:off x="976017" y="4419152"/>
            <a:ext cx="407784" cy="407784"/>
            <a:chOff x="0" y="0"/>
            <a:chExt cx="543712" cy="543712"/>
          </a:xfrm>
        </p:grpSpPr>
        <p:sp>
          <p:nvSpPr>
            <p:cNvPr name="Freeform 20" id="20"/>
            <p:cNvSpPr/>
            <p:nvPr/>
          </p:nvSpPr>
          <p:spPr>
            <a:xfrm flipH="false" flipV="false" rot="0">
              <a:off x="0" y="0"/>
              <a:ext cx="543560" cy="543561"/>
            </a:xfrm>
            <a:custGeom>
              <a:avLst/>
              <a:gdLst/>
              <a:ahLst/>
              <a:cxnLst/>
              <a:rect r="r" b="b" t="t" l="l"/>
              <a:pathLst>
                <a:path h="543561" w="543560">
                  <a:moveTo>
                    <a:pt x="0" y="36195"/>
                  </a:moveTo>
                  <a:cubicBezTo>
                    <a:pt x="0" y="16256"/>
                    <a:pt x="16256" y="0"/>
                    <a:pt x="36195" y="0"/>
                  </a:cubicBezTo>
                  <a:lnTo>
                    <a:pt x="507365" y="0"/>
                  </a:lnTo>
                  <a:cubicBezTo>
                    <a:pt x="527431" y="0"/>
                    <a:pt x="543560" y="16256"/>
                    <a:pt x="543560" y="36195"/>
                  </a:cubicBezTo>
                  <a:lnTo>
                    <a:pt x="543560" y="507365"/>
                  </a:lnTo>
                  <a:cubicBezTo>
                    <a:pt x="543560" y="527431"/>
                    <a:pt x="527304" y="543560"/>
                    <a:pt x="507365" y="543560"/>
                  </a:cubicBezTo>
                  <a:lnTo>
                    <a:pt x="36195" y="543560"/>
                  </a:lnTo>
                  <a:cubicBezTo>
                    <a:pt x="16256" y="543687"/>
                    <a:pt x="0" y="527431"/>
                    <a:pt x="0" y="507492"/>
                  </a:cubicBezTo>
                  <a:close/>
                </a:path>
              </a:pathLst>
            </a:custGeom>
            <a:solidFill>
              <a:srgbClr val="F2EEEE"/>
            </a:solidFill>
            <a:ln w="12700">
              <a:solidFill>
                <a:srgbClr val="000000"/>
              </a:solidFill>
            </a:ln>
          </p:spPr>
        </p:sp>
      </p:grpSp>
      <p:sp>
        <p:nvSpPr>
          <p:cNvPr name="TextBox 21" id="21"/>
          <p:cNvSpPr txBox="true"/>
          <p:nvPr/>
        </p:nvSpPr>
        <p:spPr>
          <a:xfrm rot="0">
            <a:off x="1564929" y="4420791"/>
            <a:ext cx="7358062" cy="347072"/>
          </a:xfrm>
          <a:prstGeom prst="rect">
            <a:avLst/>
          </a:prstGeom>
        </p:spPr>
        <p:txBody>
          <a:bodyPr anchor="t" rtlCol="false" tIns="0" lIns="0" bIns="0" rIns="0">
            <a:spAutoFit/>
          </a:bodyPr>
          <a:lstStyle/>
          <a:p>
            <a:pPr algn="l">
              <a:lnSpc>
                <a:spcPts val="2250"/>
              </a:lnSpc>
            </a:pPr>
            <a:r>
              <a:rPr lang="en-US" sz="1375" b="true">
                <a:solidFill>
                  <a:srgbClr val="4C4C4D"/>
                </a:solidFill>
                <a:latin typeface="Heebo Bold"/>
                <a:ea typeface="Heebo Bold"/>
                <a:cs typeface="Heebo Bold"/>
                <a:sym typeface="Heebo Bold"/>
              </a:rPr>
              <a:t>Machine Learning:</a:t>
            </a:r>
            <a:r>
              <a:rPr lang="en-US" sz="1375">
                <a:solidFill>
                  <a:srgbClr val="4C4C4D"/>
                </a:solidFill>
                <a:latin typeface="Heebo"/>
                <a:ea typeface="Heebo"/>
                <a:cs typeface="Heebo"/>
                <a:sym typeface="Heebo"/>
              </a:rPr>
              <a:t> Trained 5 models and created a robust ensemble voting classifier.</a:t>
            </a:r>
          </a:p>
        </p:txBody>
      </p:sp>
      <p:grpSp>
        <p:nvGrpSpPr>
          <p:cNvPr name="Group 22" id="22"/>
          <p:cNvGrpSpPr/>
          <p:nvPr/>
        </p:nvGrpSpPr>
        <p:grpSpPr>
          <a:xfrm rot="0">
            <a:off x="976017" y="5189334"/>
            <a:ext cx="407784" cy="407784"/>
            <a:chOff x="0" y="0"/>
            <a:chExt cx="543712" cy="543712"/>
          </a:xfrm>
        </p:grpSpPr>
        <p:sp>
          <p:nvSpPr>
            <p:cNvPr name="Freeform 23" id="23"/>
            <p:cNvSpPr/>
            <p:nvPr/>
          </p:nvSpPr>
          <p:spPr>
            <a:xfrm flipH="false" flipV="false" rot="0">
              <a:off x="0" y="0"/>
              <a:ext cx="543560" cy="543561"/>
            </a:xfrm>
            <a:custGeom>
              <a:avLst/>
              <a:gdLst/>
              <a:ahLst/>
              <a:cxnLst/>
              <a:rect r="r" b="b" t="t" l="l"/>
              <a:pathLst>
                <a:path h="543561" w="543560">
                  <a:moveTo>
                    <a:pt x="0" y="36195"/>
                  </a:moveTo>
                  <a:cubicBezTo>
                    <a:pt x="0" y="16256"/>
                    <a:pt x="16256" y="0"/>
                    <a:pt x="36195" y="0"/>
                  </a:cubicBezTo>
                  <a:lnTo>
                    <a:pt x="507365" y="0"/>
                  </a:lnTo>
                  <a:cubicBezTo>
                    <a:pt x="527431" y="0"/>
                    <a:pt x="543560" y="16256"/>
                    <a:pt x="543560" y="36195"/>
                  </a:cubicBezTo>
                  <a:lnTo>
                    <a:pt x="543560" y="507365"/>
                  </a:lnTo>
                  <a:cubicBezTo>
                    <a:pt x="543560" y="527431"/>
                    <a:pt x="527304" y="543560"/>
                    <a:pt x="507365" y="543560"/>
                  </a:cubicBezTo>
                  <a:lnTo>
                    <a:pt x="36195" y="543560"/>
                  </a:lnTo>
                  <a:cubicBezTo>
                    <a:pt x="16256" y="543687"/>
                    <a:pt x="0" y="527431"/>
                    <a:pt x="0" y="507492"/>
                  </a:cubicBezTo>
                  <a:close/>
                </a:path>
              </a:pathLst>
            </a:custGeom>
            <a:solidFill>
              <a:srgbClr val="F2EEEE"/>
            </a:solidFill>
            <a:ln w="12700">
              <a:solidFill>
                <a:srgbClr val="000000"/>
              </a:solidFill>
            </a:ln>
          </p:spPr>
        </p:sp>
      </p:grpSp>
      <p:sp>
        <p:nvSpPr>
          <p:cNvPr name="TextBox 24" id="24"/>
          <p:cNvSpPr txBox="true"/>
          <p:nvPr/>
        </p:nvSpPr>
        <p:spPr>
          <a:xfrm rot="0">
            <a:off x="1564929" y="5190973"/>
            <a:ext cx="7358062" cy="347072"/>
          </a:xfrm>
          <a:prstGeom prst="rect">
            <a:avLst/>
          </a:prstGeom>
        </p:spPr>
        <p:txBody>
          <a:bodyPr anchor="t" rtlCol="false" tIns="0" lIns="0" bIns="0" rIns="0">
            <a:spAutoFit/>
          </a:bodyPr>
          <a:lstStyle/>
          <a:p>
            <a:pPr algn="l">
              <a:lnSpc>
                <a:spcPts val="2250"/>
              </a:lnSpc>
            </a:pPr>
            <a:r>
              <a:rPr lang="en-US" sz="1375" b="true">
                <a:solidFill>
                  <a:srgbClr val="4C4C4D"/>
                </a:solidFill>
                <a:latin typeface="Heebo Bold"/>
                <a:ea typeface="Heebo Bold"/>
                <a:cs typeface="Heebo Bold"/>
                <a:sym typeface="Heebo Bold"/>
              </a:rPr>
              <a:t>Imbalance Handling:</a:t>
            </a:r>
            <a:r>
              <a:rPr lang="en-US" sz="1375">
                <a:solidFill>
                  <a:srgbClr val="4C4C4D"/>
                </a:solidFill>
                <a:latin typeface="Heebo"/>
                <a:ea typeface="Heebo"/>
                <a:cs typeface="Heebo"/>
                <a:sym typeface="Heebo"/>
              </a:rPr>
              <a:t> Applied SMOTE for effective class imbalance management.</a:t>
            </a:r>
          </a:p>
        </p:txBody>
      </p:sp>
      <p:grpSp>
        <p:nvGrpSpPr>
          <p:cNvPr name="Group 25" id="25"/>
          <p:cNvGrpSpPr/>
          <p:nvPr/>
        </p:nvGrpSpPr>
        <p:grpSpPr>
          <a:xfrm rot="0">
            <a:off x="976017" y="5959526"/>
            <a:ext cx="407784" cy="407784"/>
            <a:chOff x="0" y="0"/>
            <a:chExt cx="543712" cy="543712"/>
          </a:xfrm>
        </p:grpSpPr>
        <p:sp>
          <p:nvSpPr>
            <p:cNvPr name="Freeform 26" id="26"/>
            <p:cNvSpPr/>
            <p:nvPr/>
          </p:nvSpPr>
          <p:spPr>
            <a:xfrm flipH="false" flipV="false" rot="0">
              <a:off x="0" y="0"/>
              <a:ext cx="543560" cy="543561"/>
            </a:xfrm>
            <a:custGeom>
              <a:avLst/>
              <a:gdLst/>
              <a:ahLst/>
              <a:cxnLst/>
              <a:rect r="r" b="b" t="t" l="l"/>
              <a:pathLst>
                <a:path h="543561" w="543560">
                  <a:moveTo>
                    <a:pt x="0" y="36195"/>
                  </a:moveTo>
                  <a:cubicBezTo>
                    <a:pt x="0" y="16256"/>
                    <a:pt x="16256" y="0"/>
                    <a:pt x="36195" y="0"/>
                  </a:cubicBezTo>
                  <a:lnTo>
                    <a:pt x="507365" y="0"/>
                  </a:lnTo>
                  <a:cubicBezTo>
                    <a:pt x="527431" y="0"/>
                    <a:pt x="543560" y="16256"/>
                    <a:pt x="543560" y="36195"/>
                  </a:cubicBezTo>
                  <a:lnTo>
                    <a:pt x="543560" y="507365"/>
                  </a:lnTo>
                  <a:cubicBezTo>
                    <a:pt x="543560" y="527431"/>
                    <a:pt x="527304" y="543560"/>
                    <a:pt x="507365" y="543560"/>
                  </a:cubicBezTo>
                  <a:lnTo>
                    <a:pt x="36195" y="543560"/>
                  </a:lnTo>
                  <a:cubicBezTo>
                    <a:pt x="16256" y="543687"/>
                    <a:pt x="0" y="527431"/>
                    <a:pt x="0" y="507492"/>
                  </a:cubicBezTo>
                  <a:close/>
                </a:path>
              </a:pathLst>
            </a:custGeom>
            <a:solidFill>
              <a:srgbClr val="F2EEEE"/>
            </a:solidFill>
            <a:ln w="12700">
              <a:solidFill>
                <a:srgbClr val="000000"/>
              </a:solidFill>
            </a:ln>
          </p:spPr>
        </p:sp>
      </p:grpSp>
      <p:sp>
        <p:nvSpPr>
          <p:cNvPr name="TextBox 27" id="27"/>
          <p:cNvSpPr txBox="true"/>
          <p:nvPr/>
        </p:nvSpPr>
        <p:spPr>
          <a:xfrm rot="0">
            <a:off x="1564929" y="5961164"/>
            <a:ext cx="7358062" cy="347072"/>
          </a:xfrm>
          <a:prstGeom prst="rect">
            <a:avLst/>
          </a:prstGeom>
        </p:spPr>
        <p:txBody>
          <a:bodyPr anchor="t" rtlCol="false" tIns="0" lIns="0" bIns="0" rIns="0">
            <a:spAutoFit/>
          </a:bodyPr>
          <a:lstStyle/>
          <a:p>
            <a:pPr algn="l">
              <a:lnSpc>
                <a:spcPts val="2250"/>
              </a:lnSpc>
            </a:pPr>
            <a:r>
              <a:rPr lang="en-US" sz="1375" b="true">
                <a:solidFill>
                  <a:srgbClr val="4C4C4D"/>
                </a:solidFill>
                <a:latin typeface="Heebo Bold"/>
                <a:ea typeface="Heebo Bold"/>
                <a:cs typeface="Heebo Bold"/>
                <a:sym typeface="Heebo Bold"/>
              </a:rPr>
              <a:t>Star Result:</a:t>
            </a:r>
            <a:r>
              <a:rPr lang="en-US" sz="1375">
                <a:solidFill>
                  <a:srgbClr val="4C4C4D"/>
                </a:solidFill>
                <a:latin typeface="Heebo"/>
                <a:ea typeface="Heebo"/>
                <a:cs typeface="Heebo"/>
                <a:sym typeface="Heebo"/>
              </a:rPr>
              <a:t> Achieved 63.86% accuracy for Arousal classification.</a:t>
            </a:r>
          </a:p>
        </p:txBody>
      </p:sp>
      <p:grpSp>
        <p:nvGrpSpPr>
          <p:cNvPr name="Group 28" id="28"/>
          <p:cNvGrpSpPr/>
          <p:nvPr/>
        </p:nvGrpSpPr>
        <p:grpSpPr>
          <a:xfrm rot="0">
            <a:off x="976017" y="6729708"/>
            <a:ext cx="407784" cy="407784"/>
            <a:chOff x="0" y="0"/>
            <a:chExt cx="543712" cy="543712"/>
          </a:xfrm>
        </p:grpSpPr>
        <p:sp>
          <p:nvSpPr>
            <p:cNvPr name="Freeform 29" id="29"/>
            <p:cNvSpPr/>
            <p:nvPr/>
          </p:nvSpPr>
          <p:spPr>
            <a:xfrm flipH="false" flipV="false" rot="0">
              <a:off x="0" y="0"/>
              <a:ext cx="543560" cy="543561"/>
            </a:xfrm>
            <a:custGeom>
              <a:avLst/>
              <a:gdLst/>
              <a:ahLst/>
              <a:cxnLst/>
              <a:rect r="r" b="b" t="t" l="l"/>
              <a:pathLst>
                <a:path h="543561" w="543560">
                  <a:moveTo>
                    <a:pt x="0" y="36195"/>
                  </a:moveTo>
                  <a:cubicBezTo>
                    <a:pt x="0" y="16256"/>
                    <a:pt x="16256" y="0"/>
                    <a:pt x="36195" y="0"/>
                  </a:cubicBezTo>
                  <a:lnTo>
                    <a:pt x="507365" y="0"/>
                  </a:lnTo>
                  <a:cubicBezTo>
                    <a:pt x="527431" y="0"/>
                    <a:pt x="543560" y="16256"/>
                    <a:pt x="543560" y="36195"/>
                  </a:cubicBezTo>
                  <a:lnTo>
                    <a:pt x="543560" y="507365"/>
                  </a:lnTo>
                  <a:cubicBezTo>
                    <a:pt x="543560" y="527431"/>
                    <a:pt x="527304" y="543560"/>
                    <a:pt x="507365" y="543560"/>
                  </a:cubicBezTo>
                  <a:lnTo>
                    <a:pt x="36195" y="543560"/>
                  </a:lnTo>
                  <a:cubicBezTo>
                    <a:pt x="16256" y="543687"/>
                    <a:pt x="0" y="527431"/>
                    <a:pt x="0" y="507492"/>
                  </a:cubicBezTo>
                  <a:close/>
                </a:path>
              </a:pathLst>
            </a:custGeom>
            <a:solidFill>
              <a:srgbClr val="F2EEEE"/>
            </a:solidFill>
            <a:ln w="12700">
              <a:solidFill>
                <a:srgbClr val="000000"/>
              </a:solidFill>
            </a:ln>
          </p:spPr>
        </p:sp>
      </p:grpSp>
      <p:sp>
        <p:nvSpPr>
          <p:cNvPr name="TextBox 30" id="30"/>
          <p:cNvSpPr txBox="true"/>
          <p:nvPr/>
        </p:nvSpPr>
        <p:spPr>
          <a:xfrm rot="0">
            <a:off x="1564929" y="6731346"/>
            <a:ext cx="7358062" cy="636984"/>
          </a:xfrm>
          <a:prstGeom prst="rect">
            <a:avLst/>
          </a:prstGeom>
        </p:spPr>
        <p:txBody>
          <a:bodyPr anchor="t" rtlCol="false" tIns="0" lIns="0" bIns="0" rIns="0">
            <a:spAutoFit/>
          </a:bodyPr>
          <a:lstStyle/>
          <a:p>
            <a:pPr algn="l">
              <a:lnSpc>
                <a:spcPts val="2250"/>
              </a:lnSpc>
            </a:pPr>
            <a:r>
              <a:rPr lang="en-US" sz="1375" b="true">
                <a:solidFill>
                  <a:srgbClr val="4C4C4D"/>
                </a:solidFill>
                <a:latin typeface="Heebo Bold"/>
                <a:ea typeface="Heebo Bold"/>
                <a:cs typeface="Heebo Bold"/>
                <a:sym typeface="Heebo Bold"/>
              </a:rPr>
              <a:t>Visualisation:</a:t>
            </a:r>
            <a:r>
              <a:rPr lang="en-US" sz="1375">
                <a:solidFill>
                  <a:srgbClr val="4C4C4D"/>
                </a:solidFill>
                <a:latin typeface="Heebo"/>
                <a:ea typeface="Heebo"/>
                <a:cs typeface="Heebo"/>
                <a:sym typeface="Heebo"/>
              </a:rPr>
              <a:t> Generated over 30 professional visualisations and comprehensive documentation.</a:t>
            </a:r>
          </a:p>
        </p:txBody>
      </p:sp>
      <p:sp>
        <p:nvSpPr>
          <p:cNvPr name="TextBox 31" id="31"/>
          <p:cNvSpPr txBox="true"/>
          <p:nvPr/>
        </p:nvSpPr>
        <p:spPr>
          <a:xfrm rot="0">
            <a:off x="9374534" y="2066773"/>
            <a:ext cx="2718797" cy="358826"/>
          </a:xfrm>
          <a:prstGeom prst="rect">
            <a:avLst/>
          </a:prstGeom>
        </p:spPr>
        <p:txBody>
          <a:bodyPr anchor="t" rtlCol="false" tIns="0" lIns="0" bIns="0" rIns="0">
            <a:spAutoFit/>
          </a:bodyPr>
          <a:lstStyle/>
          <a:p>
            <a:pPr algn="l">
              <a:lnSpc>
                <a:spcPts val="2625"/>
              </a:lnSpc>
            </a:pPr>
            <a:r>
              <a:rPr lang="en-US" sz="2125" b="true">
                <a:solidFill>
                  <a:srgbClr val="152D47"/>
                </a:solidFill>
                <a:latin typeface="Crimson Pro Bold"/>
                <a:ea typeface="Crimson Pro Bold"/>
                <a:cs typeface="Crimson Pro Bold"/>
                <a:sym typeface="Crimson Pro Bold"/>
              </a:rPr>
              <a:t>Technical Stack</a:t>
            </a:r>
          </a:p>
        </p:txBody>
      </p:sp>
      <p:sp>
        <p:nvSpPr>
          <p:cNvPr name="TextBox 32" id="32"/>
          <p:cNvSpPr txBox="true"/>
          <p:nvPr/>
        </p:nvSpPr>
        <p:spPr>
          <a:xfrm rot="0">
            <a:off x="9374534" y="2549576"/>
            <a:ext cx="7946974" cy="347072"/>
          </a:xfrm>
          <a:prstGeom prst="rect">
            <a:avLst/>
          </a:prstGeom>
        </p:spPr>
        <p:txBody>
          <a:bodyPr anchor="t" rtlCol="false" tIns="0" lIns="0" bIns="0" rIns="0">
            <a:spAutoFit/>
          </a:bodyPr>
          <a:lstStyle/>
          <a:p>
            <a:pPr algn="l" marL="207367" indent="-103684" lvl="1">
              <a:lnSpc>
                <a:spcPts val="2250"/>
              </a:lnSpc>
              <a:buFont typeface="Arial"/>
              <a:buChar char="•"/>
            </a:pPr>
            <a:r>
              <a:rPr lang="en-US" b="true" sz="1375">
                <a:solidFill>
                  <a:srgbClr val="4C4C4D"/>
                </a:solidFill>
                <a:latin typeface="Heebo Bold"/>
                <a:ea typeface="Heebo Bold"/>
                <a:cs typeface="Heebo Bold"/>
                <a:sym typeface="Heebo Bold"/>
              </a:rPr>
              <a:t>Language:</a:t>
            </a:r>
            <a:r>
              <a:rPr lang="en-US" sz="1375">
                <a:solidFill>
                  <a:srgbClr val="4C4C4D"/>
                </a:solidFill>
                <a:latin typeface="Heebo"/>
                <a:ea typeface="Heebo"/>
                <a:cs typeface="Heebo"/>
                <a:sym typeface="Heebo"/>
              </a:rPr>
              <a:t> Python</a:t>
            </a:r>
          </a:p>
        </p:txBody>
      </p:sp>
      <p:sp>
        <p:nvSpPr>
          <p:cNvPr name="TextBox 33" id="33"/>
          <p:cNvSpPr txBox="true"/>
          <p:nvPr/>
        </p:nvSpPr>
        <p:spPr>
          <a:xfrm rot="0">
            <a:off x="9374534" y="2902896"/>
            <a:ext cx="7946974" cy="347072"/>
          </a:xfrm>
          <a:prstGeom prst="rect">
            <a:avLst/>
          </a:prstGeom>
        </p:spPr>
        <p:txBody>
          <a:bodyPr anchor="t" rtlCol="false" tIns="0" lIns="0" bIns="0" rIns="0">
            <a:spAutoFit/>
          </a:bodyPr>
          <a:lstStyle/>
          <a:p>
            <a:pPr algn="l" marL="207367" indent="-103684" lvl="1">
              <a:lnSpc>
                <a:spcPts val="2250"/>
              </a:lnSpc>
              <a:buFont typeface="Arial"/>
              <a:buChar char="•"/>
            </a:pPr>
            <a:r>
              <a:rPr lang="en-US" b="true" sz="1375">
                <a:solidFill>
                  <a:srgbClr val="4C4C4D"/>
                </a:solidFill>
                <a:latin typeface="Heebo Bold"/>
                <a:ea typeface="Heebo Bold"/>
                <a:cs typeface="Heebo Bold"/>
                <a:sym typeface="Heebo Bold"/>
              </a:rPr>
              <a:t>Libraries:</a:t>
            </a:r>
            <a:r>
              <a:rPr lang="en-US" sz="1375">
                <a:solidFill>
                  <a:srgbClr val="4C4C4D"/>
                </a:solidFill>
                <a:latin typeface="Heebo"/>
                <a:ea typeface="Heebo"/>
                <a:cs typeface="Heebo"/>
                <a:sym typeface="Heebo"/>
              </a:rPr>
              <a:t> MNE (EEG processing), scikit-learn (ML), pandas, numpy</a:t>
            </a:r>
          </a:p>
        </p:txBody>
      </p:sp>
      <p:sp>
        <p:nvSpPr>
          <p:cNvPr name="TextBox 34" id="34"/>
          <p:cNvSpPr txBox="true"/>
          <p:nvPr/>
        </p:nvSpPr>
        <p:spPr>
          <a:xfrm rot="0">
            <a:off x="9374534" y="3256207"/>
            <a:ext cx="7946974" cy="347072"/>
          </a:xfrm>
          <a:prstGeom prst="rect">
            <a:avLst/>
          </a:prstGeom>
        </p:spPr>
        <p:txBody>
          <a:bodyPr anchor="t" rtlCol="false" tIns="0" lIns="0" bIns="0" rIns="0">
            <a:spAutoFit/>
          </a:bodyPr>
          <a:lstStyle/>
          <a:p>
            <a:pPr algn="l" marL="207367" indent="-103684" lvl="1">
              <a:lnSpc>
                <a:spcPts val="2250"/>
              </a:lnSpc>
              <a:buFont typeface="Arial"/>
              <a:buChar char="•"/>
            </a:pPr>
            <a:r>
              <a:rPr lang="en-US" b="true" sz="1375">
                <a:solidFill>
                  <a:srgbClr val="4C4C4D"/>
                </a:solidFill>
                <a:latin typeface="Heebo Bold"/>
                <a:ea typeface="Heebo Bold"/>
                <a:cs typeface="Heebo Bold"/>
                <a:sym typeface="Heebo Bold"/>
              </a:rPr>
              <a:t>Models:</a:t>
            </a:r>
            <a:r>
              <a:rPr lang="en-US" sz="1375">
                <a:solidFill>
                  <a:srgbClr val="4C4C4D"/>
                </a:solidFill>
                <a:latin typeface="Heebo"/>
                <a:ea typeface="Heebo"/>
                <a:cs typeface="Heebo"/>
                <a:sym typeface="Heebo"/>
              </a:rPr>
              <a:t> Random Forest, Gradient Boosting, SVM, Logistic Regression</a:t>
            </a:r>
          </a:p>
        </p:txBody>
      </p:sp>
      <p:sp>
        <p:nvSpPr>
          <p:cNvPr name="TextBox 35" id="35"/>
          <p:cNvSpPr txBox="true"/>
          <p:nvPr/>
        </p:nvSpPr>
        <p:spPr>
          <a:xfrm rot="0">
            <a:off x="9374534" y="3609527"/>
            <a:ext cx="7946974" cy="347072"/>
          </a:xfrm>
          <a:prstGeom prst="rect">
            <a:avLst/>
          </a:prstGeom>
        </p:spPr>
        <p:txBody>
          <a:bodyPr anchor="t" rtlCol="false" tIns="0" lIns="0" bIns="0" rIns="0">
            <a:spAutoFit/>
          </a:bodyPr>
          <a:lstStyle/>
          <a:p>
            <a:pPr algn="l" marL="207367" indent="-103684" lvl="1">
              <a:lnSpc>
                <a:spcPts val="2250"/>
              </a:lnSpc>
              <a:buFont typeface="Arial"/>
              <a:buChar char="•"/>
            </a:pPr>
            <a:r>
              <a:rPr lang="en-US" b="true" sz="1375">
                <a:solidFill>
                  <a:srgbClr val="4C4C4D"/>
                </a:solidFill>
                <a:latin typeface="Heebo Bold"/>
                <a:ea typeface="Heebo Bold"/>
                <a:cs typeface="Heebo Bold"/>
                <a:sym typeface="Heebo Bold"/>
              </a:rPr>
              <a:t>Preprocessing:</a:t>
            </a:r>
            <a:r>
              <a:rPr lang="en-US" sz="1375">
                <a:solidFill>
                  <a:srgbClr val="4C4C4D"/>
                </a:solidFill>
                <a:latin typeface="Heebo"/>
                <a:ea typeface="Heebo"/>
                <a:cs typeface="Heebo"/>
                <a:sym typeface="Heebo"/>
              </a:rPr>
              <a:t> ICA, ASR, Notch Filter, Common Average Reference</a:t>
            </a:r>
          </a:p>
        </p:txBody>
      </p:sp>
      <p:sp>
        <p:nvSpPr>
          <p:cNvPr name="Freeform 36" id="36" descr="preencoded.png"/>
          <p:cNvSpPr/>
          <p:nvPr/>
        </p:nvSpPr>
        <p:spPr>
          <a:xfrm flipH="false" flipV="false" rot="0">
            <a:off x="9374534" y="4160491"/>
            <a:ext cx="5165522" cy="5165522"/>
          </a:xfrm>
          <a:custGeom>
            <a:avLst/>
            <a:gdLst/>
            <a:ahLst/>
            <a:cxnLst/>
            <a:rect r="r" b="b" t="t" l="l"/>
            <a:pathLst>
              <a:path h="5165522" w="5165522">
                <a:moveTo>
                  <a:pt x="0" y="0"/>
                </a:moveTo>
                <a:lnTo>
                  <a:pt x="5165521" y="0"/>
                </a:lnTo>
                <a:lnTo>
                  <a:pt x="5165521" y="5165522"/>
                </a:lnTo>
                <a:lnTo>
                  <a:pt x="0" y="5165522"/>
                </a:lnTo>
                <a:lnTo>
                  <a:pt x="0" y="0"/>
                </a:lnTo>
                <a:close/>
              </a:path>
            </a:pathLst>
          </a:custGeom>
          <a:blipFill>
            <a:blip r:embed="rId2"/>
            <a:stretch>
              <a:fillRect l="0" t="0" r="0" b="0"/>
            </a:stretch>
          </a:blipFill>
        </p:spPr>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0F0F1"/>
            </a:solidFill>
            <a:ln w="12700">
              <a:solidFill>
                <a:srgbClr val="000000"/>
              </a:solidFill>
            </a:ln>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FFFFF"/>
            </a:solidFill>
            <a:ln w="12700">
              <a:solidFill>
                <a:srgbClr val="000000"/>
              </a:solidFill>
            </a:ln>
          </p:spPr>
        </p:sp>
      </p:grpSp>
      <p:sp>
        <p:nvSpPr>
          <p:cNvPr name="Freeform 6" id="6" descr="preencoded.png">
            <a:hlinkClick r:id="rId3" tooltip="https://gamma.app/?utm_source=made-with-gamma"/>
          </p:cNvPr>
          <p:cNvSpPr/>
          <p:nvPr/>
        </p:nvSpPr>
        <p:spPr>
          <a:xfrm flipH="false" flipV="false" rot="0">
            <a:off x="16049015" y="9686925"/>
            <a:ext cx="2153260" cy="514350"/>
          </a:xfrm>
          <a:custGeom>
            <a:avLst/>
            <a:gdLst/>
            <a:ahLst/>
            <a:cxnLst/>
            <a:rect r="r" b="b" t="t" l="l"/>
            <a:pathLst>
              <a:path h="514350" w="2153260">
                <a:moveTo>
                  <a:pt x="0" y="0"/>
                </a:moveTo>
                <a:lnTo>
                  <a:pt x="2153260" y="0"/>
                </a:lnTo>
                <a:lnTo>
                  <a:pt x="2153260" y="514350"/>
                </a:lnTo>
                <a:lnTo>
                  <a:pt x="0" y="514350"/>
                </a:lnTo>
                <a:lnTo>
                  <a:pt x="0" y="0"/>
                </a:lnTo>
                <a:close/>
              </a:path>
            </a:pathLst>
          </a:custGeom>
          <a:blipFill>
            <a:blip r:embed="rId2"/>
            <a:stretch>
              <a:fillRect l="0" t="0" r="0" b="0"/>
            </a:stretch>
          </a:blipFill>
        </p:spPr>
      </p:sp>
      <p:sp>
        <p:nvSpPr>
          <p:cNvPr name="Freeform 7" id="7" descr="preencoded.png"/>
          <p:cNvSpPr/>
          <p:nvPr/>
        </p:nvSpPr>
        <p:spPr>
          <a:xfrm flipH="false" flipV="false" rot="0">
            <a:off x="11430000" y="0"/>
            <a:ext cx="6858000" cy="10287000"/>
          </a:xfrm>
          <a:custGeom>
            <a:avLst/>
            <a:gdLst/>
            <a:ahLst/>
            <a:cxnLst/>
            <a:rect r="r" b="b" t="t" l="l"/>
            <a:pathLst>
              <a:path h="10287000" w="6858000">
                <a:moveTo>
                  <a:pt x="0" y="0"/>
                </a:moveTo>
                <a:lnTo>
                  <a:pt x="6858000" y="0"/>
                </a:lnTo>
                <a:lnTo>
                  <a:pt x="6858000" y="10287000"/>
                </a:lnTo>
                <a:lnTo>
                  <a:pt x="0" y="10287000"/>
                </a:lnTo>
                <a:lnTo>
                  <a:pt x="0" y="0"/>
                </a:lnTo>
                <a:close/>
              </a:path>
            </a:pathLst>
          </a:custGeom>
          <a:blipFill>
            <a:blip r:embed="rId4"/>
            <a:stretch>
              <a:fillRect l="0" t="0" r="0" b="0"/>
            </a:stretch>
          </a:blipFill>
        </p:spPr>
      </p:sp>
      <p:sp>
        <p:nvSpPr>
          <p:cNvPr name="TextBox 8" id="8"/>
          <p:cNvSpPr txBox="true"/>
          <p:nvPr/>
        </p:nvSpPr>
        <p:spPr>
          <a:xfrm rot="0">
            <a:off x="992238" y="3734991"/>
            <a:ext cx="8586340" cy="933602"/>
          </a:xfrm>
          <a:prstGeom prst="rect">
            <a:avLst/>
          </a:prstGeom>
        </p:spPr>
        <p:txBody>
          <a:bodyPr anchor="t" rtlCol="false" tIns="0" lIns="0" bIns="0" rIns="0">
            <a:spAutoFit/>
          </a:bodyPr>
          <a:lstStyle/>
          <a:p>
            <a:pPr algn="l">
              <a:lnSpc>
                <a:spcPts val="6937"/>
              </a:lnSpc>
            </a:pPr>
            <a:r>
              <a:rPr lang="en-US" sz="5562" b="true">
                <a:solidFill>
                  <a:srgbClr val="152D47"/>
                </a:solidFill>
                <a:latin typeface="Crimson Pro Bold"/>
                <a:ea typeface="Crimson Pro Bold"/>
                <a:cs typeface="Crimson Pro Bold"/>
                <a:sym typeface="Crimson Pro Bold"/>
              </a:rPr>
              <a:t>Thank You for Your Attention</a:t>
            </a:r>
          </a:p>
        </p:txBody>
      </p:sp>
      <p:sp>
        <p:nvSpPr>
          <p:cNvPr name="TextBox 9" id="9"/>
          <p:cNvSpPr txBox="true"/>
          <p:nvPr/>
        </p:nvSpPr>
        <p:spPr>
          <a:xfrm rot="0">
            <a:off x="992238" y="5008064"/>
            <a:ext cx="9445523" cy="539353"/>
          </a:xfrm>
          <a:prstGeom prst="rect">
            <a:avLst/>
          </a:prstGeom>
        </p:spPr>
        <p:txBody>
          <a:bodyPr anchor="t" rtlCol="false" tIns="0" lIns="0" bIns="0" rIns="0">
            <a:spAutoFit/>
          </a:bodyPr>
          <a:lstStyle/>
          <a:p>
            <a:pPr algn="l">
              <a:lnSpc>
                <a:spcPts val="3562"/>
              </a:lnSpc>
            </a:pPr>
            <a:r>
              <a:rPr lang="en-US" sz="2187">
                <a:solidFill>
                  <a:srgbClr val="4C4C4D"/>
                </a:solidFill>
                <a:latin typeface="Heebo"/>
                <a:ea typeface="Heebo"/>
                <a:cs typeface="Heebo"/>
                <a:sym typeface="Heebo"/>
              </a:rPr>
              <a:t>We appreciate your interest in our NeuroHack solution.</a:t>
            </a:r>
          </a:p>
        </p:txBody>
      </p:sp>
      <p:sp>
        <p:nvSpPr>
          <p:cNvPr name="TextBox 10" id="10"/>
          <p:cNvSpPr txBox="true"/>
          <p:nvPr/>
        </p:nvSpPr>
        <p:spPr>
          <a:xfrm rot="0">
            <a:off x="992238" y="5944048"/>
            <a:ext cx="5562243" cy="2066985"/>
          </a:xfrm>
          <a:prstGeom prst="rect">
            <a:avLst/>
          </a:prstGeom>
        </p:spPr>
        <p:txBody>
          <a:bodyPr anchor="t" rtlCol="false" tIns="0" lIns="0" bIns="0" rIns="0">
            <a:spAutoFit/>
          </a:bodyPr>
          <a:lstStyle/>
          <a:p>
            <a:pPr algn="l">
              <a:lnSpc>
                <a:spcPts val="4124"/>
              </a:lnSpc>
            </a:pPr>
            <a:r>
              <a:rPr lang="en-US" sz="3312" b="true">
                <a:solidFill>
                  <a:srgbClr val="152D47"/>
                </a:solidFill>
                <a:latin typeface="Crimson Pro Bold"/>
                <a:ea typeface="Crimson Pro Bold"/>
                <a:cs typeface="Crimson Pro Bold"/>
                <a:sym typeface="Crimson Pro Bold"/>
              </a:rPr>
              <a:t>Questions?</a:t>
            </a:r>
          </a:p>
          <a:p>
            <a:pPr algn="l">
              <a:lnSpc>
                <a:spcPts val="4124"/>
              </a:lnSpc>
            </a:pPr>
          </a:p>
          <a:p>
            <a:pPr algn="l">
              <a:lnSpc>
                <a:spcPts val="4124"/>
              </a:lnSpc>
            </a:pPr>
            <a:r>
              <a:rPr lang="en-US" sz="3312" b="true">
                <a:solidFill>
                  <a:srgbClr val="152D47"/>
                </a:solidFill>
                <a:latin typeface="Crimson Pro Bold"/>
                <a:ea typeface="Crimson Pro Bold"/>
                <a:cs typeface="Crimson Pro Bold"/>
                <a:sym typeface="Crimson Pro Bold"/>
              </a:rPr>
              <a:t>Contact - aerraj50@gmail.com</a:t>
            </a:r>
          </a:p>
          <a:p>
            <a:pPr algn="l">
              <a:lnSpc>
                <a:spcPts val="4125"/>
              </a:lnSpc>
            </a:pPr>
            <a:r>
              <a:rPr lang="en-US" sz="3312" b="true">
                <a:solidFill>
                  <a:srgbClr val="152D47"/>
                </a:solidFill>
                <a:latin typeface="Crimson Pro Bold"/>
                <a:ea typeface="Crimson Pro Bold"/>
                <a:cs typeface="Crimson Pro Bold"/>
                <a:sym typeface="Crimson Pro Bold"/>
              </a:rPr>
              <a:t>Name - Aman Jaiswal (Solo)</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DAG8zDq3p4k</dc:identifier>
  <dcterms:modified xsi:type="dcterms:W3CDTF">2011-08-01T06:04:30Z</dcterms:modified>
  <cp:revision>1</cp:revision>
  <dc:title>Team Name - Deep Learners | Aman Jaiswal | December 2025</dc:title>
</cp:coreProperties>
</file>